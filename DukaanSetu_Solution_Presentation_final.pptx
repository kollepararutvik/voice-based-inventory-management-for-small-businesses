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171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focuses on making inventory management easier for small business owners. Instead of depending mainly on typing, the shopkeeper can use natural voice commands in English, regional languages, or mixed language to manage and understand their stock.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is not that small businesses do not want digital solutions. The problem is that many existing systems are designed around typing and technical interfaces. We want to build something that fits naturally into the way a shopkeeper already works.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part is that the AI does not directly modify the database. It first understands the user's request. The backend validates the request and then performs the actual operation. This makes the system safer and easier to maintain.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dukaansetu-pied.vercel.app/logi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8" Type="http://schemas.openxmlformats.org/officeDocument/2006/relationships/hyperlink" Target="https://dukaansetu-pied.vercel.app/login" TargetMode="External"/><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6.png"/><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s://dukaansetu-pied.vercel.app/login"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822960"/>
            <a:ext cx="7315200" cy="320040"/>
          </a:xfrm>
          <a:prstGeom prst="rect">
            <a:avLst/>
          </a:prstGeom>
          <a:noFill/>
          <a:ln/>
        </p:spPr>
        <p:txBody>
          <a:bodyPr wrap="square" lIns="0" tIns="0" rIns="0" bIns="0" rtlCol="0" anchor="t"/>
          <a:lstStyle/>
          <a:p>
            <a:pPr marL="0" indent="0">
              <a:buNone/>
            </a:pPr>
            <a:r>
              <a:rPr lang="en-US" sz="1400" b="1" kern="0" spc="300" dirty="0">
                <a:solidFill>
                  <a:srgbClr val="F5A623"/>
                </a:solidFill>
                <a:latin typeface="Calibri" pitchFamily="34" charset="0"/>
                <a:ea typeface="Calibri" pitchFamily="34" charset="-122"/>
                <a:cs typeface="Calibri" pitchFamily="34" charset="-120"/>
              </a:rPr>
              <a:t>DUKAANSETU  ·  TEAM CRASHCODERS  ·  HACKATHON 2026</a:t>
            </a:r>
            <a:endParaRPr lang="en-US" sz="1400" dirty="0"/>
          </a:p>
        </p:txBody>
      </p:sp>
      <p:sp>
        <p:nvSpPr>
          <p:cNvPr id="3" name="Text 1"/>
          <p:cNvSpPr txBox="1"/>
          <p:nvPr/>
        </p:nvSpPr>
        <p:spPr>
          <a:xfrm>
            <a:off x="548640" y="1371600"/>
            <a:ext cx="6766560" cy="2194560"/>
          </a:xfrm>
          <a:prstGeom prst="rect">
            <a:avLst/>
          </a:prstGeom>
          <a:noFill/>
          <a:ln/>
        </p:spPr>
        <p:txBody>
          <a:bodyPr wrap="square" lIns="0" tIns="0" rIns="0" bIns="0" rtlCol="0" anchor="t"/>
          <a:lstStyle/>
          <a:p>
            <a:pPr marL="0" indent="0">
              <a:buNone/>
            </a:pPr>
            <a:r>
              <a:rPr lang="en-US" sz="4200" b="1" dirty="0">
                <a:solidFill>
                  <a:srgbClr val="FFFFFF"/>
                </a:solidFill>
                <a:latin typeface="Cambria" pitchFamily="34" charset="0"/>
                <a:ea typeface="Cambria" pitchFamily="34" charset="-122"/>
                <a:cs typeface="Cambria" pitchFamily="34" charset="-120"/>
              </a:rPr>
              <a:t>Voice-Based Inventory Management for Small Businesses</a:t>
            </a:r>
            <a:endParaRPr lang="en-US" sz="4200" dirty="0"/>
          </a:p>
        </p:txBody>
      </p:sp>
      <p:sp>
        <p:nvSpPr>
          <p:cNvPr id="4" name="Text 2"/>
          <p:cNvSpPr txBox="1"/>
          <p:nvPr/>
        </p:nvSpPr>
        <p:spPr>
          <a:xfrm>
            <a:off x="548640" y="3703320"/>
            <a:ext cx="6583680" cy="822960"/>
          </a:xfrm>
          <a:prstGeom prst="rect">
            <a:avLst/>
          </a:prstGeom>
          <a:noFill/>
          <a:ln/>
        </p:spPr>
        <p:txBody>
          <a:bodyPr wrap="square" lIns="0" tIns="0" rIns="0" bIns="0" rtlCol="0" anchor="t"/>
          <a:lstStyle/>
          <a:p>
            <a:pPr marL="0" indent="0">
              <a:buNone/>
            </a:pPr>
            <a:r>
              <a:rPr lang="en-US" sz="2000" dirty="0">
                <a:solidFill>
                  <a:srgbClr val="CADCFC"/>
                </a:solidFill>
                <a:latin typeface="Calibri" pitchFamily="34" charset="0"/>
                <a:ea typeface="Calibri" pitchFamily="34" charset="-122"/>
                <a:cs typeface="Calibri" pitchFamily="34" charset="-120"/>
              </a:rPr>
              <a:t>A Simple, Voice-First Solution for Smarter Stock Management in Every Small Shop</a:t>
            </a:r>
            <a:endParaRPr lang="en-US" sz="2000" dirty="0"/>
          </a:p>
        </p:txBody>
      </p:sp>
      <p:sp>
        <p:nvSpPr>
          <p:cNvPr id="5" name="Text 3"/>
          <p:cNvSpPr txBox="1"/>
          <p:nvPr/>
        </p:nvSpPr>
        <p:spPr>
          <a:xfrm>
            <a:off x="548640" y="4754880"/>
            <a:ext cx="3657600" cy="274320"/>
          </a:xfrm>
          <a:prstGeom prst="rect">
            <a:avLst/>
          </a:prstGeom>
          <a:noFill/>
          <a:ln/>
        </p:spPr>
        <p:txBody>
          <a:bodyPr wrap="square" lIns="0" tIns="0" rIns="0" bIns="0" rtlCol="0" anchor="t"/>
          <a:lstStyle/>
          <a:p>
            <a:pPr marL="0" indent="0">
              <a:buNone/>
            </a:pPr>
            <a:r>
              <a:rPr lang="en-US" sz="1200" b="1" kern="0" spc="200" dirty="0">
                <a:solidFill>
                  <a:srgbClr val="F5A623"/>
                </a:solidFill>
                <a:latin typeface="Calibri" pitchFamily="34" charset="0"/>
                <a:ea typeface="Calibri" pitchFamily="34" charset="-122"/>
                <a:cs typeface="Calibri" pitchFamily="34" charset="-120"/>
              </a:rPr>
              <a:t>PRESENTED BY</a:t>
            </a:r>
            <a:endParaRPr lang="en-US" sz="1200" dirty="0"/>
          </a:p>
        </p:txBody>
      </p:sp>
      <p:sp>
        <p:nvSpPr>
          <p:cNvPr id="6" name="Text 4"/>
          <p:cNvSpPr txBox="1"/>
          <p:nvPr/>
        </p:nvSpPr>
        <p:spPr>
          <a:xfrm>
            <a:off x="548640" y="5029200"/>
            <a:ext cx="3474720" cy="457200"/>
          </a:xfrm>
          <a:prstGeom prst="rect">
            <a:avLst/>
          </a:prstGeom>
          <a:noFill/>
          <a:ln/>
        </p:spPr>
        <p:txBody>
          <a:bodyPr wrap="square" lIns="0" tIns="0" rIns="0" bIns="0"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Team CrashCoders</a:t>
            </a:r>
            <a:endParaRPr lang="en-US" sz="2600" dirty="0"/>
          </a:p>
        </p:txBody>
      </p:sp>
      <p:sp>
        <p:nvSpPr>
          <p:cNvPr id="7" name="Text 5"/>
          <p:cNvSpPr txBox="1"/>
          <p:nvPr/>
        </p:nvSpPr>
        <p:spPr>
          <a:xfrm>
            <a:off x="4297680" y="4754880"/>
            <a:ext cx="2743200" cy="274320"/>
          </a:xfrm>
          <a:prstGeom prst="rect">
            <a:avLst/>
          </a:prstGeom>
          <a:noFill/>
          <a:ln/>
        </p:spPr>
        <p:txBody>
          <a:bodyPr wrap="square" lIns="0" tIns="0" rIns="0" bIns="0" rtlCol="0" anchor="t"/>
          <a:lstStyle/>
          <a:p>
            <a:pPr marL="0" indent="0">
              <a:buNone/>
            </a:pPr>
            <a:r>
              <a:rPr lang="en-US" sz="1200" b="1" kern="0" spc="200" dirty="0">
                <a:solidFill>
                  <a:srgbClr val="F5A623"/>
                </a:solidFill>
                <a:latin typeface="Calibri" pitchFamily="34" charset="0"/>
                <a:ea typeface="Calibri" pitchFamily="34" charset="-122"/>
                <a:cs typeface="Calibri" pitchFamily="34" charset="-120"/>
              </a:rPr>
              <a:t>LIVE APPLICATION</a:t>
            </a:r>
            <a:endParaRPr lang="en-US" sz="1200" dirty="0"/>
          </a:p>
        </p:txBody>
      </p:sp>
      <p:sp>
        <p:nvSpPr>
          <p:cNvPr id="8" name="Text 6"/>
          <p:cNvSpPr txBox="1"/>
          <p:nvPr/>
        </p:nvSpPr>
        <p:spPr>
          <a:xfrm>
            <a:off x="4297680" y="5120640"/>
            <a:ext cx="3291840" cy="365760"/>
          </a:xfrm>
          <a:prstGeom prst="rect">
            <a:avLst/>
          </a:prstGeom>
          <a:noFill/>
          <a:ln/>
        </p:spPr>
        <p:txBody>
          <a:bodyPr wrap="square" lIns="0" tIns="0" rIns="0" bIns="0" rtlCol="0" anchor="t"/>
          <a:lstStyle/>
          <a:p>
            <a:pPr marL="0" indent="0">
              <a:buNone/>
            </a:pPr>
            <a:r>
              <a:rPr lang="en-US" sz="1500" u="sng" dirty="0">
                <a:solidFill>
                  <a:srgbClr val="FFFFFF"/>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dukaansetu-pied.vercel.app</a:t>
            </a:r>
            <a:endParaRPr lang="en-US" sz="1500" dirty="0"/>
          </a:p>
        </p:txBody>
      </p:sp>
      <p:sp>
        <p:nvSpPr>
          <p:cNvPr id="9" name="Shape 7"/>
          <p:cNvSpPr/>
          <p:nvPr/>
        </p:nvSpPr>
        <p:spPr>
          <a:xfrm>
            <a:off x="548640" y="5852160"/>
            <a:ext cx="731520" cy="365760"/>
          </a:xfrm>
          <a:prstGeom prst="roundRect">
            <a:avLst>
              <a:gd name="adj" fmla="val 50000"/>
            </a:avLst>
          </a:prstGeom>
          <a:solidFill>
            <a:srgbClr val="16305A"/>
          </a:solidFill>
          <a:ln w="12700">
            <a:solidFill>
              <a:srgbClr val="F5A623"/>
            </a:solidFill>
            <a:prstDash val="solid"/>
          </a:ln>
        </p:spPr>
      </p:sp>
      <p:sp>
        <p:nvSpPr>
          <p:cNvPr id="10" name="Text 8"/>
          <p:cNvSpPr txBox="1"/>
          <p:nvPr/>
        </p:nvSpPr>
        <p:spPr>
          <a:xfrm>
            <a:off x="548640" y="5852160"/>
            <a:ext cx="73152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AI</a:t>
            </a:r>
            <a:endParaRPr lang="en-US" sz="1200" dirty="0"/>
          </a:p>
        </p:txBody>
      </p:sp>
      <p:sp>
        <p:nvSpPr>
          <p:cNvPr id="11" name="Shape 9"/>
          <p:cNvSpPr/>
          <p:nvPr/>
        </p:nvSpPr>
        <p:spPr>
          <a:xfrm>
            <a:off x="1417320" y="5852160"/>
            <a:ext cx="822960" cy="365760"/>
          </a:xfrm>
          <a:prstGeom prst="roundRect">
            <a:avLst>
              <a:gd name="adj" fmla="val 50000"/>
            </a:avLst>
          </a:prstGeom>
          <a:solidFill>
            <a:srgbClr val="16305A"/>
          </a:solidFill>
          <a:ln w="12700">
            <a:solidFill>
              <a:srgbClr val="F5A623"/>
            </a:solidFill>
            <a:prstDash val="solid"/>
          </a:ln>
        </p:spPr>
      </p:sp>
      <p:sp>
        <p:nvSpPr>
          <p:cNvPr id="12" name="Text 10"/>
          <p:cNvSpPr txBox="1"/>
          <p:nvPr/>
        </p:nvSpPr>
        <p:spPr>
          <a:xfrm>
            <a:off x="1417320" y="5852160"/>
            <a:ext cx="82296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NLP</a:t>
            </a:r>
            <a:endParaRPr lang="en-US" sz="1200" dirty="0"/>
          </a:p>
        </p:txBody>
      </p:sp>
      <p:sp>
        <p:nvSpPr>
          <p:cNvPr id="13" name="Shape 11"/>
          <p:cNvSpPr/>
          <p:nvPr/>
        </p:nvSpPr>
        <p:spPr>
          <a:xfrm>
            <a:off x="2377440" y="5852160"/>
            <a:ext cx="1920240" cy="365760"/>
          </a:xfrm>
          <a:prstGeom prst="roundRect">
            <a:avLst>
              <a:gd name="adj" fmla="val 50000"/>
            </a:avLst>
          </a:prstGeom>
          <a:solidFill>
            <a:srgbClr val="16305A"/>
          </a:solidFill>
          <a:ln w="12700">
            <a:solidFill>
              <a:srgbClr val="F5A623"/>
            </a:solidFill>
            <a:prstDash val="solid"/>
          </a:ln>
        </p:spPr>
      </p:sp>
      <p:sp>
        <p:nvSpPr>
          <p:cNvPr id="14" name="Text 12"/>
          <p:cNvSpPr txBox="1"/>
          <p:nvPr/>
        </p:nvSpPr>
        <p:spPr>
          <a:xfrm>
            <a:off x="2377440" y="5852160"/>
            <a:ext cx="192024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Speech Recognition</a:t>
            </a:r>
            <a:endParaRPr lang="en-US" sz="1200" dirty="0"/>
          </a:p>
        </p:txBody>
      </p:sp>
      <p:sp>
        <p:nvSpPr>
          <p:cNvPr id="15" name="Shape 13"/>
          <p:cNvSpPr/>
          <p:nvPr/>
        </p:nvSpPr>
        <p:spPr>
          <a:xfrm>
            <a:off x="4434840" y="5852160"/>
            <a:ext cx="1828800" cy="365760"/>
          </a:xfrm>
          <a:prstGeom prst="roundRect">
            <a:avLst>
              <a:gd name="adj" fmla="val 50000"/>
            </a:avLst>
          </a:prstGeom>
          <a:solidFill>
            <a:srgbClr val="16305A"/>
          </a:solidFill>
          <a:ln w="12700">
            <a:solidFill>
              <a:srgbClr val="F5A623"/>
            </a:solidFill>
            <a:prstDash val="solid"/>
          </a:ln>
        </p:spPr>
      </p:sp>
      <p:sp>
        <p:nvSpPr>
          <p:cNvPr id="16" name="Text 14"/>
          <p:cNvSpPr txBox="1"/>
          <p:nvPr/>
        </p:nvSpPr>
        <p:spPr>
          <a:xfrm>
            <a:off x="4434840" y="5852160"/>
            <a:ext cx="182880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Web Development</a:t>
            </a:r>
            <a:endParaRPr lang="en-US" sz="1200" dirty="0"/>
          </a:p>
        </p:txBody>
      </p:sp>
      <p:sp>
        <p:nvSpPr>
          <p:cNvPr id="17" name="Shape 15"/>
          <p:cNvSpPr/>
          <p:nvPr/>
        </p:nvSpPr>
        <p:spPr>
          <a:xfrm>
            <a:off x="6400800" y="5852160"/>
            <a:ext cx="1097280" cy="365760"/>
          </a:xfrm>
          <a:prstGeom prst="roundRect">
            <a:avLst>
              <a:gd name="adj" fmla="val 50000"/>
            </a:avLst>
          </a:prstGeom>
          <a:solidFill>
            <a:srgbClr val="16305A"/>
          </a:solidFill>
          <a:ln w="12700">
            <a:solidFill>
              <a:srgbClr val="F5A623"/>
            </a:solidFill>
            <a:prstDash val="solid"/>
          </a:ln>
        </p:spPr>
      </p:sp>
      <p:sp>
        <p:nvSpPr>
          <p:cNvPr id="18" name="Text 16"/>
          <p:cNvSpPr txBox="1"/>
          <p:nvPr/>
        </p:nvSpPr>
        <p:spPr>
          <a:xfrm>
            <a:off x="6400800" y="5852160"/>
            <a:ext cx="1097280" cy="36576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Database</a:t>
            </a:r>
            <a:endParaRPr lang="en-US" sz="1200" dirty="0"/>
          </a:p>
        </p:txBody>
      </p:sp>
      <p:sp>
        <p:nvSpPr>
          <p:cNvPr id="19" name="Shape 17"/>
          <p:cNvSpPr/>
          <p:nvPr/>
        </p:nvSpPr>
        <p:spPr>
          <a:xfrm>
            <a:off x="7680960" y="1097280"/>
            <a:ext cx="4023360" cy="4023360"/>
          </a:xfrm>
          <a:prstGeom prst="ellipse">
            <a:avLst/>
          </a:prstGeom>
          <a:solidFill>
            <a:srgbClr val="0B1F3A"/>
          </a:solidFill>
          <a:ln w="25400">
            <a:solidFill>
              <a:srgbClr val="16305A"/>
            </a:solidFill>
            <a:prstDash val="solid"/>
          </a:ln>
        </p:spPr>
      </p:sp>
      <p:sp>
        <p:nvSpPr>
          <p:cNvPr id="20" name="Shape 18"/>
          <p:cNvSpPr/>
          <p:nvPr/>
        </p:nvSpPr>
        <p:spPr>
          <a:xfrm>
            <a:off x="8138160" y="1554480"/>
            <a:ext cx="3108960" cy="3108960"/>
          </a:xfrm>
          <a:prstGeom prst="ellipse">
            <a:avLst/>
          </a:prstGeom>
          <a:solidFill>
            <a:srgbClr val="0B1F3A"/>
          </a:solidFill>
          <a:ln w="25400">
            <a:solidFill>
              <a:srgbClr val="2B4A78"/>
            </a:solidFill>
            <a:prstDash val="solid"/>
          </a:ln>
        </p:spPr>
      </p:sp>
      <p:sp>
        <p:nvSpPr>
          <p:cNvPr id="21" name="Shape 19"/>
          <p:cNvSpPr/>
          <p:nvPr/>
        </p:nvSpPr>
        <p:spPr>
          <a:xfrm>
            <a:off x="8595360" y="2011680"/>
            <a:ext cx="2194560" cy="2194560"/>
          </a:xfrm>
          <a:prstGeom prst="ellipse">
            <a:avLst/>
          </a:prstGeom>
          <a:solidFill>
            <a:srgbClr val="F5A623"/>
          </a:solidFill>
          <a:ln w="12700">
            <a:solidFill>
              <a:srgbClr val="F5A623"/>
            </a:solidFill>
            <a:prstDash val="solid"/>
          </a:ln>
        </p:spPr>
      </p:sp>
      <p:pic>
        <p:nvPicPr>
          <p:cNvPr id="22" name="Image 0" descr="preencoded.png"/>
          <p:cNvPicPr>
            <a:picLocks noChangeAspect="1"/>
          </p:cNvPicPr>
          <p:nvPr/>
        </p:nvPicPr>
        <p:blipFill>
          <a:blip r:embed="rId4"/>
          <a:stretch>
            <a:fillRect/>
          </a:stretch>
        </p:blipFill>
        <p:spPr>
          <a:xfrm>
            <a:off x="9144000" y="2560320"/>
            <a:ext cx="1097280" cy="10972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BUSINESS CHALLENGE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The Problem We Are Solving</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2</a:t>
            </a:r>
            <a:endParaRPr lang="en-US" sz="1000" dirty="0"/>
          </a:p>
        </p:txBody>
      </p:sp>
      <p:sp>
        <p:nvSpPr>
          <p:cNvPr id="6" name="Shape 4"/>
          <p:cNvSpPr/>
          <p:nvPr/>
        </p:nvSpPr>
        <p:spPr>
          <a:xfrm>
            <a:off x="548640" y="1600200"/>
            <a:ext cx="3931920" cy="3429000"/>
          </a:xfrm>
          <a:prstGeom prst="roundRect">
            <a:avLst>
              <a:gd name="adj" fmla="val 2133"/>
            </a:avLst>
          </a:prstGeom>
          <a:solidFill>
            <a:srgbClr val="F1F4F9"/>
          </a:solidFill>
          <a:ln w="12700">
            <a:solidFill>
              <a:srgbClr val="F1F4F9"/>
            </a:solidFill>
            <a:prstDash val="solid"/>
          </a:ln>
        </p:spPr>
      </p:sp>
      <p:sp>
        <p:nvSpPr>
          <p:cNvPr id="7" name="Shape 5"/>
          <p:cNvSpPr/>
          <p:nvPr/>
        </p:nvSpPr>
        <p:spPr>
          <a:xfrm>
            <a:off x="777240" y="1783080"/>
            <a:ext cx="548640" cy="548640"/>
          </a:xfrm>
          <a:prstGeom prst="ellipse">
            <a:avLst/>
          </a:prstGeom>
          <a:solidFill>
            <a:srgbClr val="F5A623"/>
          </a:solidFill>
          <a:ln w="12700">
            <a:solidFill>
              <a:srgbClr val="F5A623"/>
            </a:solidFill>
            <a:prstDash val="solid"/>
          </a:ln>
        </p:spPr>
      </p:sp>
      <p:pic>
        <p:nvPicPr>
          <p:cNvPr id="8" name="Image 0" descr="preencoded.png"/>
          <p:cNvPicPr>
            <a:picLocks noChangeAspect="1"/>
          </p:cNvPicPr>
          <p:nvPr/>
        </p:nvPicPr>
        <p:blipFill>
          <a:blip r:embed="rId3"/>
          <a:stretch>
            <a:fillRect/>
          </a:stretch>
        </p:blipFill>
        <p:spPr>
          <a:xfrm>
            <a:off x="914400" y="1920240"/>
            <a:ext cx="274320" cy="274320"/>
          </a:xfrm>
          <a:prstGeom prst="rect">
            <a:avLst/>
          </a:prstGeom>
        </p:spPr>
      </p:pic>
      <p:sp>
        <p:nvSpPr>
          <p:cNvPr id="9" name="Text 6"/>
          <p:cNvSpPr txBox="1"/>
          <p:nvPr/>
        </p:nvSpPr>
        <p:spPr>
          <a:xfrm>
            <a:off x="1463040" y="1783080"/>
            <a:ext cx="2926080" cy="54864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Many small businesses still use:</a:t>
            </a:r>
            <a:endParaRPr lang="en-US" sz="1600" dirty="0"/>
          </a:p>
        </p:txBody>
      </p:sp>
      <p:sp>
        <p:nvSpPr>
          <p:cNvPr id="10" name="Text 7"/>
          <p:cNvSpPr txBox="1"/>
          <p:nvPr/>
        </p:nvSpPr>
        <p:spPr>
          <a:xfrm>
            <a:off x="822960" y="2606040"/>
            <a:ext cx="3474720" cy="228600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Notebooks and manual records</a:t>
            </a:r>
            <a:endParaRPr lang="en-US" sz="1500" dirty="0"/>
          </a:p>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Memory-based tracking</a:t>
            </a:r>
            <a:endParaRPr lang="en-US" sz="1500" dirty="0"/>
          </a:p>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WhatsApp messages</a:t>
            </a:r>
            <a:endParaRPr lang="en-US" sz="1500" dirty="0"/>
          </a:p>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Basic spreadsheets</a:t>
            </a:r>
            <a:endParaRPr lang="en-US" sz="1500" dirty="0"/>
          </a:p>
          <a:p>
            <a:pPr marL="177800" indent="-177800">
              <a:spcAft>
                <a:spcPts val="800"/>
              </a:spcAft>
              <a:buSzPct val="100000"/>
              <a:buChar char="•"/>
            </a:pPr>
            <a:r>
              <a:rPr lang="en-US" sz="1500" dirty="0">
                <a:solidFill>
                  <a:srgbClr val="0B1F3A"/>
                </a:solidFill>
                <a:latin typeface="Calibri" pitchFamily="34" charset="0"/>
                <a:ea typeface="Calibri" pitchFamily="34" charset="-122"/>
                <a:cs typeface="Calibri" pitchFamily="34" charset="-120"/>
              </a:rPr>
              <a:t>Manual calculations</a:t>
            </a:r>
            <a:endParaRPr lang="en-US" sz="1500" dirty="0"/>
          </a:p>
        </p:txBody>
      </p:sp>
      <p:sp>
        <p:nvSpPr>
          <p:cNvPr id="11" name="Shape 8"/>
          <p:cNvSpPr/>
          <p:nvPr/>
        </p:nvSpPr>
        <p:spPr>
          <a:xfrm>
            <a:off x="4754880" y="1600200"/>
            <a:ext cx="6885432" cy="3429000"/>
          </a:xfrm>
          <a:prstGeom prst="roundRect">
            <a:avLst>
              <a:gd name="adj" fmla="val 2133"/>
            </a:avLst>
          </a:prstGeom>
          <a:solidFill>
            <a:srgbClr val="F1F4F9"/>
          </a:solidFill>
          <a:ln w="12700">
            <a:solidFill>
              <a:srgbClr val="F1F4F9"/>
            </a:solidFill>
            <a:prstDash val="solid"/>
          </a:ln>
        </p:spPr>
      </p:sp>
      <p:sp>
        <p:nvSpPr>
          <p:cNvPr id="12" name="Shape 9"/>
          <p:cNvSpPr/>
          <p:nvPr/>
        </p:nvSpPr>
        <p:spPr>
          <a:xfrm>
            <a:off x="4983480" y="1783080"/>
            <a:ext cx="548640" cy="548640"/>
          </a:xfrm>
          <a:prstGeom prst="ellipse">
            <a:avLst/>
          </a:prstGeom>
          <a:solidFill>
            <a:srgbClr val="C2410C"/>
          </a:solidFill>
          <a:ln w="12700">
            <a:solidFill>
              <a:srgbClr val="C2410C"/>
            </a:solidFill>
            <a:prstDash val="solid"/>
          </a:ln>
        </p:spPr>
      </p:sp>
      <p:pic>
        <p:nvPicPr>
          <p:cNvPr id="13" name="Image 1" descr="preencoded.png"/>
          <p:cNvPicPr>
            <a:picLocks noChangeAspect="1"/>
          </p:cNvPicPr>
          <p:nvPr/>
        </p:nvPicPr>
        <p:blipFill>
          <a:blip r:embed="rId4"/>
          <a:stretch>
            <a:fillRect/>
          </a:stretch>
        </p:blipFill>
        <p:spPr>
          <a:xfrm>
            <a:off x="5120640" y="1920240"/>
            <a:ext cx="274320" cy="274320"/>
          </a:xfrm>
          <a:prstGeom prst="rect">
            <a:avLst/>
          </a:prstGeom>
        </p:spPr>
      </p:pic>
      <p:sp>
        <p:nvSpPr>
          <p:cNvPr id="14" name="Text 10"/>
          <p:cNvSpPr txBox="1"/>
          <p:nvPr/>
        </p:nvSpPr>
        <p:spPr>
          <a:xfrm>
            <a:off x="5715000" y="1783080"/>
            <a:ext cx="5486400" cy="548640"/>
          </a:xfrm>
          <a:prstGeom prst="rect">
            <a:avLst/>
          </a:prstGeom>
          <a:noFill/>
          <a:ln/>
        </p:spPr>
        <p:txBody>
          <a:bodyPr wrap="square" lIns="0" tIns="0" rIns="0" bIns="0" rtlCol="0" anchor="ctr"/>
          <a:lstStyle/>
          <a:p>
            <a:pPr marL="0" indent="0">
              <a:buNone/>
            </a:pPr>
            <a:r>
              <a:rPr lang="en-US" sz="1600" b="1" dirty="0">
                <a:solidFill>
                  <a:srgbClr val="0B1F3A"/>
                </a:solidFill>
                <a:latin typeface="Calibri" pitchFamily="34" charset="0"/>
                <a:ea typeface="Calibri" pitchFamily="34" charset="-122"/>
                <a:cs typeface="Calibri" pitchFamily="34" charset="-120"/>
              </a:rPr>
              <a:t>This creates several problems:</a:t>
            </a:r>
            <a:endParaRPr lang="en-US" sz="1600" dirty="0"/>
          </a:p>
        </p:txBody>
      </p:sp>
      <p:sp>
        <p:nvSpPr>
          <p:cNvPr id="15" name="Text 11"/>
          <p:cNvSpPr txBox="1"/>
          <p:nvPr/>
        </p:nvSpPr>
        <p:spPr>
          <a:xfrm>
            <a:off x="5029200" y="2606040"/>
            <a:ext cx="6400800" cy="2377440"/>
          </a:xfrm>
          <a:prstGeom prst="rect">
            <a:avLst/>
          </a:prstGeom>
          <a:noFill/>
          <a:ln/>
        </p:spPr>
        <p:txBody>
          <a:bodyPr wrap="square" lIns="0" tIns="0" rIns="0" bIns="0" rtlCol="0" anchor="t"/>
          <a:lstStyle/>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Difficulty knowing the exact available stock</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Unexpected stock shortages</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Excess or unnecessary stock</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Manual errors in stock records</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Difficulty tracking transactions</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No simple way to know what needs to be reordered</a:t>
            </a:r>
            <a:endParaRPr lang="en-US" sz="1450" dirty="0"/>
          </a:p>
          <a:p>
            <a:pPr marL="177800" indent="-177800">
              <a:spcAft>
                <a:spcPts val="500"/>
              </a:spcAft>
              <a:buSzPct val="100000"/>
              <a:buChar char="•"/>
            </a:pPr>
            <a:r>
              <a:rPr lang="en-US" sz="1450" dirty="0">
                <a:solidFill>
                  <a:srgbClr val="0B1F3A"/>
                </a:solidFill>
                <a:latin typeface="Calibri" pitchFamily="34" charset="0"/>
                <a:ea typeface="Calibri" pitchFamily="34" charset="-122"/>
                <a:cs typeface="Calibri" pitchFamily="34" charset="-120"/>
              </a:rPr>
              <a:t>Existing systems need too much typing or technical knowledge</a:t>
            </a:r>
            <a:endParaRPr lang="en-US" sz="1450" dirty="0"/>
          </a:p>
        </p:txBody>
      </p:sp>
      <p:sp>
        <p:nvSpPr>
          <p:cNvPr id="16" name="Shape 12"/>
          <p:cNvSpPr/>
          <p:nvPr/>
        </p:nvSpPr>
        <p:spPr>
          <a:xfrm>
            <a:off x="548640" y="5303520"/>
            <a:ext cx="11091672" cy="960120"/>
          </a:xfrm>
          <a:prstGeom prst="roundRect">
            <a:avLst>
              <a:gd name="adj" fmla="val 7619"/>
            </a:avLst>
          </a:prstGeom>
          <a:solidFill>
            <a:srgbClr val="0B1F3A"/>
          </a:solidFill>
          <a:ln w="12700">
            <a:solidFill>
              <a:srgbClr val="0B1F3A"/>
            </a:solidFill>
            <a:prstDash val="solid"/>
          </a:ln>
        </p:spPr>
      </p:sp>
      <p:sp>
        <p:nvSpPr>
          <p:cNvPr id="17" name="Text 13"/>
          <p:cNvSpPr txBox="1"/>
          <p:nvPr/>
        </p:nvSpPr>
        <p:spPr>
          <a:xfrm>
            <a:off x="822960" y="5303520"/>
            <a:ext cx="2194560" cy="96012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KEY CHALLENGE</a:t>
            </a:r>
            <a:endParaRPr lang="en-US" sz="1200" dirty="0"/>
          </a:p>
        </p:txBody>
      </p:sp>
      <p:sp>
        <p:nvSpPr>
          <p:cNvPr id="18" name="Text 14"/>
          <p:cNvSpPr txBox="1"/>
          <p:nvPr/>
        </p:nvSpPr>
        <p:spPr>
          <a:xfrm>
            <a:off x="3017520" y="5303520"/>
            <a:ext cx="8412480" cy="96012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How can we make inventory management as simple as speaking to someone?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TARGET USERS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Who Is This Solution For?</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3</a:t>
            </a:r>
            <a:endParaRPr lang="en-US" sz="1000" dirty="0"/>
          </a:p>
        </p:txBody>
      </p:sp>
      <p:sp>
        <p:nvSpPr>
          <p:cNvPr id="6" name="Text 4"/>
          <p:cNvSpPr txBox="1"/>
          <p:nvPr/>
        </p:nvSpPr>
        <p:spPr>
          <a:xfrm>
            <a:off x="548640" y="1554480"/>
            <a:ext cx="5212080" cy="320040"/>
          </a:xfrm>
          <a:prstGeom prst="rect">
            <a:avLst/>
          </a:prstGeom>
          <a:noFill/>
          <a:ln/>
        </p:spPr>
        <p:txBody>
          <a:bodyPr wrap="square" lIns="0" tIns="0" rIns="0" bIns="0" rtlCol="0" anchor="t"/>
          <a:lstStyle/>
          <a:p>
            <a:pPr marL="0" indent="0">
              <a:buNone/>
            </a:pPr>
            <a:r>
              <a:rPr lang="en-US" sz="1700" b="1" dirty="0">
                <a:solidFill>
                  <a:srgbClr val="0B1F3A"/>
                </a:solidFill>
                <a:latin typeface="Cambria" pitchFamily="34" charset="0"/>
                <a:ea typeface="Cambria" pitchFamily="34" charset="-122"/>
                <a:cs typeface="Cambria" pitchFamily="34" charset="-120"/>
              </a:rPr>
              <a:t>Primary users: every kind of small shop</a:t>
            </a:r>
            <a:endParaRPr lang="en-US" sz="1700" dirty="0"/>
          </a:p>
        </p:txBody>
      </p:sp>
      <p:sp>
        <p:nvSpPr>
          <p:cNvPr id="7" name="Shape 5"/>
          <p:cNvSpPr/>
          <p:nvPr/>
        </p:nvSpPr>
        <p:spPr>
          <a:xfrm>
            <a:off x="548640" y="2011680"/>
            <a:ext cx="2468880" cy="960120"/>
          </a:xfrm>
          <a:prstGeom prst="roundRect">
            <a:avLst>
              <a:gd name="adj" fmla="val 7619"/>
            </a:avLst>
          </a:prstGeom>
          <a:solidFill>
            <a:srgbClr val="F1F4F9"/>
          </a:solidFill>
          <a:ln w="12700">
            <a:solidFill>
              <a:srgbClr val="F1F4F9"/>
            </a:solidFill>
            <a:prstDash val="solid"/>
          </a:ln>
        </p:spPr>
      </p:sp>
      <p:sp>
        <p:nvSpPr>
          <p:cNvPr id="8" name="Shape 6"/>
          <p:cNvSpPr/>
          <p:nvPr/>
        </p:nvSpPr>
        <p:spPr>
          <a:xfrm>
            <a:off x="685800" y="2267712"/>
            <a:ext cx="457200" cy="457200"/>
          </a:xfrm>
          <a:prstGeom prst="ellipse">
            <a:avLst/>
          </a:prstGeom>
          <a:solidFill>
            <a:srgbClr val="F5A623"/>
          </a:solidFill>
          <a:ln w="12700">
            <a:solidFill>
              <a:srgbClr val="F5A623"/>
            </a:solidFill>
            <a:prstDash val="solid"/>
          </a:ln>
        </p:spPr>
      </p:sp>
      <p:pic>
        <p:nvPicPr>
          <p:cNvPr id="9" name="Image 0" descr="preencoded.png"/>
          <p:cNvPicPr>
            <a:picLocks noChangeAspect="1"/>
          </p:cNvPicPr>
          <p:nvPr/>
        </p:nvPicPr>
        <p:blipFill>
          <a:blip r:embed="rId3"/>
          <a:stretch>
            <a:fillRect/>
          </a:stretch>
        </p:blipFill>
        <p:spPr>
          <a:xfrm>
            <a:off x="800100" y="2382012"/>
            <a:ext cx="228600" cy="228600"/>
          </a:xfrm>
          <a:prstGeom prst="rect">
            <a:avLst/>
          </a:prstGeom>
        </p:spPr>
      </p:pic>
      <p:sp>
        <p:nvSpPr>
          <p:cNvPr id="10" name="Text 7"/>
          <p:cNvSpPr txBox="1"/>
          <p:nvPr/>
        </p:nvSpPr>
        <p:spPr>
          <a:xfrm>
            <a:off x="1261872" y="2011680"/>
            <a:ext cx="1691640" cy="9601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Grocery &amp; kirana stores</a:t>
            </a:r>
            <a:endParaRPr lang="en-US" sz="1300" dirty="0"/>
          </a:p>
        </p:txBody>
      </p:sp>
      <p:sp>
        <p:nvSpPr>
          <p:cNvPr id="11" name="Shape 8"/>
          <p:cNvSpPr/>
          <p:nvPr/>
        </p:nvSpPr>
        <p:spPr>
          <a:xfrm>
            <a:off x="3154680" y="2011680"/>
            <a:ext cx="2468880" cy="960120"/>
          </a:xfrm>
          <a:prstGeom prst="roundRect">
            <a:avLst>
              <a:gd name="adj" fmla="val 7619"/>
            </a:avLst>
          </a:prstGeom>
          <a:solidFill>
            <a:srgbClr val="F1F4F9"/>
          </a:solidFill>
          <a:ln w="12700">
            <a:solidFill>
              <a:srgbClr val="F1F4F9"/>
            </a:solidFill>
            <a:prstDash val="solid"/>
          </a:ln>
        </p:spPr>
      </p:sp>
      <p:sp>
        <p:nvSpPr>
          <p:cNvPr id="12" name="Shape 9"/>
          <p:cNvSpPr/>
          <p:nvPr/>
        </p:nvSpPr>
        <p:spPr>
          <a:xfrm>
            <a:off x="3291840" y="2267712"/>
            <a:ext cx="457200" cy="457200"/>
          </a:xfrm>
          <a:prstGeom prst="ellipse">
            <a:avLst/>
          </a:prstGeom>
          <a:solidFill>
            <a:srgbClr val="F5A623"/>
          </a:solidFill>
          <a:ln w="12700">
            <a:solidFill>
              <a:srgbClr val="F5A623"/>
            </a:solidFill>
            <a:prstDash val="solid"/>
          </a:ln>
        </p:spPr>
      </p:sp>
      <p:pic>
        <p:nvPicPr>
          <p:cNvPr id="13" name="Image 1" descr="preencoded.png"/>
          <p:cNvPicPr>
            <a:picLocks noChangeAspect="1"/>
          </p:cNvPicPr>
          <p:nvPr/>
        </p:nvPicPr>
        <p:blipFill>
          <a:blip r:embed="rId4"/>
          <a:stretch>
            <a:fillRect/>
          </a:stretch>
        </p:blipFill>
        <p:spPr>
          <a:xfrm>
            <a:off x="3406140" y="2382012"/>
            <a:ext cx="228600" cy="228600"/>
          </a:xfrm>
          <a:prstGeom prst="rect">
            <a:avLst/>
          </a:prstGeom>
        </p:spPr>
      </p:pic>
      <p:sp>
        <p:nvSpPr>
          <p:cNvPr id="14" name="Text 10"/>
          <p:cNvSpPr txBox="1"/>
          <p:nvPr/>
        </p:nvSpPr>
        <p:spPr>
          <a:xfrm>
            <a:off x="3867912" y="2011680"/>
            <a:ext cx="1691640" cy="9601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Flower shops</a:t>
            </a:r>
            <a:endParaRPr lang="en-US" sz="1300" dirty="0"/>
          </a:p>
        </p:txBody>
      </p:sp>
      <p:sp>
        <p:nvSpPr>
          <p:cNvPr id="15" name="Shape 11"/>
          <p:cNvSpPr/>
          <p:nvPr/>
        </p:nvSpPr>
        <p:spPr>
          <a:xfrm>
            <a:off x="548640" y="3108960"/>
            <a:ext cx="2468880" cy="960120"/>
          </a:xfrm>
          <a:prstGeom prst="roundRect">
            <a:avLst>
              <a:gd name="adj" fmla="val 7619"/>
            </a:avLst>
          </a:prstGeom>
          <a:solidFill>
            <a:srgbClr val="F1F4F9"/>
          </a:solidFill>
          <a:ln w="12700">
            <a:solidFill>
              <a:srgbClr val="F1F4F9"/>
            </a:solidFill>
            <a:prstDash val="solid"/>
          </a:ln>
        </p:spPr>
      </p:sp>
      <p:sp>
        <p:nvSpPr>
          <p:cNvPr id="16" name="Shape 12"/>
          <p:cNvSpPr/>
          <p:nvPr/>
        </p:nvSpPr>
        <p:spPr>
          <a:xfrm>
            <a:off x="685800" y="3364992"/>
            <a:ext cx="457200" cy="457200"/>
          </a:xfrm>
          <a:prstGeom prst="ellipse">
            <a:avLst/>
          </a:prstGeom>
          <a:solidFill>
            <a:srgbClr val="F5A623"/>
          </a:solidFill>
          <a:ln w="12700">
            <a:solidFill>
              <a:srgbClr val="F5A623"/>
            </a:solidFill>
            <a:prstDash val="solid"/>
          </a:ln>
        </p:spPr>
      </p:sp>
      <p:pic>
        <p:nvPicPr>
          <p:cNvPr id="17" name="Image 2" descr="preencoded.png"/>
          <p:cNvPicPr>
            <a:picLocks noChangeAspect="1"/>
          </p:cNvPicPr>
          <p:nvPr/>
        </p:nvPicPr>
        <p:blipFill>
          <a:blip r:embed="rId5"/>
          <a:stretch>
            <a:fillRect/>
          </a:stretch>
        </p:blipFill>
        <p:spPr>
          <a:xfrm>
            <a:off x="800100" y="3479292"/>
            <a:ext cx="228600" cy="228600"/>
          </a:xfrm>
          <a:prstGeom prst="rect">
            <a:avLst/>
          </a:prstGeom>
        </p:spPr>
      </p:pic>
      <p:sp>
        <p:nvSpPr>
          <p:cNvPr id="18" name="Text 13"/>
          <p:cNvSpPr txBox="1"/>
          <p:nvPr/>
        </p:nvSpPr>
        <p:spPr>
          <a:xfrm>
            <a:off x="1261872" y="3108960"/>
            <a:ext cx="1691640" cy="9601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Gold &amp; jewellery shops</a:t>
            </a:r>
            <a:endParaRPr lang="en-US" sz="1300" dirty="0"/>
          </a:p>
        </p:txBody>
      </p:sp>
      <p:sp>
        <p:nvSpPr>
          <p:cNvPr id="19" name="Shape 14"/>
          <p:cNvSpPr/>
          <p:nvPr/>
        </p:nvSpPr>
        <p:spPr>
          <a:xfrm>
            <a:off x="3154680" y="3108960"/>
            <a:ext cx="2468880" cy="960120"/>
          </a:xfrm>
          <a:prstGeom prst="roundRect">
            <a:avLst>
              <a:gd name="adj" fmla="val 7619"/>
            </a:avLst>
          </a:prstGeom>
          <a:solidFill>
            <a:srgbClr val="F1F4F9"/>
          </a:solidFill>
          <a:ln w="12700">
            <a:solidFill>
              <a:srgbClr val="F1F4F9"/>
            </a:solidFill>
            <a:prstDash val="solid"/>
          </a:ln>
        </p:spPr>
      </p:sp>
      <p:sp>
        <p:nvSpPr>
          <p:cNvPr id="20" name="Shape 15"/>
          <p:cNvSpPr/>
          <p:nvPr/>
        </p:nvSpPr>
        <p:spPr>
          <a:xfrm>
            <a:off x="3291840" y="3364992"/>
            <a:ext cx="457200" cy="457200"/>
          </a:xfrm>
          <a:prstGeom prst="ellipse">
            <a:avLst/>
          </a:prstGeom>
          <a:solidFill>
            <a:srgbClr val="F5A623"/>
          </a:solidFill>
          <a:ln w="12700">
            <a:solidFill>
              <a:srgbClr val="F5A623"/>
            </a:solidFill>
            <a:prstDash val="solid"/>
          </a:ln>
        </p:spPr>
      </p:sp>
      <p:pic>
        <p:nvPicPr>
          <p:cNvPr id="21" name="Image 3" descr="preencoded.png"/>
          <p:cNvPicPr>
            <a:picLocks noChangeAspect="1"/>
          </p:cNvPicPr>
          <p:nvPr/>
        </p:nvPicPr>
        <p:blipFill>
          <a:blip r:embed="rId6"/>
          <a:stretch>
            <a:fillRect/>
          </a:stretch>
        </p:blipFill>
        <p:spPr>
          <a:xfrm>
            <a:off x="3406140" y="3479292"/>
            <a:ext cx="228600" cy="228600"/>
          </a:xfrm>
          <a:prstGeom prst="rect">
            <a:avLst/>
          </a:prstGeom>
        </p:spPr>
      </p:pic>
      <p:sp>
        <p:nvSpPr>
          <p:cNvPr id="22" name="Text 16"/>
          <p:cNvSpPr txBox="1"/>
          <p:nvPr/>
        </p:nvSpPr>
        <p:spPr>
          <a:xfrm>
            <a:off x="3867912" y="3108960"/>
            <a:ext cx="1691640" cy="9601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Local retail &amp; general stores</a:t>
            </a:r>
            <a:endParaRPr lang="en-US" sz="1300" dirty="0"/>
          </a:p>
        </p:txBody>
      </p:sp>
      <p:sp>
        <p:nvSpPr>
          <p:cNvPr id="23" name="Shape 17"/>
          <p:cNvSpPr/>
          <p:nvPr/>
        </p:nvSpPr>
        <p:spPr>
          <a:xfrm>
            <a:off x="548640" y="4206240"/>
            <a:ext cx="2468880" cy="960120"/>
          </a:xfrm>
          <a:prstGeom prst="roundRect">
            <a:avLst>
              <a:gd name="adj" fmla="val 7619"/>
            </a:avLst>
          </a:prstGeom>
          <a:solidFill>
            <a:srgbClr val="F1F4F9"/>
          </a:solidFill>
          <a:ln w="12700">
            <a:solidFill>
              <a:srgbClr val="F1F4F9"/>
            </a:solidFill>
            <a:prstDash val="solid"/>
          </a:ln>
        </p:spPr>
      </p:sp>
      <p:sp>
        <p:nvSpPr>
          <p:cNvPr id="24" name="Shape 18"/>
          <p:cNvSpPr/>
          <p:nvPr/>
        </p:nvSpPr>
        <p:spPr>
          <a:xfrm>
            <a:off x="685800" y="4462272"/>
            <a:ext cx="457200" cy="457200"/>
          </a:xfrm>
          <a:prstGeom prst="ellipse">
            <a:avLst/>
          </a:prstGeom>
          <a:solidFill>
            <a:srgbClr val="F5A623"/>
          </a:solidFill>
          <a:ln w="12700">
            <a:solidFill>
              <a:srgbClr val="F5A623"/>
            </a:solidFill>
            <a:prstDash val="solid"/>
          </a:ln>
        </p:spPr>
      </p:sp>
      <p:pic>
        <p:nvPicPr>
          <p:cNvPr id="25" name="Image 4" descr="preencoded.png"/>
          <p:cNvPicPr>
            <a:picLocks noChangeAspect="1"/>
          </p:cNvPicPr>
          <p:nvPr/>
        </p:nvPicPr>
        <p:blipFill>
          <a:blip r:embed="rId7"/>
          <a:stretch>
            <a:fillRect/>
          </a:stretch>
        </p:blipFill>
        <p:spPr>
          <a:xfrm>
            <a:off x="800100" y="4576572"/>
            <a:ext cx="228600" cy="228600"/>
          </a:xfrm>
          <a:prstGeom prst="rect">
            <a:avLst/>
          </a:prstGeom>
        </p:spPr>
      </p:pic>
      <p:sp>
        <p:nvSpPr>
          <p:cNvPr id="26" name="Text 19"/>
          <p:cNvSpPr txBox="1"/>
          <p:nvPr/>
        </p:nvSpPr>
        <p:spPr>
          <a:xfrm>
            <a:off x="1261872" y="4206240"/>
            <a:ext cx="1691640" cy="9601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Small wholesalers</a:t>
            </a:r>
            <a:endParaRPr lang="en-US" sz="1300" dirty="0"/>
          </a:p>
        </p:txBody>
      </p:sp>
      <p:sp>
        <p:nvSpPr>
          <p:cNvPr id="27" name="Shape 20"/>
          <p:cNvSpPr/>
          <p:nvPr/>
        </p:nvSpPr>
        <p:spPr>
          <a:xfrm>
            <a:off x="3154680" y="4206240"/>
            <a:ext cx="2468880" cy="960120"/>
          </a:xfrm>
          <a:prstGeom prst="roundRect">
            <a:avLst>
              <a:gd name="adj" fmla="val 7619"/>
            </a:avLst>
          </a:prstGeom>
          <a:solidFill>
            <a:srgbClr val="F1F4F9"/>
          </a:solidFill>
          <a:ln w="12700">
            <a:solidFill>
              <a:srgbClr val="F1F4F9"/>
            </a:solidFill>
            <a:prstDash val="solid"/>
          </a:ln>
        </p:spPr>
      </p:sp>
      <p:sp>
        <p:nvSpPr>
          <p:cNvPr id="28" name="Shape 21"/>
          <p:cNvSpPr/>
          <p:nvPr/>
        </p:nvSpPr>
        <p:spPr>
          <a:xfrm>
            <a:off x="3291840" y="4462272"/>
            <a:ext cx="457200" cy="457200"/>
          </a:xfrm>
          <a:prstGeom prst="ellipse">
            <a:avLst/>
          </a:prstGeom>
          <a:solidFill>
            <a:srgbClr val="F5A623"/>
          </a:solidFill>
          <a:ln w="12700">
            <a:solidFill>
              <a:srgbClr val="F5A623"/>
            </a:solidFill>
            <a:prstDash val="solid"/>
          </a:ln>
        </p:spPr>
      </p:sp>
      <p:pic>
        <p:nvPicPr>
          <p:cNvPr id="29" name="Image 5" descr="preencoded.png"/>
          <p:cNvPicPr>
            <a:picLocks noChangeAspect="1"/>
          </p:cNvPicPr>
          <p:nvPr/>
        </p:nvPicPr>
        <p:blipFill>
          <a:blip r:embed="rId8"/>
          <a:stretch>
            <a:fillRect/>
          </a:stretch>
        </p:blipFill>
        <p:spPr>
          <a:xfrm>
            <a:off x="3406140" y="4576572"/>
            <a:ext cx="228600" cy="228600"/>
          </a:xfrm>
          <a:prstGeom prst="rect">
            <a:avLst/>
          </a:prstGeom>
        </p:spPr>
      </p:pic>
      <p:sp>
        <p:nvSpPr>
          <p:cNvPr id="30" name="Text 22"/>
          <p:cNvSpPr txBox="1"/>
          <p:nvPr/>
        </p:nvSpPr>
        <p:spPr>
          <a:xfrm>
            <a:off x="3867912" y="4206240"/>
            <a:ext cx="1691640" cy="96012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Shop owners &amp; employees</a:t>
            </a:r>
            <a:endParaRPr lang="en-US" sz="1300" dirty="0"/>
          </a:p>
        </p:txBody>
      </p:sp>
      <p:sp>
        <p:nvSpPr>
          <p:cNvPr id="31" name="Shape 23"/>
          <p:cNvSpPr/>
          <p:nvPr/>
        </p:nvSpPr>
        <p:spPr>
          <a:xfrm>
            <a:off x="6035040" y="1554480"/>
            <a:ext cx="5605272" cy="3611880"/>
          </a:xfrm>
          <a:prstGeom prst="roundRect">
            <a:avLst>
              <a:gd name="adj" fmla="val 2025"/>
            </a:avLst>
          </a:prstGeom>
          <a:solidFill>
            <a:srgbClr val="F1F4F9"/>
          </a:solidFill>
          <a:ln w="12700">
            <a:solidFill>
              <a:srgbClr val="F1F4F9"/>
            </a:solidFill>
            <a:prstDash val="solid"/>
          </a:ln>
        </p:spPr>
      </p:sp>
      <p:sp>
        <p:nvSpPr>
          <p:cNvPr id="32" name="Text 24"/>
          <p:cNvSpPr txBox="1"/>
          <p:nvPr/>
        </p:nvSpPr>
        <p:spPr>
          <a:xfrm>
            <a:off x="6309360" y="1691640"/>
            <a:ext cx="4572000" cy="32004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User needs</a:t>
            </a:r>
            <a:endParaRPr lang="en-US" sz="1800" dirty="0"/>
          </a:p>
        </p:txBody>
      </p:sp>
      <p:sp>
        <p:nvSpPr>
          <p:cNvPr id="33" name="Text 25"/>
          <p:cNvSpPr txBox="1"/>
          <p:nvPr/>
        </p:nvSpPr>
        <p:spPr>
          <a:xfrm>
            <a:off x="6309360" y="2194560"/>
            <a:ext cx="5120640" cy="29260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Manage stock quickly</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Speak instead of typing</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Use familiar regional language</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Use normal trade units</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Check stock instantly</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Know which products are running low</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Understand what needs to be ordered</a:t>
            </a:r>
            <a:endParaRPr lang="en-US" sz="1500" dirty="0"/>
          </a:p>
          <a:p>
            <a:pPr marL="177800" indent="-177800">
              <a:spcAft>
                <a:spcPts val="600"/>
              </a:spcAft>
              <a:buSzPct val="100000"/>
              <a:buChar char="•"/>
            </a:pPr>
            <a:r>
              <a:rPr lang="en-US" sz="1500" dirty="0">
                <a:solidFill>
                  <a:srgbClr val="0B1F3A"/>
                </a:solidFill>
                <a:latin typeface="Calibri" pitchFamily="34" charset="0"/>
                <a:ea typeface="Calibri" pitchFamily="34" charset="-122"/>
                <a:cs typeface="Calibri" pitchFamily="34" charset="-120"/>
              </a:rPr>
              <a:t>Track transactions and customer credit</a:t>
            </a:r>
            <a:endParaRPr lang="en-US" sz="1500" dirty="0"/>
          </a:p>
        </p:txBody>
      </p:sp>
      <p:sp>
        <p:nvSpPr>
          <p:cNvPr id="34" name="Shape 26"/>
          <p:cNvSpPr/>
          <p:nvPr/>
        </p:nvSpPr>
        <p:spPr>
          <a:xfrm>
            <a:off x="548640" y="5440680"/>
            <a:ext cx="11091672" cy="868680"/>
          </a:xfrm>
          <a:prstGeom prst="roundRect">
            <a:avLst>
              <a:gd name="adj" fmla="val 8421"/>
            </a:avLst>
          </a:prstGeom>
          <a:solidFill>
            <a:srgbClr val="0B1F3A"/>
          </a:solidFill>
          <a:ln w="12700">
            <a:solidFill>
              <a:srgbClr val="0B1F3A"/>
            </a:solidFill>
            <a:prstDash val="solid"/>
          </a:ln>
        </p:spPr>
      </p:sp>
      <p:sp>
        <p:nvSpPr>
          <p:cNvPr id="35" name="Text 27"/>
          <p:cNvSpPr txBox="1"/>
          <p:nvPr/>
        </p:nvSpPr>
        <p:spPr>
          <a:xfrm>
            <a:off x="822960" y="5440680"/>
            <a:ext cx="2194560" cy="86868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DESIGN PRINCIPLE</a:t>
            </a:r>
            <a:endParaRPr lang="en-US" sz="1200" dirty="0"/>
          </a:p>
        </p:txBody>
      </p:sp>
      <p:sp>
        <p:nvSpPr>
          <p:cNvPr id="36" name="Text 28"/>
          <p:cNvSpPr txBox="1"/>
          <p:nvPr/>
        </p:nvSpPr>
        <p:spPr>
          <a:xfrm>
            <a:off x="3017520" y="5440680"/>
            <a:ext cx="8412480" cy="86868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Simple enough for a first-time digital user, but powerful enough for daily business use.</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PROPOSED SOLUTION</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Our Proposed Solution</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4</a:t>
            </a:r>
            <a:endParaRPr lang="en-US" sz="1000" dirty="0"/>
          </a:p>
        </p:txBody>
      </p:sp>
      <p:sp>
        <p:nvSpPr>
          <p:cNvPr id="6" name="Text 4"/>
          <p:cNvSpPr txBox="1"/>
          <p:nvPr/>
        </p:nvSpPr>
        <p:spPr>
          <a:xfrm>
            <a:off x="548640" y="1463040"/>
            <a:ext cx="11064240" cy="502920"/>
          </a:xfrm>
          <a:prstGeom prst="rect">
            <a:avLst/>
          </a:prstGeom>
          <a:noFill/>
          <a:ln/>
        </p:spPr>
        <p:txBody>
          <a:bodyPr wrap="square" lIns="0" tIns="0" rIns="0" bIns="0" rtlCol="0" anchor="t"/>
          <a:lstStyle/>
          <a:p>
            <a:pPr marL="0" indent="0">
              <a:buNone/>
            </a:pPr>
            <a:r>
              <a:rPr lang="en-US" sz="1400" dirty="0">
                <a:solidFill>
                  <a:srgbClr val="55657F"/>
                </a:solidFill>
                <a:latin typeface="Calibri" pitchFamily="34" charset="0"/>
                <a:ea typeface="Calibri" pitchFamily="34" charset="-122"/>
                <a:cs typeface="Calibri" pitchFamily="34" charset="-120"/>
              </a:rPr>
              <a:t>A voice-first inventory application for small businesses of every kind: grocery, flowers, gold and jewellery, retail and wholesale. The shopkeeper can:</a:t>
            </a:r>
            <a:endParaRPr lang="en-US" sz="1400" dirty="0"/>
          </a:p>
        </p:txBody>
      </p:sp>
      <p:sp>
        <p:nvSpPr>
          <p:cNvPr id="7" name="Shape 5"/>
          <p:cNvSpPr/>
          <p:nvPr/>
        </p:nvSpPr>
        <p:spPr>
          <a:xfrm>
            <a:off x="548640" y="2103120"/>
            <a:ext cx="2651760" cy="868680"/>
          </a:xfrm>
          <a:prstGeom prst="roundRect">
            <a:avLst>
              <a:gd name="adj" fmla="val 8421"/>
            </a:avLst>
          </a:prstGeom>
          <a:solidFill>
            <a:srgbClr val="F1F4F9"/>
          </a:solidFill>
          <a:ln w="12700">
            <a:solidFill>
              <a:srgbClr val="F1F4F9"/>
            </a:solidFill>
            <a:prstDash val="solid"/>
          </a:ln>
        </p:spPr>
      </p:sp>
      <p:pic>
        <p:nvPicPr>
          <p:cNvPr id="8" name="Image 0" descr="preencoded.png"/>
          <p:cNvPicPr>
            <a:picLocks noChangeAspect="1"/>
          </p:cNvPicPr>
          <p:nvPr/>
        </p:nvPicPr>
        <p:blipFill>
          <a:blip r:embed="rId3"/>
          <a:stretch>
            <a:fillRect/>
          </a:stretch>
        </p:blipFill>
        <p:spPr>
          <a:xfrm>
            <a:off x="685800" y="2386584"/>
            <a:ext cx="292608" cy="292608"/>
          </a:xfrm>
          <a:prstGeom prst="rect">
            <a:avLst/>
          </a:prstGeom>
        </p:spPr>
      </p:pic>
      <p:sp>
        <p:nvSpPr>
          <p:cNvPr id="9" name="Text 6"/>
          <p:cNvSpPr txBox="1"/>
          <p:nvPr/>
        </p:nvSpPr>
        <p:spPr>
          <a:xfrm>
            <a:off x="1097280" y="2103120"/>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Add and remove products</a:t>
            </a:r>
            <a:endParaRPr lang="en-US" sz="1300" dirty="0"/>
          </a:p>
        </p:txBody>
      </p:sp>
      <p:sp>
        <p:nvSpPr>
          <p:cNvPr id="10" name="Shape 7"/>
          <p:cNvSpPr/>
          <p:nvPr/>
        </p:nvSpPr>
        <p:spPr>
          <a:xfrm>
            <a:off x="3364992" y="2103120"/>
            <a:ext cx="2651760" cy="868680"/>
          </a:xfrm>
          <a:prstGeom prst="roundRect">
            <a:avLst>
              <a:gd name="adj" fmla="val 8421"/>
            </a:avLst>
          </a:prstGeom>
          <a:solidFill>
            <a:srgbClr val="F1F4F9"/>
          </a:solidFill>
          <a:ln w="12700">
            <a:solidFill>
              <a:srgbClr val="F1F4F9"/>
            </a:solidFill>
            <a:prstDash val="solid"/>
          </a:ln>
        </p:spPr>
      </p:sp>
      <p:pic>
        <p:nvPicPr>
          <p:cNvPr id="11" name="Image 1" descr="preencoded.png"/>
          <p:cNvPicPr>
            <a:picLocks noChangeAspect="1"/>
          </p:cNvPicPr>
          <p:nvPr/>
        </p:nvPicPr>
        <p:blipFill>
          <a:blip r:embed="rId3"/>
          <a:stretch>
            <a:fillRect/>
          </a:stretch>
        </p:blipFill>
        <p:spPr>
          <a:xfrm>
            <a:off x="3502152" y="2386584"/>
            <a:ext cx="292608" cy="292608"/>
          </a:xfrm>
          <a:prstGeom prst="rect">
            <a:avLst/>
          </a:prstGeom>
        </p:spPr>
      </p:pic>
      <p:sp>
        <p:nvSpPr>
          <p:cNvPr id="12" name="Text 8"/>
          <p:cNvSpPr txBox="1"/>
          <p:nvPr/>
        </p:nvSpPr>
        <p:spPr>
          <a:xfrm>
            <a:off x="3913632" y="2103120"/>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Record Stock IN and Stock OUT</a:t>
            </a:r>
            <a:endParaRPr lang="en-US" sz="1300" dirty="0"/>
          </a:p>
        </p:txBody>
      </p:sp>
      <p:sp>
        <p:nvSpPr>
          <p:cNvPr id="13" name="Shape 9"/>
          <p:cNvSpPr/>
          <p:nvPr/>
        </p:nvSpPr>
        <p:spPr>
          <a:xfrm>
            <a:off x="6181344" y="2103120"/>
            <a:ext cx="2651760" cy="868680"/>
          </a:xfrm>
          <a:prstGeom prst="roundRect">
            <a:avLst>
              <a:gd name="adj" fmla="val 8421"/>
            </a:avLst>
          </a:prstGeom>
          <a:solidFill>
            <a:srgbClr val="F1F4F9"/>
          </a:solidFill>
          <a:ln w="12700">
            <a:solidFill>
              <a:srgbClr val="F1F4F9"/>
            </a:solidFill>
            <a:prstDash val="solid"/>
          </a:ln>
        </p:spPr>
      </p:sp>
      <p:pic>
        <p:nvPicPr>
          <p:cNvPr id="14" name="Image 2" descr="preencoded.png"/>
          <p:cNvPicPr>
            <a:picLocks noChangeAspect="1"/>
          </p:cNvPicPr>
          <p:nvPr/>
        </p:nvPicPr>
        <p:blipFill>
          <a:blip r:embed="rId3"/>
          <a:stretch>
            <a:fillRect/>
          </a:stretch>
        </p:blipFill>
        <p:spPr>
          <a:xfrm>
            <a:off x="6318504" y="2386584"/>
            <a:ext cx="292608" cy="292608"/>
          </a:xfrm>
          <a:prstGeom prst="rect">
            <a:avLst/>
          </a:prstGeom>
        </p:spPr>
      </p:pic>
      <p:sp>
        <p:nvSpPr>
          <p:cNvPr id="15" name="Text 10"/>
          <p:cNvSpPr txBox="1"/>
          <p:nvPr/>
        </p:nvSpPr>
        <p:spPr>
          <a:xfrm>
            <a:off x="6729984" y="2103120"/>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Check current stock</a:t>
            </a:r>
            <a:endParaRPr lang="en-US" sz="1300" dirty="0"/>
          </a:p>
        </p:txBody>
      </p:sp>
      <p:sp>
        <p:nvSpPr>
          <p:cNvPr id="16" name="Shape 11"/>
          <p:cNvSpPr/>
          <p:nvPr/>
        </p:nvSpPr>
        <p:spPr>
          <a:xfrm>
            <a:off x="8997696" y="2103120"/>
            <a:ext cx="2651760" cy="868680"/>
          </a:xfrm>
          <a:prstGeom prst="roundRect">
            <a:avLst>
              <a:gd name="adj" fmla="val 8421"/>
            </a:avLst>
          </a:prstGeom>
          <a:solidFill>
            <a:srgbClr val="F1F4F9"/>
          </a:solidFill>
          <a:ln w="12700">
            <a:solidFill>
              <a:srgbClr val="F1F4F9"/>
            </a:solidFill>
            <a:prstDash val="solid"/>
          </a:ln>
        </p:spPr>
      </p:sp>
      <p:pic>
        <p:nvPicPr>
          <p:cNvPr id="17" name="Image 3" descr="preencoded.png"/>
          <p:cNvPicPr>
            <a:picLocks noChangeAspect="1"/>
          </p:cNvPicPr>
          <p:nvPr/>
        </p:nvPicPr>
        <p:blipFill>
          <a:blip r:embed="rId3"/>
          <a:stretch>
            <a:fillRect/>
          </a:stretch>
        </p:blipFill>
        <p:spPr>
          <a:xfrm>
            <a:off x="9134856" y="2386584"/>
            <a:ext cx="292608" cy="292608"/>
          </a:xfrm>
          <a:prstGeom prst="rect">
            <a:avLst/>
          </a:prstGeom>
        </p:spPr>
      </p:pic>
      <p:sp>
        <p:nvSpPr>
          <p:cNvPr id="18" name="Text 12"/>
          <p:cNvSpPr txBox="1"/>
          <p:nvPr/>
        </p:nvSpPr>
        <p:spPr>
          <a:xfrm>
            <a:off x="9546336" y="2103120"/>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Ask inventory-related questions</a:t>
            </a:r>
            <a:endParaRPr lang="en-US" sz="1300" dirty="0"/>
          </a:p>
        </p:txBody>
      </p:sp>
      <p:sp>
        <p:nvSpPr>
          <p:cNvPr id="19" name="Shape 13"/>
          <p:cNvSpPr/>
          <p:nvPr/>
        </p:nvSpPr>
        <p:spPr>
          <a:xfrm>
            <a:off x="548640" y="3136392"/>
            <a:ext cx="2651760" cy="868680"/>
          </a:xfrm>
          <a:prstGeom prst="roundRect">
            <a:avLst>
              <a:gd name="adj" fmla="val 8421"/>
            </a:avLst>
          </a:prstGeom>
          <a:solidFill>
            <a:srgbClr val="F1F4F9"/>
          </a:solidFill>
          <a:ln w="12700">
            <a:solidFill>
              <a:srgbClr val="F1F4F9"/>
            </a:solidFill>
            <a:prstDash val="solid"/>
          </a:ln>
        </p:spPr>
      </p:sp>
      <p:pic>
        <p:nvPicPr>
          <p:cNvPr id="20" name="Image 4" descr="preencoded.png"/>
          <p:cNvPicPr>
            <a:picLocks noChangeAspect="1"/>
          </p:cNvPicPr>
          <p:nvPr/>
        </p:nvPicPr>
        <p:blipFill>
          <a:blip r:embed="rId3"/>
          <a:stretch>
            <a:fillRect/>
          </a:stretch>
        </p:blipFill>
        <p:spPr>
          <a:xfrm>
            <a:off x="685800" y="3419856"/>
            <a:ext cx="292608" cy="292608"/>
          </a:xfrm>
          <a:prstGeom prst="rect">
            <a:avLst/>
          </a:prstGeom>
        </p:spPr>
      </p:pic>
      <p:sp>
        <p:nvSpPr>
          <p:cNvPr id="21" name="Text 14"/>
          <p:cNvSpPr txBox="1"/>
          <p:nvPr/>
        </p:nvSpPr>
        <p:spPr>
          <a:xfrm>
            <a:off x="1097280" y="3136392"/>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Use regional and mixed-language speech</a:t>
            </a:r>
            <a:endParaRPr lang="en-US" sz="1300" dirty="0"/>
          </a:p>
        </p:txBody>
      </p:sp>
      <p:sp>
        <p:nvSpPr>
          <p:cNvPr id="22" name="Shape 15"/>
          <p:cNvSpPr/>
          <p:nvPr/>
        </p:nvSpPr>
        <p:spPr>
          <a:xfrm>
            <a:off x="3364992" y="3136392"/>
            <a:ext cx="2651760" cy="868680"/>
          </a:xfrm>
          <a:prstGeom prst="roundRect">
            <a:avLst>
              <a:gd name="adj" fmla="val 8421"/>
            </a:avLst>
          </a:prstGeom>
          <a:solidFill>
            <a:srgbClr val="F1F4F9"/>
          </a:solidFill>
          <a:ln w="12700">
            <a:solidFill>
              <a:srgbClr val="F1F4F9"/>
            </a:solidFill>
            <a:prstDash val="solid"/>
          </a:ln>
        </p:spPr>
      </p:sp>
      <p:pic>
        <p:nvPicPr>
          <p:cNvPr id="23" name="Image 5" descr="preencoded.png"/>
          <p:cNvPicPr>
            <a:picLocks noChangeAspect="1"/>
          </p:cNvPicPr>
          <p:nvPr/>
        </p:nvPicPr>
        <p:blipFill>
          <a:blip r:embed="rId3"/>
          <a:stretch>
            <a:fillRect/>
          </a:stretch>
        </p:blipFill>
        <p:spPr>
          <a:xfrm>
            <a:off x="3502152" y="3419856"/>
            <a:ext cx="292608" cy="292608"/>
          </a:xfrm>
          <a:prstGeom prst="rect">
            <a:avLst/>
          </a:prstGeom>
        </p:spPr>
      </p:pic>
      <p:sp>
        <p:nvSpPr>
          <p:cNvPr id="24" name="Text 16"/>
          <p:cNvSpPr txBox="1"/>
          <p:nvPr/>
        </p:nvSpPr>
        <p:spPr>
          <a:xfrm>
            <a:off x="3913632" y="3136392"/>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Work with common trade units</a:t>
            </a:r>
            <a:endParaRPr lang="en-US" sz="1300" dirty="0"/>
          </a:p>
        </p:txBody>
      </p:sp>
      <p:sp>
        <p:nvSpPr>
          <p:cNvPr id="25" name="Shape 17"/>
          <p:cNvSpPr/>
          <p:nvPr/>
        </p:nvSpPr>
        <p:spPr>
          <a:xfrm>
            <a:off x="6181344" y="3136392"/>
            <a:ext cx="2651760" cy="868680"/>
          </a:xfrm>
          <a:prstGeom prst="roundRect">
            <a:avLst>
              <a:gd name="adj" fmla="val 8421"/>
            </a:avLst>
          </a:prstGeom>
          <a:solidFill>
            <a:srgbClr val="F1F4F9"/>
          </a:solidFill>
          <a:ln w="12700">
            <a:solidFill>
              <a:srgbClr val="F1F4F9"/>
            </a:solidFill>
            <a:prstDash val="solid"/>
          </a:ln>
        </p:spPr>
      </p:sp>
      <p:pic>
        <p:nvPicPr>
          <p:cNvPr id="26" name="Image 6" descr="preencoded.png"/>
          <p:cNvPicPr>
            <a:picLocks noChangeAspect="1"/>
          </p:cNvPicPr>
          <p:nvPr/>
        </p:nvPicPr>
        <p:blipFill>
          <a:blip r:embed="rId3"/>
          <a:stretch>
            <a:fillRect/>
          </a:stretch>
        </p:blipFill>
        <p:spPr>
          <a:xfrm>
            <a:off x="6318504" y="3419856"/>
            <a:ext cx="292608" cy="292608"/>
          </a:xfrm>
          <a:prstGeom prst="rect">
            <a:avLst/>
          </a:prstGeom>
        </p:spPr>
      </p:pic>
      <p:sp>
        <p:nvSpPr>
          <p:cNvPr id="27" name="Text 18"/>
          <p:cNvSpPr txBox="1"/>
          <p:nvPr/>
        </p:nvSpPr>
        <p:spPr>
          <a:xfrm>
            <a:off x="6729984" y="3136392"/>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Receive low-stock alerts</a:t>
            </a:r>
            <a:endParaRPr lang="en-US" sz="1300" dirty="0"/>
          </a:p>
        </p:txBody>
      </p:sp>
      <p:sp>
        <p:nvSpPr>
          <p:cNvPr id="28" name="Shape 19"/>
          <p:cNvSpPr/>
          <p:nvPr/>
        </p:nvSpPr>
        <p:spPr>
          <a:xfrm>
            <a:off x="8997696" y="3136392"/>
            <a:ext cx="2651760" cy="868680"/>
          </a:xfrm>
          <a:prstGeom prst="roundRect">
            <a:avLst>
              <a:gd name="adj" fmla="val 8421"/>
            </a:avLst>
          </a:prstGeom>
          <a:solidFill>
            <a:srgbClr val="F1F4F9"/>
          </a:solidFill>
          <a:ln w="12700">
            <a:solidFill>
              <a:srgbClr val="F1F4F9"/>
            </a:solidFill>
            <a:prstDash val="solid"/>
          </a:ln>
        </p:spPr>
      </p:sp>
      <p:pic>
        <p:nvPicPr>
          <p:cNvPr id="29" name="Image 7" descr="preencoded.png"/>
          <p:cNvPicPr>
            <a:picLocks noChangeAspect="1"/>
          </p:cNvPicPr>
          <p:nvPr/>
        </p:nvPicPr>
        <p:blipFill>
          <a:blip r:embed="rId3"/>
          <a:stretch>
            <a:fillRect/>
          </a:stretch>
        </p:blipFill>
        <p:spPr>
          <a:xfrm>
            <a:off x="9134856" y="3419856"/>
            <a:ext cx="292608" cy="292608"/>
          </a:xfrm>
          <a:prstGeom prst="rect">
            <a:avLst/>
          </a:prstGeom>
        </p:spPr>
      </p:pic>
      <p:sp>
        <p:nvSpPr>
          <p:cNvPr id="30" name="Text 20"/>
          <p:cNvSpPr txBox="1"/>
          <p:nvPr/>
        </p:nvSpPr>
        <p:spPr>
          <a:xfrm>
            <a:off x="9546336" y="3136392"/>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Get reorder suggestions</a:t>
            </a:r>
            <a:endParaRPr lang="en-US" sz="1300" dirty="0"/>
          </a:p>
        </p:txBody>
      </p:sp>
      <p:sp>
        <p:nvSpPr>
          <p:cNvPr id="31" name="Shape 21"/>
          <p:cNvSpPr/>
          <p:nvPr/>
        </p:nvSpPr>
        <p:spPr>
          <a:xfrm>
            <a:off x="548640" y="4169664"/>
            <a:ext cx="2651760" cy="868680"/>
          </a:xfrm>
          <a:prstGeom prst="roundRect">
            <a:avLst>
              <a:gd name="adj" fmla="val 8421"/>
            </a:avLst>
          </a:prstGeom>
          <a:solidFill>
            <a:srgbClr val="F1F4F9"/>
          </a:solidFill>
          <a:ln w="12700">
            <a:solidFill>
              <a:srgbClr val="F1F4F9"/>
            </a:solidFill>
            <a:prstDash val="solid"/>
          </a:ln>
        </p:spPr>
      </p:sp>
      <p:pic>
        <p:nvPicPr>
          <p:cNvPr id="32" name="Image 8" descr="preencoded.png"/>
          <p:cNvPicPr>
            <a:picLocks noChangeAspect="1"/>
          </p:cNvPicPr>
          <p:nvPr/>
        </p:nvPicPr>
        <p:blipFill>
          <a:blip r:embed="rId3"/>
          <a:stretch>
            <a:fillRect/>
          </a:stretch>
        </p:blipFill>
        <p:spPr>
          <a:xfrm>
            <a:off x="685800" y="4453128"/>
            <a:ext cx="292608" cy="292608"/>
          </a:xfrm>
          <a:prstGeom prst="rect">
            <a:avLst/>
          </a:prstGeom>
        </p:spPr>
      </p:pic>
      <p:sp>
        <p:nvSpPr>
          <p:cNvPr id="33" name="Text 22"/>
          <p:cNvSpPr txBox="1"/>
          <p:nvPr/>
        </p:nvSpPr>
        <p:spPr>
          <a:xfrm>
            <a:off x="1097280" y="4169664"/>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Track transactions</a:t>
            </a:r>
            <a:endParaRPr lang="en-US" sz="1300" dirty="0"/>
          </a:p>
        </p:txBody>
      </p:sp>
      <p:sp>
        <p:nvSpPr>
          <p:cNvPr id="34" name="Shape 23"/>
          <p:cNvSpPr/>
          <p:nvPr/>
        </p:nvSpPr>
        <p:spPr>
          <a:xfrm>
            <a:off x="3364992" y="4169664"/>
            <a:ext cx="2651760" cy="868680"/>
          </a:xfrm>
          <a:prstGeom prst="roundRect">
            <a:avLst>
              <a:gd name="adj" fmla="val 8421"/>
            </a:avLst>
          </a:prstGeom>
          <a:solidFill>
            <a:srgbClr val="F1F4F9"/>
          </a:solidFill>
          <a:ln w="12700">
            <a:solidFill>
              <a:srgbClr val="F1F4F9"/>
            </a:solidFill>
            <a:prstDash val="solid"/>
          </a:ln>
        </p:spPr>
      </p:sp>
      <p:pic>
        <p:nvPicPr>
          <p:cNvPr id="35" name="Image 9" descr="preencoded.png"/>
          <p:cNvPicPr>
            <a:picLocks noChangeAspect="1"/>
          </p:cNvPicPr>
          <p:nvPr/>
        </p:nvPicPr>
        <p:blipFill>
          <a:blip r:embed="rId3"/>
          <a:stretch>
            <a:fillRect/>
          </a:stretch>
        </p:blipFill>
        <p:spPr>
          <a:xfrm>
            <a:off x="3502152" y="4453128"/>
            <a:ext cx="292608" cy="292608"/>
          </a:xfrm>
          <a:prstGeom prst="rect">
            <a:avLst/>
          </a:prstGeom>
        </p:spPr>
      </p:pic>
      <p:sp>
        <p:nvSpPr>
          <p:cNvPr id="36" name="Text 24"/>
          <p:cNvSpPr txBox="1"/>
          <p:nvPr/>
        </p:nvSpPr>
        <p:spPr>
          <a:xfrm>
            <a:off x="3913632" y="4169664"/>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Manage customer credit and suppliers</a:t>
            </a:r>
            <a:endParaRPr lang="en-US" sz="1300" dirty="0"/>
          </a:p>
        </p:txBody>
      </p:sp>
      <p:sp>
        <p:nvSpPr>
          <p:cNvPr id="37" name="Shape 25"/>
          <p:cNvSpPr/>
          <p:nvPr/>
        </p:nvSpPr>
        <p:spPr>
          <a:xfrm>
            <a:off x="6181344" y="4169664"/>
            <a:ext cx="2651760" cy="868680"/>
          </a:xfrm>
          <a:prstGeom prst="roundRect">
            <a:avLst>
              <a:gd name="adj" fmla="val 8421"/>
            </a:avLst>
          </a:prstGeom>
          <a:solidFill>
            <a:srgbClr val="F1F4F9"/>
          </a:solidFill>
          <a:ln w="12700">
            <a:solidFill>
              <a:srgbClr val="F1F4F9"/>
            </a:solidFill>
            <a:prstDash val="solid"/>
          </a:ln>
        </p:spPr>
      </p:sp>
      <p:pic>
        <p:nvPicPr>
          <p:cNvPr id="38" name="Image 10" descr="preencoded.png"/>
          <p:cNvPicPr>
            <a:picLocks noChangeAspect="1"/>
          </p:cNvPicPr>
          <p:nvPr/>
        </p:nvPicPr>
        <p:blipFill>
          <a:blip r:embed="rId3"/>
          <a:stretch>
            <a:fillRect/>
          </a:stretch>
        </p:blipFill>
        <p:spPr>
          <a:xfrm>
            <a:off x="6318504" y="4453128"/>
            <a:ext cx="292608" cy="292608"/>
          </a:xfrm>
          <a:prstGeom prst="rect">
            <a:avLst/>
          </a:prstGeom>
        </p:spPr>
      </p:pic>
      <p:sp>
        <p:nvSpPr>
          <p:cNvPr id="39" name="Text 26"/>
          <p:cNvSpPr txBox="1"/>
          <p:nvPr/>
        </p:nvSpPr>
        <p:spPr>
          <a:xfrm>
            <a:off x="6729984" y="4169664"/>
            <a:ext cx="201168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View simple business insights</a:t>
            </a:r>
            <a:endParaRPr lang="en-US" sz="1300" dirty="0"/>
          </a:p>
        </p:txBody>
      </p:sp>
      <p:sp>
        <p:nvSpPr>
          <p:cNvPr id="40" name="Shape 27"/>
          <p:cNvSpPr/>
          <p:nvPr/>
        </p:nvSpPr>
        <p:spPr>
          <a:xfrm>
            <a:off x="8997696" y="4169664"/>
            <a:ext cx="2651760" cy="868680"/>
          </a:xfrm>
          <a:prstGeom prst="roundRect">
            <a:avLst>
              <a:gd name="adj" fmla="val 8421"/>
            </a:avLst>
          </a:prstGeom>
          <a:solidFill>
            <a:srgbClr val="F5A623"/>
          </a:solidFill>
          <a:ln w="12700">
            <a:solidFill>
              <a:srgbClr val="F5A623"/>
            </a:solidFill>
            <a:prstDash val="solid"/>
          </a:ln>
        </p:spPr>
      </p:sp>
      <p:sp>
        <p:nvSpPr>
          <p:cNvPr id="41" name="Text 28"/>
          <p:cNvSpPr txBox="1"/>
          <p:nvPr/>
        </p:nvSpPr>
        <p:spPr>
          <a:xfrm>
            <a:off x="9134856" y="4169664"/>
            <a:ext cx="2377440" cy="86868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Less manual data entry, more accurate stock</a:t>
            </a:r>
            <a:endParaRPr lang="en-US" sz="1300" dirty="0"/>
          </a:p>
        </p:txBody>
      </p:sp>
      <p:sp>
        <p:nvSpPr>
          <p:cNvPr id="42" name="Text 29"/>
          <p:cNvSpPr txBox="1"/>
          <p:nvPr/>
        </p:nvSpPr>
        <p:spPr>
          <a:xfrm>
            <a:off x="548640" y="5193792"/>
            <a:ext cx="27432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CORE IDEA</a:t>
            </a:r>
            <a:endParaRPr lang="en-US" sz="1200" dirty="0"/>
          </a:p>
        </p:txBody>
      </p:sp>
      <p:sp>
        <p:nvSpPr>
          <p:cNvPr id="43" name="Shape 30"/>
          <p:cNvSpPr/>
          <p:nvPr/>
        </p:nvSpPr>
        <p:spPr>
          <a:xfrm>
            <a:off x="548640" y="5504688"/>
            <a:ext cx="2103120" cy="731520"/>
          </a:xfrm>
          <a:prstGeom prst="chevron">
            <a:avLst/>
          </a:prstGeom>
          <a:solidFill>
            <a:srgbClr val="0B1F3A"/>
          </a:solidFill>
          <a:ln w="12700">
            <a:solidFill>
              <a:srgbClr val="0B1F3A"/>
            </a:solidFill>
            <a:prstDash val="solid"/>
          </a:ln>
        </p:spPr>
      </p:sp>
      <p:sp>
        <p:nvSpPr>
          <p:cNvPr id="44" name="Text 31"/>
          <p:cNvSpPr txBox="1"/>
          <p:nvPr/>
        </p:nvSpPr>
        <p:spPr>
          <a:xfrm>
            <a:off x="868680" y="5504688"/>
            <a:ext cx="1554480" cy="7315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Speak</a:t>
            </a:r>
            <a:endParaRPr lang="en-US" sz="1700" dirty="0"/>
          </a:p>
        </p:txBody>
      </p:sp>
      <p:sp>
        <p:nvSpPr>
          <p:cNvPr id="45" name="Shape 32"/>
          <p:cNvSpPr/>
          <p:nvPr/>
        </p:nvSpPr>
        <p:spPr>
          <a:xfrm>
            <a:off x="2798064" y="5504688"/>
            <a:ext cx="2103120" cy="731520"/>
          </a:xfrm>
          <a:prstGeom prst="chevron">
            <a:avLst/>
          </a:prstGeom>
          <a:solidFill>
            <a:srgbClr val="0B1F3A"/>
          </a:solidFill>
          <a:ln w="12700">
            <a:solidFill>
              <a:srgbClr val="0B1F3A"/>
            </a:solidFill>
            <a:prstDash val="solid"/>
          </a:ln>
        </p:spPr>
      </p:sp>
      <p:sp>
        <p:nvSpPr>
          <p:cNvPr id="46" name="Text 33"/>
          <p:cNvSpPr txBox="1"/>
          <p:nvPr/>
        </p:nvSpPr>
        <p:spPr>
          <a:xfrm>
            <a:off x="3118104" y="5504688"/>
            <a:ext cx="1554480" cy="7315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Understand</a:t>
            </a:r>
            <a:endParaRPr lang="en-US" sz="1700" dirty="0"/>
          </a:p>
        </p:txBody>
      </p:sp>
      <p:sp>
        <p:nvSpPr>
          <p:cNvPr id="47" name="Shape 34"/>
          <p:cNvSpPr/>
          <p:nvPr/>
        </p:nvSpPr>
        <p:spPr>
          <a:xfrm>
            <a:off x="5047488" y="5504688"/>
            <a:ext cx="2103120" cy="731520"/>
          </a:xfrm>
          <a:prstGeom prst="chevron">
            <a:avLst/>
          </a:prstGeom>
          <a:solidFill>
            <a:srgbClr val="0B1F3A"/>
          </a:solidFill>
          <a:ln w="12700">
            <a:solidFill>
              <a:srgbClr val="0B1F3A"/>
            </a:solidFill>
            <a:prstDash val="solid"/>
          </a:ln>
        </p:spPr>
      </p:sp>
      <p:sp>
        <p:nvSpPr>
          <p:cNvPr id="48" name="Text 35"/>
          <p:cNvSpPr txBox="1"/>
          <p:nvPr/>
        </p:nvSpPr>
        <p:spPr>
          <a:xfrm>
            <a:off x="5367528" y="5504688"/>
            <a:ext cx="1554480" cy="7315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Confirm</a:t>
            </a:r>
            <a:endParaRPr lang="en-US" sz="1700" dirty="0"/>
          </a:p>
        </p:txBody>
      </p:sp>
      <p:sp>
        <p:nvSpPr>
          <p:cNvPr id="49" name="Shape 36"/>
          <p:cNvSpPr/>
          <p:nvPr/>
        </p:nvSpPr>
        <p:spPr>
          <a:xfrm>
            <a:off x="7296912" y="5504688"/>
            <a:ext cx="2103120" cy="731520"/>
          </a:xfrm>
          <a:prstGeom prst="chevron">
            <a:avLst/>
          </a:prstGeom>
          <a:solidFill>
            <a:srgbClr val="0B1F3A"/>
          </a:solidFill>
          <a:ln w="12700">
            <a:solidFill>
              <a:srgbClr val="0B1F3A"/>
            </a:solidFill>
            <a:prstDash val="solid"/>
          </a:ln>
        </p:spPr>
      </p:sp>
      <p:sp>
        <p:nvSpPr>
          <p:cNvPr id="50" name="Text 37"/>
          <p:cNvSpPr txBox="1"/>
          <p:nvPr/>
        </p:nvSpPr>
        <p:spPr>
          <a:xfrm>
            <a:off x="7616952" y="5504688"/>
            <a:ext cx="1554480" cy="731520"/>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Update</a:t>
            </a:r>
            <a:endParaRPr lang="en-US" sz="1700" dirty="0"/>
          </a:p>
        </p:txBody>
      </p:sp>
      <p:sp>
        <p:nvSpPr>
          <p:cNvPr id="51" name="Shape 38"/>
          <p:cNvSpPr/>
          <p:nvPr/>
        </p:nvSpPr>
        <p:spPr>
          <a:xfrm>
            <a:off x="9546336" y="5504688"/>
            <a:ext cx="2103120" cy="731520"/>
          </a:xfrm>
          <a:prstGeom prst="chevron">
            <a:avLst/>
          </a:prstGeom>
          <a:solidFill>
            <a:srgbClr val="F5A623"/>
          </a:solidFill>
          <a:ln w="12700">
            <a:solidFill>
              <a:srgbClr val="F5A623"/>
            </a:solidFill>
            <a:prstDash val="solid"/>
          </a:ln>
        </p:spPr>
      </p:sp>
      <p:sp>
        <p:nvSpPr>
          <p:cNvPr id="52" name="Text 39"/>
          <p:cNvSpPr txBox="1"/>
          <p:nvPr/>
        </p:nvSpPr>
        <p:spPr>
          <a:xfrm>
            <a:off x="9866376" y="5504688"/>
            <a:ext cx="1554480" cy="731520"/>
          </a:xfrm>
          <a:prstGeom prst="rect">
            <a:avLst/>
          </a:prstGeom>
          <a:noFill/>
          <a:ln/>
        </p:spPr>
        <p:txBody>
          <a:bodyPr wrap="square" lIns="0" tIns="0" rIns="0" bIns="0" rtlCol="0" anchor="ctr"/>
          <a:lstStyle/>
          <a:p>
            <a:pPr marL="0" indent="0" algn="ctr">
              <a:buNone/>
            </a:pPr>
            <a:r>
              <a:rPr lang="en-US" sz="1700" b="1" dirty="0">
                <a:solidFill>
                  <a:srgbClr val="0B1F3A"/>
                </a:solidFill>
                <a:latin typeface="Calibri" pitchFamily="34" charset="0"/>
                <a:ea typeface="Calibri" pitchFamily="34" charset="-122"/>
                <a:cs typeface="Calibri" pitchFamily="34" charset="-120"/>
              </a:rPr>
              <a:t>Inform</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KEY FEATURES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Core Features</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5</a:t>
            </a:r>
            <a:endParaRPr lang="en-US" sz="1000" dirty="0"/>
          </a:p>
        </p:txBody>
      </p:sp>
      <p:sp>
        <p:nvSpPr>
          <p:cNvPr id="6" name="Shape 4"/>
          <p:cNvSpPr/>
          <p:nvPr/>
        </p:nvSpPr>
        <p:spPr>
          <a:xfrm>
            <a:off x="548640" y="1554480"/>
            <a:ext cx="3566160" cy="2194560"/>
          </a:xfrm>
          <a:prstGeom prst="roundRect">
            <a:avLst>
              <a:gd name="adj" fmla="val 3333"/>
            </a:avLst>
          </a:prstGeom>
          <a:solidFill>
            <a:srgbClr val="F1F4F9"/>
          </a:solidFill>
          <a:ln w="12700">
            <a:solidFill>
              <a:srgbClr val="F1F4F9"/>
            </a:solidFill>
            <a:prstDash val="solid"/>
          </a:ln>
        </p:spPr>
      </p:sp>
      <p:sp>
        <p:nvSpPr>
          <p:cNvPr id="7" name="Shape 5"/>
          <p:cNvSpPr/>
          <p:nvPr/>
        </p:nvSpPr>
        <p:spPr>
          <a:xfrm>
            <a:off x="731520" y="1719072"/>
            <a:ext cx="548640" cy="548640"/>
          </a:xfrm>
          <a:prstGeom prst="ellipse">
            <a:avLst/>
          </a:prstGeom>
          <a:solidFill>
            <a:srgbClr val="F5A623"/>
          </a:solidFill>
          <a:ln w="12700">
            <a:solidFill>
              <a:srgbClr val="F5A623"/>
            </a:solidFill>
            <a:prstDash val="solid"/>
          </a:ln>
        </p:spPr>
      </p:sp>
      <p:pic>
        <p:nvPicPr>
          <p:cNvPr id="8" name="Image 0" descr="preencoded.png"/>
          <p:cNvPicPr>
            <a:picLocks noChangeAspect="1"/>
          </p:cNvPicPr>
          <p:nvPr/>
        </p:nvPicPr>
        <p:blipFill>
          <a:blip r:embed="rId3"/>
          <a:stretch>
            <a:fillRect/>
          </a:stretch>
        </p:blipFill>
        <p:spPr>
          <a:xfrm>
            <a:off x="868680" y="1856232"/>
            <a:ext cx="274320" cy="274320"/>
          </a:xfrm>
          <a:prstGeom prst="rect">
            <a:avLst/>
          </a:prstGeom>
        </p:spPr>
      </p:pic>
      <p:sp>
        <p:nvSpPr>
          <p:cNvPr id="9" name="Text 6"/>
          <p:cNvSpPr txBox="1"/>
          <p:nvPr/>
        </p:nvSpPr>
        <p:spPr>
          <a:xfrm>
            <a:off x="1417320" y="1719072"/>
            <a:ext cx="2560320" cy="548640"/>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Inventory Management</a:t>
            </a:r>
            <a:endParaRPr lang="en-US" sz="1700" dirty="0"/>
          </a:p>
        </p:txBody>
      </p:sp>
      <p:sp>
        <p:nvSpPr>
          <p:cNvPr id="10" name="Text 7"/>
          <p:cNvSpPr txBox="1"/>
          <p:nvPr/>
        </p:nvSpPr>
        <p:spPr>
          <a:xfrm>
            <a:off x="777240" y="2468880"/>
            <a:ext cx="3108960" cy="118872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Product CRUD operations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Stock IN / Stock OUT</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Current stock tracking</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Transaction history</a:t>
            </a:r>
            <a:endParaRPr lang="en-US" sz="1350" dirty="0"/>
          </a:p>
        </p:txBody>
      </p:sp>
      <p:sp>
        <p:nvSpPr>
          <p:cNvPr id="11" name="Shape 8"/>
          <p:cNvSpPr/>
          <p:nvPr/>
        </p:nvSpPr>
        <p:spPr>
          <a:xfrm>
            <a:off x="4311396" y="1554480"/>
            <a:ext cx="3566160" cy="2194560"/>
          </a:xfrm>
          <a:prstGeom prst="roundRect">
            <a:avLst>
              <a:gd name="adj" fmla="val 3333"/>
            </a:avLst>
          </a:prstGeom>
          <a:solidFill>
            <a:srgbClr val="F1F4F9"/>
          </a:solidFill>
          <a:ln w="12700">
            <a:solidFill>
              <a:srgbClr val="F1F4F9"/>
            </a:solidFill>
            <a:prstDash val="solid"/>
          </a:ln>
        </p:spPr>
      </p:sp>
      <p:sp>
        <p:nvSpPr>
          <p:cNvPr id="12" name="Shape 9"/>
          <p:cNvSpPr/>
          <p:nvPr/>
        </p:nvSpPr>
        <p:spPr>
          <a:xfrm>
            <a:off x="4494276" y="1719072"/>
            <a:ext cx="548640" cy="548640"/>
          </a:xfrm>
          <a:prstGeom prst="ellipse">
            <a:avLst/>
          </a:prstGeom>
          <a:solidFill>
            <a:srgbClr val="F5A623"/>
          </a:solidFill>
          <a:ln w="12700">
            <a:solidFill>
              <a:srgbClr val="F5A623"/>
            </a:solidFill>
            <a:prstDash val="solid"/>
          </a:ln>
        </p:spPr>
      </p:sp>
      <p:pic>
        <p:nvPicPr>
          <p:cNvPr id="13" name="Image 1" descr="preencoded.png"/>
          <p:cNvPicPr>
            <a:picLocks noChangeAspect="1"/>
          </p:cNvPicPr>
          <p:nvPr/>
        </p:nvPicPr>
        <p:blipFill>
          <a:blip r:embed="rId4"/>
          <a:stretch>
            <a:fillRect/>
          </a:stretch>
        </p:blipFill>
        <p:spPr>
          <a:xfrm>
            <a:off x="4631436" y="1856232"/>
            <a:ext cx="274320" cy="274320"/>
          </a:xfrm>
          <a:prstGeom prst="rect">
            <a:avLst/>
          </a:prstGeom>
        </p:spPr>
      </p:pic>
      <p:sp>
        <p:nvSpPr>
          <p:cNvPr id="14" name="Text 10"/>
          <p:cNvSpPr txBox="1"/>
          <p:nvPr/>
        </p:nvSpPr>
        <p:spPr>
          <a:xfrm>
            <a:off x="5180076" y="1719072"/>
            <a:ext cx="2560320" cy="548640"/>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Voice-Based Operations</a:t>
            </a:r>
            <a:endParaRPr lang="en-US" sz="1700" dirty="0"/>
          </a:p>
        </p:txBody>
      </p:sp>
      <p:sp>
        <p:nvSpPr>
          <p:cNvPr id="15" name="Text 11"/>
          <p:cNvSpPr txBox="1"/>
          <p:nvPr/>
        </p:nvSpPr>
        <p:spPr>
          <a:xfrm>
            <a:off x="4539996" y="2468880"/>
            <a:ext cx="3108960" cy="118872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Voice stock entry</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Natural language commands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Product, quantity, unit and price extraction</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Voice-based stock questions</a:t>
            </a:r>
            <a:endParaRPr lang="en-US" sz="1350" dirty="0"/>
          </a:p>
        </p:txBody>
      </p:sp>
      <p:sp>
        <p:nvSpPr>
          <p:cNvPr id="16" name="Shape 12"/>
          <p:cNvSpPr/>
          <p:nvPr/>
        </p:nvSpPr>
        <p:spPr>
          <a:xfrm>
            <a:off x="8074152" y="1554480"/>
            <a:ext cx="3566160" cy="2194560"/>
          </a:xfrm>
          <a:prstGeom prst="roundRect">
            <a:avLst>
              <a:gd name="adj" fmla="val 3333"/>
            </a:avLst>
          </a:prstGeom>
          <a:solidFill>
            <a:srgbClr val="F1F4F9"/>
          </a:solidFill>
          <a:ln w="12700">
            <a:solidFill>
              <a:srgbClr val="F1F4F9"/>
            </a:solidFill>
            <a:prstDash val="solid"/>
          </a:ln>
        </p:spPr>
      </p:sp>
      <p:sp>
        <p:nvSpPr>
          <p:cNvPr id="17" name="Shape 13"/>
          <p:cNvSpPr/>
          <p:nvPr/>
        </p:nvSpPr>
        <p:spPr>
          <a:xfrm>
            <a:off x="8257032" y="1719072"/>
            <a:ext cx="548640" cy="548640"/>
          </a:xfrm>
          <a:prstGeom prst="ellipse">
            <a:avLst/>
          </a:prstGeom>
          <a:solidFill>
            <a:srgbClr val="F5A623"/>
          </a:solidFill>
          <a:ln w="12700">
            <a:solidFill>
              <a:srgbClr val="F5A623"/>
            </a:solidFill>
            <a:prstDash val="solid"/>
          </a:ln>
        </p:spPr>
      </p:sp>
      <p:pic>
        <p:nvPicPr>
          <p:cNvPr id="18" name="Image 2" descr="preencoded.png"/>
          <p:cNvPicPr>
            <a:picLocks noChangeAspect="1"/>
          </p:cNvPicPr>
          <p:nvPr/>
        </p:nvPicPr>
        <p:blipFill>
          <a:blip r:embed="rId5"/>
          <a:stretch>
            <a:fillRect/>
          </a:stretch>
        </p:blipFill>
        <p:spPr>
          <a:xfrm>
            <a:off x="8394192" y="1856232"/>
            <a:ext cx="274320" cy="274320"/>
          </a:xfrm>
          <a:prstGeom prst="rect">
            <a:avLst/>
          </a:prstGeom>
        </p:spPr>
      </p:pic>
      <p:sp>
        <p:nvSpPr>
          <p:cNvPr id="19" name="Text 14"/>
          <p:cNvSpPr txBox="1"/>
          <p:nvPr/>
        </p:nvSpPr>
        <p:spPr>
          <a:xfrm>
            <a:off x="8942832" y="1719072"/>
            <a:ext cx="2560320" cy="548640"/>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Regional Language</a:t>
            </a:r>
            <a:endParaRPr lang="en-US" sz="1700" dirty="0"/>
          </a:p>
        </p:txBody>
      </p:sp>
      <p:sp>
        <p:nvSpPr>
          <p:cNvPr id="20" name="Text 15"/>
          <p:cNvSpPr txBox="1"/>
          <p:nvPr/>
        </p:nvSpPr>
        <p:spPr>
          <a:xfrm>
            <a:off x="8302752" y="2468880"/>
            <a:ext cx="3108960" cy="118872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Regional language support</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Mixed-language speech</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Common shop terminology</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Familiar trade-unit understanding</a:t>
            </a:r>
            <a:endParaRPr lang="en-US" sz="1350" dirty="0"/>
          </a:p>
        </p:txBody>
      </p:sp>
      <p:sp>
        <p:nvSpPr>
          <p:cNvPr id="21" name="Shape 16"/>
          <p:cNvSpPr/>
          <p:nvPr/>
        </p:nvSpPr>
        <p:spPr>
          <a:xfrm>
            <a:off x="548640" y="3931920"/>
            <a:ext cx="5449824" cy="2331720"/>
          </a:xfrm>
          <a:prstGeom prst="roundRect">
            <a:avLst>
              <a:gd name="adj" fmla="val 3137"/>
            </a:avLst>
          </a:prstGeom>
          <a:solidFill>
            <a:srgbClr val="F1F4F9"/>
          </a:solidFill>
          <a:ln w="12700">
            <a:solidFill>
              <a:srgbClr val="F1F4F9"/>
            </a:solidFill>
            <a:prstDash val="solid"/>
          </a:ln>
        </p:spPr>
      </p:sp>
      <p:sp>
        <p:nvSpPr>
          <p:cNvPr id="22" name="Shape 17"/>
          <p:cNvSpPr/>
          <p:nvPr/>
        </p:nvSpPr>
        <p:spPr>
          <a:xfrm>
            <a:off x="731520" y="4096512"/>
            <a:ext cx="548640" cy="548640"/>
          </a:xfrm>
          <a:prstGeom prst="ellipse">
            <a:avLst/>
          </a:prstGeom>
          <a:solidFill>
            <a:srgbClr val="F5A623"/>
          </a:solidFill>
          <a:ln w="12700">
            <a:solidFill>
              <a:srgbClr val="F5A623"/>
            </a:solidFill>
            <a:prstDash val="solid"/>
          </a:ln>
        </p:spPr>
      </p:sp>
      <p:pic>
        <p:nvPicPr>
          <p:cNvPr id="23" name="Image 3" descr="preencoded.png"/>
          <p:cNvPicPr>
            <a:picLocks noChangeAspect="1"/>
          </p:cNvPicPr>
          <p:nvPr/>
        </p:nvPicPr>
        <p:blipFill>
          <a:blip r:embed="rId6"/>
          <a:stretch>
            <a:fillRect/>
          </a:stretch>
        </p:blipFill>
        <p:spPr>
          <a:xfrm>
            <a:off x="868680" y="4233672"/>
            <a:ext cx="274320" cy="274320"/>
          </a:xfrm>
          <a:prstGeom prst="rect">
            <a:avLst/>
          </a:prstGeom>
        </p:spPr>
      </p:pic>
      <p:sp>
        <p:nvSpPr>
          <p:cNvPr id="24" name="Text 18"/>
          <p:cNvSpPr txBox="1"/>
          <p:nvPr/>
        </p:nvSpPr>
        <p:spPr>
          <a:xfrm>
            <a:off x="1417320" y="4096512"/>
            <a:ext cx="4443984" cy="548640"/>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Smart Inventory</a:t>
            </a:r>
            <a:endParaRPr lang="en-US" sz="1700" dirty="0"/>
          </a:p>
        </p:txBody>
      </p:sp>
      <p:sp>
        <p:nvSpPr>
          <p:cNvPr id="25" name="Text 19"/>
          <p:cNvSpPr txBox="1"/>
          <p:nvPr/>
        </p:nvSpPr>
        <p:spPr>
          <a:xfrm>
            <a:off x="777240" y="4846320"/>
            <a:ext cx="4992624" cy="13258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Low-stock alerts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What-to-order suggestions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Smart reorder recommendations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Demand trend analysis</a:t>
            </a:r>
            <a:endParaRPr lang="en-US" sz="1350" dirty="0"/>
          </a:p>
        </p:txBody>
      </p:sp>
      <p:sp>
        <p:nvSpPr>
          <p:cNvPr id="26" name="Shape 20"/>
          <p:cNvSpPr/>
          <p:nvPr/>
        </p:nvSpPr>
        <p:spPr>
          <a:xfrm>
            <a:off x="6190488" y="3931920"/>
            <a:ext cx="5449824" cy="2331720"/>
          </a:xfrm>
          <a:prstGeom prst="roundRect">
            <a:avLst>
              <a:gd name="adj" fmla="val 3137"/>
            </a:avLst>
          </a:prstGeom>
          <a:solidFill>
            <a:srgbClr val="F1F4F9"/>
          </a:solidFill>
          <a:ln w="12700">
            <a:solidFill>
              <a:srgbClr val="F1F4F9"/>
            </a:solidFill>
            <a:prstDash val="solid"/>
          </a:ln>
        </p:spPr>
      </p:sp>
      <p:sp>
        <p:nvSpPr>
          <p:cNvPr id="27" name="Shape 21"/>
          <p:cNvSpPr/>
          <p:nvPr/>
        </p:nvSpPr>
        <p:spPr>
          <a:xfrm>
            <a:off x="6373368" y="4096512"/>
            <a:ext cx="548640" cy="548640"/>
          </a:xfrm>
          <a:prstGeom prst="ellipse">
            <a:avLst/>
          </a:prstGeom>
          <a:solidFill>
            <a:srgbClr val="F5A623"/>
          </a:solidFill>
          <a:ln w="12700">
            <a:solidFill>
              <a:srgbClr val="F5A623"/>
            </a:solidFill>
            <a:prstDash val="solid"/>
          </a:ln>
        </p:spPr>
      </p:sp>
      <p:pic>
        <p:nvPicPr>
          <p:cNvPr id="28" name="Image 4" descr="preencoded.png"/>
          <p:cNvPicPr>
            <a:picLocks noChangeAspect="1"/>
          </p:cNvPicPr>
          <p:nvPr/>
        </p:nvPicPr>
        <p:blipFill>
          <a:blip r:embed="rId7"/>
          <a:stretch>
            <a:fillRect/>
          </a:stretch>
        </p:blipFill>
        <p:spPr>
          <a:xfrm>
            <a:off x="6510528" y="4233672"/>
            <a:ext cx="274320" cy="274320"/>
          </a:xfrm>
          <a:prstGeom prst="rect">
            <a:avLst/>
          </a:prstGeom>
        </p:spPr>
      </p:pic>
      <p:sp>
        <p:nvSpPr>
          <p:cNvPr id="29" name="Text 22"/>
          <p:cNvSpPr txBox="1"/>
          <p:nvPr/>
        </p:nvSpPr>
        <p:spPr>
          <a:xfrm>
            <a:off x="7059168" y="4096512"/>
            <a:ext cx="4443984" cy="548640"/>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Business Management</a:t>
            </a:r>
            <a:endParaRPr lang="en-US" sz="1700" dirty="0"/>
          </a:p>
        </p:txBody>
      </p:sp>
      <p:sp>
        <p:nvSpPr>
          <p:cNvPr id="30" name="Text 23"/>
          <p:cNvSpPr txBox="1"/>
          <p:nvPr/>
        </p:nvSpPr>
        <p:spPr>
          <a:xfrm>
            <a:off x="6419088" y="4846320"/>
            <a:ext cx="4992624" cy="13258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Customer credit management</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Supplier information</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Purchase management</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Simple business analytics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Notifications</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HOW THE SYSTEM WORKS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User Workflow</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6</a:t>
            </a:r>
            <a:endParaRPr lang="en-US" sz="1000" dirty="0"/>
          </a:p>
        </p:txBody>
      </p:sp>
      <p:sp>
        <p:nvSpPr>
          <p:cNvPr id="6" name="Shape 4"/>
          <p:cNvSpPr/>
          <p:nvPr/>
        </p:nvSpPr>
        <p:spPr>
          <a:xfrm>
            <a:off x="548640" y="1554480"/>
            <a:ext cx="1600200" cy="914400"/>
          </a:xfrm>
          <a:prstGeom prst="roundRect">
            <a:avLst>
              <a:gd name="adj" fmla="val 8000"/>
            </a:avLst>
          </a:prstGeom>
          <a:solidFill>
            <a:srgbClr val="0B1F3A"/>
          </a:solidFill>
          <a:ln w="12700">
            <a:solidFill>
              <a:srgbClr val="0B1F3A"/>
            </a:solidFill>
            <a:prstDash val="solid"/>
          </a:ln>
        </p:spPr>
      </p:sp>
      <p:sp>
        <p:nvSpPr>
          <p:cNvPr id="7" name="Text 5"/>
          <p:cNvSpPr txBox="1"/>
          <p:nvPr/>
        </p:nvSpPr>
        <p:spPr>
          <a:xfrm>
            <a:off x="640080" y="162763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640080" y="173736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Shopkeeper</a:t>
            </a:r>
            <a:endParaRPr lang="en-US" sz="1250" dirty="0"/>
          </a:p>
        </p:txBody>
      </p:sp>
      <p:sp>
        <p:nvSpPr>
          <p:cNvPr id="9" name="Shape 7"/>
          <p:cNvSpPr/>
          <p:nvPr/>
        </p:nvSpPr>
        <p:spPr>
          <a:xfrm>
            <a:off x="2176272" y="1892808"/>
            <a:ext cx="237744" cy="237744"/>
          </a:xfrm>
          <a:prstGeom prst="rightArrow">
            <a:avLst/>
          </a:prstGeom>
          <a:solidFill>
            <a:srgbClr val="F5A623"/>
          </a:solidFill>
          <a:ln w="12700">
            <a:solidFill>
              <a:srgbClr val="F5A623"/>
            </a:solidFill>
            <a:prstDash val="solid"/>
          </a:ln>
        </p:spPr>
      </p:sp>
      <p:sp>
        <p:nvSpPr>
          <p:cNvPr id="10" name="Shape 8"/>
          <p:cNvSpPr/>
          <p:nvPr/>
        </p:nvSpPr>
        <p:spPr>
          <a:xfrm>
            <a:off x="2446934" y="1554480"/>
            <a:ext cx="1600200" cy="914400"/>
          </a:xfrm>
          <a:prstGeom prst="roundRect">
            <a:avLst>
              <a:gd name="adj" fmla="val 8000"/>
            </a:avLst>
          </a:prstGeom>
          <a:solidFill>
            <a:srgbClr val="0B1F3A"/>
          </a:solidFill>
          <a:ln w="12700">
            <a:solidFill>
              <a:srgbClr val="0B1F3A"/>
            </a:solidFill>
            <a:prstDash val="solid"/>
          </a:ln>
        </p:spPr>
      </p:sp>
      <p:sp>
        <p:nvSpPr>
          <p:cNvPr id="11" name="Text 9"/>
          <p:cNvSpPr txBox="1"/>
          <p:nvPr/>
        </p:nvSpPr>
        <p:spPr>
          <a:xfrm>
            <a:off x="2538374" y="162763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2</a:t>
            </a:r>
            <a:endParaRPr lang="en-US" sz="1100" dirty="0"/>
          </a:p>
        </p:txBody>
      </p:sp>
      <p:sp>
        <p:nvSpPr>
          <p:cNvPr id="12" name="Text 10"/>
          <p:cNvSpPr txBox="1"/>
          <p:nvPr/>
        </p:nvSpPr>
        <p:spPr>
          <a:xfrm>
            <a:off x="2538374" y="173736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Voice / Text Input</a:t>
            </a:r>
            <a:endParaRPr lang="en-US" sz="1250" dirty="0"/>
          </a:p>
        </p:txBody>
      </p:sp>
      <p:sp>
        <p:nvSpPr>
          <p:cNvPr id="13" name="Shape 11"/>
          <p:cNvSpPr/>
          <p:nvPr/>
        </p:nvSpPr>
        <p:spPr>
          <a:xfrm>
            <a:off x="4074566" y="1892808"/>
            <a:ext cx="237744" cy="237744"/>
          </a:xfrm>
          <a:prstGeom prst="rightArrow">
            <a:avLst/>
          </a:prstGeom>
          <a:solidFill>
            <a:srgbClr val="F5A623"/>
          </a:solidFill>
          <a:ln w="12700">
            <a:solidFill>
              <a:srgbClr val="F5A623"/>
            </a:solidFill>
            <a:prstDash val="solid"/>
          </a:ln>
        </p:spPr>
      </p:sp>
      <p:sp>
        <p:nvSpPr>
          <p:cNvPr id="14" name="Shape 12"/>
          <p:cNvSpPr/>
          <p:nvPr/>
        </p:nvSpPr>
        <p:spPr>
          <a:xfrm>
            <a:off x="4345229" y="1554480"/>
            <a:ext cx="1600200" cy="914400"/>
          </a:xfrm>
          <a:prstGeom prst="roundRect">
            <a:avLst>
              <a:gd name="adj" fmla="val 8000"/>
            </a:avLst>
          </a:prstGeom>
          <a:solidFill>
            <a:srgbClr val="0B1F3A"/>
          </a:solidFill>
          <a:ln w="12700">
            <a:solidFill>
              <a:srgbClr val="0B1F3A"/>
            </a:solidFill>
            <a:prstDash val="solid"/>
          </a:ln>
        </p:spPr>
      </p:sp>
      <p:sp>
        <p:nvSpPr>
          <p:cNvPr id="15" name="Text 13"/>
          <p:cNvSpPr txBox="1"/>
          <p:nvPr/>
        </p:nvSpPr>
        <p:spPr>
          <a:xfrm>
            <a:off x="4436669" y="162763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3</a:t>
            </a:r>
            <a:endParaRPr lang="en-US" sz="1100" dirty="0"/>
          </a:p>
        </p:txBody>
      </p:sp>
      <p:sp>
        <p:nvSpPr>
          <p:cNvPr id="16" name="Text 14"/>
          <p:cNvSpPr txBox="1"/>
          <p:nvPr/>
        </p:nvSpPr>
        <p:spPr>
          <a:xfrm>
            <a:off x="4436669" y="173736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Speech-to-Text</a:t>
            </a:r>
            <a:endParaRPr lang="en-US" sz="1250" dirty="0"/>
          </a:p>
        </p:txBody>
      </p:sp>
      <p:sp>
        <p:nvSpPr>
          <p:cNvPr id="17" name="Shape 15"/>
          <p:cNvSpPr/>
          <p:nvPr/>
        </p:nvSpPr>
        <p:spPr>
          <a:xfrm>
            <a:off x="5972861" y="1892808"/>
            <a:ext cx="237744" cy="237744"/>
          </a:xfrm>
          <a:prstGeom prst="rightArrow">
            <a:avLst/>
          </a:prstGeom>
          <a:solidFill>
            <a:srgbClr val="F5A623"/>
          </a:solidFill>
          <a:ln w="12700">
            <a:solidFill>
              <a:srgbClr val="F5A623"/>
            </a:solidFill>
            <a:prstDash val="solid"/>
          </a:ln>
        </p:spPr>
      </p:sp>
      <p:sp>
        <p:nvSpPr>
          <p:cNvPr id="18" name="Shape 16"/>
          <p:cNvSpPr/>
          <p:nvPr/>
        </p:nvSpPr>
        <p:spPr>
          <a:xfrm>
            <a:off x="6243523" y="1554480"/>
            <a:ext cx="1600200" cy="914400"/>
          </a:xfrm>
          <a:prstGeom prst="roundRect">
            <a:avLst>
              <a:gd name="adj" fmla="val 8000"/>
            </a:avLst>
          </a:prstGeom>
          <a:solidFill>
            <a:srgbClr val="0B1F3A"/>
          </a:solidFill>
          <a:ln w="12700">
            <a:solidFill>
              <a:srgbClr val="0B1F3A"/>
            </a:solidFill>
            <a:prstDash val="solid"/>
          </a:ln>
        </p:spPr>
      </p:sp>
      <p:sp>
        <p:nvSpPr>
          <p:cNvPr id="19" name="Text 17"/>
          <p:cNvSpPr txBox="1"/>
          <p:nvPr/>
        </p:nvSpPr>
        <p:spPr>
          <a:xfrm>
            <a:off x="6334963" y="162763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4</a:t>
            </a:r>
            <a:endParaRPr lang="en-US" sz="1100" dirty="0"/>
          </a:p>
        </p:txBody>
      </p:sp>
      <p:sp>
        <p:nvSpPr>
          <p:cNvPr id="20" name="Text 18"/>
          <p:cNvSpPr txBox="1"/>
          <p:nvPr/>
        </p:nvSpPr>
        <p:spPr>
          <a:xfrm>
            <a:off x="6334963" y="173736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NLP / LLM</a:t>
            </a:r>
            <a:endParaRPr lang="en-US" sz="1250" dirty="0"/>
          </a:p>
        </p:txBody>
      </p:sp>
      <p:sp>
        <p:nvSpPr>
          <p:cNvPr id="21" name="Shape 19"/>
          <p:cNvSpPr/>
          <p:nvPr/>
        </p:nvSpPr>
        <p:spPr>
          <a:xfrm>
            <a:off x="7871155" y="1892808"/>
            <a:ext cx="237744" cy="237744"/>
          </a:xfrm>
          <a:prstGeom prst="rightArrow">
            <a:avLst/>
          </a:prstGeom>
          <a:solidFill>
            <a:srgbClr val="F5A623"/>
          </a:solidFill>
          <a:ln w="12700">
            <a:solidFill>
              <a:srgbClr val="F5A623"/>
            </a:solidFill>
            <a:prstDash val="solid"/>
          </a:ln>
        </p:spPr>
      </p:sp>
      <p:sp>
        <p:nvSpPr>
          <p:cNvPr id="22" name="Shape 20"/>
          <p:cNvSpPr/>
          <p:nvPr/>
        </p:nvSpPr>
        <p:spPr>
          <a:xfrm>
            <a:off x="8141818" y="1554480"/>
            <a:ext cx="1600200" cy="914400"/>
          </a:xfrm>
          <a:prstGeom prst="roundRect">
            <a:avLst>
              <a:gd name="adj" fmla="val 8000"/>
            </a:avLst>
          </a:prstGeom>
          <a:solidFill>
            <a:srgbClr val="0B1F3A"/>
          </a:solidFill>
          <a:ln w="12700">
            <a:solidFill>
              <a:srgbClr val="0B1F3A"/>
            </a:solidFill>
            <a:prstDash val="solid"/>
          </a:ln>
        </p:spPr>
      </p:sp>
      <p:sp>
        <p:nvSpPr>
          <p:cNvPr id="23" name="Text 21"/>
          <p:cNvSpPr txBox="1"/>
          <p:nvPr/>
        </p:nvSpPr>
        <p:spPr>
          <a:xfrm>
            <a:off x="8233258" y="162763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5</a:t>
            </a:r>
            <a:endParaRPr lang="en-US" sz="1100" dirty="0"/>
          </a:p>
        </p:txBody>
      </p:sp>
      <p:sp>
        <p:nvSpPr>
          <p:cNvPr id="24" name="Text 22"/>
          <p:cNvSpPr txBox="1"/>
          <p:nvPr/>
        </p:nvSpPr>
        <p:spPr>
          <a:xfrm>
            <a:off x="8233258" y="173736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Intent &amp; Entity Extraction</a:t>
            </a:r>
            <a:endParaRPr lang="en-US" sz="1250" dirty="0"/>
          </a:p>
        </p:txBody>
      </p:sp>
      <p:sp>
        <p:nvSpPr>
          <p:cNvPr id="25" name="Shape 23"/>
          <p:cNvSpPr/>
          <p:nvPr/>
        </p:nvSpPr>
        <p:spPr>
          <a:xfrm>
            <a:off x="9769450" y="1892808"/>
            <a:ext cx="237744" cy="237744"/>
          </a:xfrm>
          <a:prstGeom prst="rightArrow">
            <a:avLst/>
          </a:prstGeom>
          <a:solidFill>
            <a:srgbClr val="F5A623"/>
          </a:solidFill>
          <a:ln w="12700">
            <a:solidFill>
              <a:srgbClr val="F5A623"/>
            </a:solidFill>
            <a:prstDash val="solid"/>
          </a:ln>
        </p:spPr>
      </p:sp>
      <p:sp>
        <p:nvSpPr>
          <p:cNvPr id="26" name="Shape 24"/>
          <p:cNvSpPr/>
          <p:nvPr/>
        </p:nvSpPr>
        <p:spPr>
          <a:xfrm>
            <a:off x="10040112" y="1554480"/>
            <a:ext cx="1600200" cy="914400"/>
          </a:xfrm>
          <a:prstGeom prst="roundRect">
            <a:avLst>
              <a:gd name="adj" fmla="val 8000"/>
            </a:avLst>
          </a:prstGeom>
          <a:solidFill>
            <a:srgbClr val="0B1F3A"/>
          </a:solidFill>
          <a:ln w="12700">
            <a:solidFill>
              <a:srgbClr val="0B1F3A"/>
            </a:solidFill>
            <a:prstDash val="solid"/>
          </a:ln>
        </p:spPr>
      </p:sp>
      <p:sp>
        <p:nvSpPr>
          <p:cNvPr id="27" name="Text 25"/>
          <p:cNvSpPr txBox="1"/>
          <p:nvPr/>
        </p:nvSpPr>
        <p:spPr>
          <a:xfrm>
            <a:off x="10131552" y="162763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6</a:t>
            </a:r>
            <a:endParaRPr lang="en-US" sz="1100" dirty="0"/>
          </a:p>
        </p:txBody>
      </p:sp>
      <p:sp>
        <p:nvSpPr>
          <p:cNvPr id="28" name="Text 26"/>
          <p:cNvSpPr txBox="1"/>
          <p:nvPr/>
        </p:nvSpPr>
        <p:spPr>
          <a:xfrm>
            <a:off x="10131552" y="173736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Validation</a:t>
            </a:r>
            <a:endParaRPr lang="en-US" sz="1250" dirty="0"/>
          </a:p>
        </p:txBody>
      </p:sp>
      <p:sp>
        <p:nvSpPr>
          <p:cNvPr id="29" name="Shape 27"/>
          <p:cNvSpPr/>
          <p:nvPr/>
        </p:nvSpPr>
        <p:spPr>
          <a:xfrm>
            <a:off x="548640" y="2743200"/>
            <a:ext cx="1600200" cy="914400"/>
          </a:xfrm>
          <a:prstGeom prst="roundRect">
            <a:avLst>
              <a:gd name="adj" fmla="val 8000"/>
            </a:avLst>
          </a:prstGeom>
          <a:solidFill>
            <a:srgbClr val="16305A"/>
          </a:solidFill>
          <a:ln w="12700">
            <a:solidFill>
              <a:srgbClr val="16305A"/>
            </a:solidFill>
            <a:prstDash val="solid"/>
          </a:ln>
        </p:spPr>
      </p:sp>
      <p:sp>
        <p:nvSpPr>
          <p:cNvPr id="30" name="Text 28"/>
          <p:cNvSpPr txBox="1"/>
          <p:nvPr/>
        </p:nvSpPr>
        <p:spPr>
          <a:xfrm>
            <a:off x="640080" y="281635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7</a:t>
            </a:r>
            <a:endParaRPr lang="en-US" sz="1100" dirty="0"/>
          </a:p>
        </p:txBody>
      </p:sp>
      <p:sp>
        <p:nvSpPr>
          <p:cNvPr id="31" name="Text 29"/>
          <p:cNvSpPr txBox="1"/>
          <p:nvPr/>
        </p:nvSpPr>
        <p:spPr>
          <a:xfrm>
            <a:off x="640080" y="292608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User Confirmation</a:t>
            </a:r>
            <a:endParaRPr lang="en-US" sz="1250" dirty="0"/>
          </a:p>
        </p:txBody>
      </p:sp>
      <p:sp>
        <p:nvSpPr>
          <p:cNvPr id="32" name="Shape 30"/>
          <p:cNvSpPr/>
          <p:nvPr/>
        </p:nvSpPr>
        <p:spPr>
          <a:xfrm>
            <a:off x="2176272" y="3081528"/>
            <a:ext cx="237744" cy="237744"/>
          </a:xfrm>
          <a:prstGeom prst="rightArrow">
            <a:avLst/>
          </a:prstGeom>
          <a:solidFill>
            <a:srgbClr val="F5A623"/>
          </a:solidFill>
          <a:ln w="12700">
            <a:solidFill>
              <a:srgbClr val="F5A623"/>
            </a:solidFill>
            <a:prstDash val="solid"/>
          </a:ln>
        </p:spPr>
      </p:sp>
      <p:sp>
        <p:nvSpPr>
          <p:cNvPr id="33" name="Shape 31"/>
          <p:cNvSpPr/>
          <p:nvPr/>
        </p:nvSpPr>
        <p:spPr>
          <a:xfrm>
            <a:off x="2446934" y="2743200"/>
            <a:ext cx="1600200" cy="914400"/>
          </a:xfrm>
          <a:prstGeom prst="roundRect">
            <a:avLst>
              <a:gd name="adj" fmla="val 8000"/>
            </a:avLst>
          </a:prstGeom>
          <a:solidFill>
            <a:srgbClr val="0B1F3A"/>
          </a:solidFill>
          <a:ln w="12700">
            <a:solidFill>
              <a:srgbClr val="0B1F3A"/>
            </a:solidFill>
            <a:prstDash val="solid"/>
          </a:ln>
        </p:spPr>
      </p:sp>
      <p:sp>
        <p:nvSpPr>
          <p:cNvPr id="34" name="Text 32"/>
          <p:cNvSpPr txBox="1"/>
          <p:nvPr/>
        </p:nvSpPr>
        <p:spPr>
          <a:xfrm>
            <a:off x="2538374" y="281635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8</a:t>
            </a:r>
            <a:endParaRPr lang="en-US" sz="1100" dirty="0"/>
          </a:p>
        </p:txBody>
      </p:sp>
      <p:sp>
        <p:nvSpPr>
          <p:cNvPr id="35" name="Text 33"/>
          <p:cNvSpPr txBox="1"/>
          <p:nvPr/>
        </p:nvSpPr>
        <p:spPr>
          <a:xfrm>
            <a:off x="2538374" y="292608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Backend API</a:t>
            </a:r>
            <a:endParaRPr lang="en-US" sz="1250" dirty="0"/>
          </a:p>
        </p:txBody>
      </p:sp>
      <p:sp>
        <p:nvSpPr>
          <p:cNvPr id="36" name="Shape 34"/>
          <p:cNvSpPr/>
          <p:nvPr/>
        </p:nvSpPr>
        <p:spPr>
          <a:xfrm>
            <a:off x="4074566" y="3081528"/>
            <a:ext cx="237744" cy="237744"/>
          </a:xfrm>
          <a:prstGeom prst="rightArrow">
            <a:avLst/>
          </a:prstGeom>
          <a:solidFill>
            <a:srgbClr val="F5A623"/>
          </a:solidFill>
          <a:ln w="12700">
            <a:solidFill>
              <a:srgbClr val="F5A623"/>
            </a:solidFill>
            <a:prstDash val="solid"/>
          </a:ln>
        </p:spPr>
      </p:sp>
      <p:sp>
        <p:nvSpPr>
          <p:cNvPr id="37" name="Shape 35"/>
          <p:cNvSpPr/>
          <p:nvPr/>
        </p:nvSpPr>
        <p:spPr>
          <a:xfrm>
            <a:off x="4345229" y="2743200"/>
            <a:ext cx="1600200" cy="914400"/>
          </a:xfrm>
          <a:prstGeom prst="roundRect">
            <a:avLst>
              <a:gd name="adj" fmla="val 8000"/>
            </a:avLst>
          </a:prstGeom>
          <a:solidFill>
            <a:srgbClr val="0B1F3A"/>
          </a:solidFill>
          <a:ln w="12700">
            <a:solidFill>
              <a:srgbClr val="0B1F3A"/>
            </a:solidFill>
            <a:prstDash val="solid"/>
          </a:ln>
        </p:spPr>
      </p:sp>
      <p:sp>
        <p:nvSpPr>
          <p:cNvPr id="38" name="Text 36"/>
          <p:cNvSpPr txBox="1"/>
          <p:nvPr/>
        </p:nvSpPr>
        <p:spPr>
          <a:xfrm>
            <a:off x="4436669" y="281635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9</a:t>
            </a:r>
            <a:endParaRPr lang="en-US" sz="1100" dirty="0"/>
          </a:p>
        </p:txBody>
      </p:sp>
      <p:sp>
        <p:nvSpPr>
          <p:cNvPr id="39" name="Text 37"/>
          <p:cNvSpPr txBox="1"/>
          <p:nvPr/>
        </p:nvSpPr>
        <p:spPr>
          <a:xfrm>
            <a:off x="4436669" y="292608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Database</a:t>
            </a:r>
            <a:endParaRPr lang="en-US" sz="1250" dirty="0"/>
          </a:p>
        </p:txBody>
      </p:sp>
      <p:sp>
        <p:nvSpPr>
          <p:cNvPr id="40" name="Shape 38"/>
          <p:cNvSpPr/>
          <p:nvPr/>
        </p:nvSpPr>
        <p:spPr>
          <a:xfrm>
            <a:off x="5972861" y="3081528"/>
            <a:ext cx="237744" cy="237744"/>
          </a:xfrm>
          <a:prstGeom prst="rightArrow">
            <a:avLst/>
          </a:prstGeom>
          <a:solidFill>
            <a:srgbClr val="F5A623"/>
          </a:solidFill>
          <a:ln w="12700">
            <a:solidFill>
              <a:srgbClr val="F5A623"/>
            </a:solidFill>
            <a:prstDash val="solid"/>
          </a:ln>
        </p:spPr>
      </p:sp>
      <p:sp>
        <p:nvSpPr>
          <p:cNvPr id="41" name="Shape 39"/>
          <p:cNvSpPr/>
          <p:nvPr/>
        </p:nvSpPr>
        <p:spPr>
          <a:xfrm>
            <a:off x="6243523" y="2743200"/>
            <a:ext cx="1600200" cy="914400"/>
          </a:xfrm>
          <a:prstGeom prst="roundRect">
            <a:avLst>
              <a:gd name="adj" fmla="val 8000"/>
            </a:avLst>
          </a:prstGeom>
          <a:solidFill>
            <a:srgbClr val="0B1F3A"/>
          </a:solidFill>
          <a:ln w="12700">
            <a:solidFill>
              <a:srgbClr val="0B1F3A"/>
            </a:solidFill>
            <a:prstDash val="solid"/>
          </a:ln>
        </p:spPr>
      </p:sp>
      <p:sp>
        <p:nvSpPr>
          <p:cNvPr id="42" name="Text 40"/>
          <p:cNvSpPr txBox="1"/>
          <p:nvPr/>
        </p:nvSpPr>
        <p:spPr>
          <a:xfrm>
            <a:off x="6334963" y="281635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10</a:t>
            </a:r>
            <a:endParaRPr lang="en-US" sz="1100" dirty="0"/>
          </a:p>
        </p:txBody>
      </p:sp>
      <p:sp>
        <p:nvSpPr>
          <p:cNvPr id="43" name="Text 41"/>
          <p:cNvSpPr txBox="1"/>
          <p:nvPr/>
        </p:nvSpPr>
        <p:spPr>
          <a:xfrm>
            <a:off x="6334963" y="2926080"/>
            <a:ext cx="141732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Inventory / Transaction Update</a:t>
            </a:r>
            <a:endParaRPr lang="en-US" sz="1250" dirty="0"/>
          </a:p>
        </p:txBody>
      </p:sp>
      <p:sp>
        <p:nvSpPr>
          <p:cNvPr id="44" name="Shape 42"/>
          <p:cNvSpPr/>
          <p:nvPr/>
        </p:nvSpPr>
        <p:spPr>
          <a:xfrm>
            <a:off x="7871155" y="3081528"/>
            <a:ext cx="237744" cy="237744"/>
          </a:xfrm>
          <a:prstGeom prst="rightArrow">
            <a:avLst/>
          </a:prstGeom>
          <a:solidFill>
            <a:srgbClr val="F5A623"/>
          </a:solidFill>
          <a:ln w="12700">
            <a:solidFill>
              <a:srgbClr val="F5A623"/>
            </a:solidFill>
            <a:prstDash val="solid"/>
          </a:ln>
        </p:spPr>
      </p:sp>
      <p:sp>
        <p:nvSpPr>
          <p:cNvPr id="45" name="Shape 43"/>
          <p:cNvSpPr/>
          <p:nvPr/>
        </p:nvSpPr>
        <p:spPr>
          <a:xfrm>
            <a:off x="8141818" y="2743200"/>
            <a:ext cx="1600200" cy="914400"/>
          </a:xfrm>
          <a:prstGeom prst="roundRect">
            <a:avLst>
              <a:gd name="adj" fmla="val 8000"/>
            </a:avLst>
          </a:prstGeom>
          <a:solidFill>
            <a:srgbClr val="F5A623"/>
          </a:solidFill>
          <a:ln w="12700">
            <a:solidFill>
              <a:srgbClr val="F5A623"/>
            </a:solidFill>
            <a:prstDash val="solid"/>
          </a:ln>
        </p:spPr>
      </p:sp>
      <p:sp>
        <p:nvSpPr>
          <p:cNvPr id="46" name="Text 44"/>
          <p:cNvSpPr txBox="1"/>
          <p:nvPr/>
        </p:nvSpPr>
        <p:spPr>
          <a:xfrm>
            <a:off x="8233258" y="2816352"/>
            <a:ext cx="365760" cy="228600"/>
          </a:xfrm>
          <a:prstGeom prst="rect">
            <a:avLst/>
          </a:prstGeom>
          <a:noFill/>
          <a:ln/>
        </p:spPr>
        <p:txBody>
          <a:bodyPr wrap="square" lIns="0" tIns="0" rIns="0" bIns="0" rtlCol="0" anchor="t"/>
          <a:lstStyle/>
          <a:p>
            <a:pPr marL="0" indent="0">
              <a:buNone/>
            </a:pPr>
            <a:r>
              <a:rPr lang="en-US" sz="1100" b="1" dirty="0">
                <a:solidFill>
                  <a:srgbClr val="F5A623"/>
                </a:solidFill>
                <a:latin typeface="Calibri" pitchFamily="34" charset="0"/>
                <a:ea typeface="Calibri" pitchFamily="34" charset="-122"/>
                <a:cs typeface="Calibri" pitchFamily="34" charset="-120"/>
              </a:rPr>
              <a:t>11</a:t>
            </a:r>
            <a:endParaRPr lang="en-US" sz="1100" dirty="0"/>
          </a:p>
        </p:txBody>
      </p:sp>
      <p:sp>
        <p:nvSpPr>
          <p:cNvPr id="47" name="Text 45"/>
          <p:cNvSpPr txBox="1"/>
          <p:nvPr/>
        </p:nvSpPr>
        <p:spPr>
          <a:xfrm>
            <a:off x="8233258" y="2926080"/>
            <a:ext cx="1417320" cy="685800"/>
          </a:xfrm>
          <a:prstGeom prst="rect">
            <a:avLst/>
          </a:prstGeom>
          <a:noFill/>
          <a:ln/>
        </p:spPr>
        <p:txBody>
          <a:bodyPr wrap="square" lIns="0" tIns="0" rIns="0" bIns="0" rtlCol="0" anchor="ctr"/>
          <a:lstStyle/>
          <a:p>
            <a:pPr marL="0" indent="0" algn="ctr">
              <a:buNone/>
            </a:pPr>
            <a:r>
              <a:rPr lang="en-US" sz="1250" b="1" dirty="0">
                <a:solidFill>
                  <a:srgbClr val="0B1F3A"/>
                </a:solidFill>
                <a:latin typeface="Calibri" pitchFamily="34" charset="0"/>
                <a:ea typeface="Calibri" pitchFamily="34" charset="-122"/>
                <a:cs typeface="Calibri" pitchFamily="34" charset="-120"/>
              </a:rPr>
              <a:t>Dashboard / Voice Response</a:t>
            </a:r>
            <a:endParaRPr lang="en-US" sz="1250" dirty="0"/>
          </a:p>
        </p:txBody>
      </p:sp>
      <p:sp>
        <p:nvSpPr>
          <p:cNvPr id="48" name="Shape 46"/>
          <p:cNvSpPr/>
          <p:nvPr/>
        </p:nvSpPr>
        <p:spPr>
          <a:xfrm>
            <a:off x="548640" y="3977640"/>
            <a:ext cx="6949440" cy="2286000"/>
          </a:xfrm>
          <a:prstGeom prst="roundRect">
            <a:avLst>
              <a:gd name="adj" fmla="val 3200"/>
            </a:avLst>
          </a:prstGeom>
          <a:solidFill>
            <a:srgbClr val="F1F4F9"/>
          </a:solidFill>
          <a:ln w="12700">
            <a:solidFill>
              <a:srgbClr val="F1F4F9"/>
            </a:solidFill>
            <a:prstDash val="solid"/>
          </a:ln>
        </p:spPr>
      </p:sp>
      <p:sp>
        <p:nvSpPr>
          <p:cNvPr id="49" name="Text 47"/>
          <p:cNvSpPr txBox="1"/>
          <p:nvPr/>
        </p:nvSpPr>
        <p:spPr>
          <a:xfrm>
            <a:off x="822960" y="4114800"/>
            <a:ext cx="27432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EXAMPLE</a:t>
            </a:r>
            <a:endParaRPr lang="en-US" sz="1200" dirty="0"/>
          </a:p>
        </p:txBody>
      </p:sp>
      <p:sp>
        <p:nvSpPr>
          <p:cNvPr id="50" name="Text 48"/>
          <p:cNvSpPr txBox="1"/>
          <p:nvPr/>
        </p:nvSpPr>
        <p:spPr>
          <a:xfrm>
            <a:off x="822960" y="4434840"/>
            <a:ext cx="6400800" cy="457200"/>
          </a:xfrm>
          <a:prstGeom prst="rect">
            <a:avLst/>
          </a:prstGeom>
          <a:noFill/>
          <a:ln/>
        </p:spPr>
        <p:txBody>
          <a:bodyPr wrap="square" lIns="0" tIns="0" rIns="0" bIns="0" rtlCol="0" anchor="t"/>
          <a:lstStyle/>
          <a:p>
            <a:pPr marL="0" indent="0">
              <a:buNone/>
            </a:pPr>
            <a:r>
              <a:rPr lang="en-US" sz="2400" b="1" i="1" dirty="0">
                <a:solidFill>
                  <a:srgbClr val="0B1F3A"/>
                </a:solidFill>
                <a:latin typeface="Cambria" pitchFamily="34" charset="0"/>
                <a:ea typeface="Cambria" pitchFamily="34" charset="-122"/>
                <a:cs typeface="Cambria" pitchFamily="34" charset="-120"/>
              </a:rPr>
              <a:t>“5 bags biyyam add cheyyi.”</a:t>
            </a:r>
            <a:endParaRPr lang="en-US" sz="2400" dirty="0"/>
          </a:p>
        </p:txBody>
      </p:sp>
      <p:sp>
        <p:nvSpPr>
          <p:cNvPr id="51" name="Shape 49"/>
          <p:cNvSpPr/>
          <p:nvPr/>
        </p:nvSpPr>
        <p:spPr>
          <a:xfrm>
            <a:off x="822960" y="5074920"/>
            <a:ext cx="1463040" cy="777240"/>
          </a:xfrm>
          <a:prstGeom prst="roundRect">
            <a:avLst>
              <a:gd name="adj" fmla="val 9412"/>
            </a:avLst>
          </a:prstGeom>
          <a:solidFill>
            <a:srgbClr val="FFFFFF"/>
          </a:solidFill>
          <a:ln w="12700">
            <a:solidFill>
              <a:srgbClr val="FFFFFF"/>
            </a:solidFill>
            <a:prstDash val="solid"/>
          </a:ln>
        </p:spPr>
      </p:sp>
      <p:sp>
        <p:nvSpPr>
          <p:cNvPr id="52" name="Text 50"/>
          <p:cNvSpPr txBox="1"/>
          <p:nvPr/>
        </p:nvSpPr>
        <p:spPr>
          <a:xfrm>
            <a:off x="822960" y="5120640"/>
            <a:ext cx="1463040" cy="274320"/>
          </a:xfrm>
          <a:prstGeom prst="rect">
            <a:avLst/>
          </a:prstGeom>
          <a:noFill/>
          <a:ln/>
        </p:spPr>
        <p:txBody>
          <a:bodyPr wrap="square" lIns="0" tIns="0" rIns="0" bIns="0" rtlCol="0" anchor="t"/>
          <a:lstStyle/>
          <a:p>
            <a:pPr marL="0" indent="0" algn="ctr">
              <a:buNone/>
            </a:pPr>
            <a:r>
              <a:rPr lang="en-US" sz="1100" dirty="0">
                <a:solidFill>
                  <a:srgbClr val="55657F"/>
                </a:solidFill>
                <a:latin typeface="Calibri" pitchFamily="34" charset="0"/>
                <a:ea typeface="Calibri" pitchFamily="34" charset="-122"/>
                <a:cs typeface="Calibri" pitchFamily="34" charset="-120"/>
              </a:rPr>
              <a:t>Action</a:t>
            </a:r>
            <a:endParaRPr lang="en-US" sz="1100" dirty="0"/>
          </a:p>
        </p:txBody>
      </p:sp>
      <p:sp>
        <p:nvSpPr>
          <p:cNvPr id="53" name="Text 51"/>
          <p:cNvSpPr txBox="1"/>
          <p:nvPr/>
        </p:nvSpPr>
        <p:spPr>
          <a:xfrm>
            <a:off x="822960" y="5376672"/>
            <a:ext cx="1463040" cy="411480"/>
          </a:xfrm>
          <a:prstGeom prst="rect">
            <a:avLst/>
          </a:prstGeom>
          <a:noFill/>
          <a:ln/>
        </p:spPr>
        <p:txBody>
          <a:bodyPr wrap="square" lIns="0" tIns="0" rIns="0" bIns="0" rtlCol="0" anchor="t"/>
          <a:lstStyle/>
          <a:p>
            <a:pPr marL="0" indent="0" algn="ctr">
              <a:buNone/>
            </a:pPr>
            <a:r>
              <a:rPr lang="en-US" sz="1700" b="1" dirty="0">
                <a:solidFill>
                  <a:srgbClr val="0B1F3A"/>
                </a:solidFill>
                <a:latin typeface="Calibri" pitchFamily="34" charset="0"/>
                <a:ea typeface="Calibri" pitchFamily="34" charset="-122"/>
                <a:cs typeface="Calibri" pitchFamily="34" charset="-120"/>
              </a:rPr>
              <a:t>Stock IN</a:t>
            </a:r>
            <a:endParaRPr lang="en-US" sz="1700" dirty="0"/>
          </a:p>
        </p:txBody>
      </p:sp>
      <p:sp>
        <p:nvSpPr>
          <p:cNvPr id="54" name="Shape 52"/>
          <p:cNvSpPr/>
          <p:nvPr/>
        </p:nvSpPr>
        <p:spPr>
          <a:xfrm>
            <a:off x="2423160" y="5074920"/>
            <a:ext cx="1463040" cy="777240"/>
          </a:xfrm>
          <a:prstGeom prst="roundRect">
            <a:avLst>
              <a:gd name="adj" fmla="val 9412"/>
            </a:avLst>
          </a:prstGeom>
          <a:solidFill>
            <a:srgbClr val="FFFFFF"/>
          </a:solidFill>
          <a:ln w="12700">
            <a:solidFill>
              <a:srgbClr val="FFFFFF"/>
            </a:solidFill>
            <a:prstDash val="solid"/>
          </a:ln>
        </p:spPr>
      </p:sp>
      <p:sp>
        <p:nvSpPr>
          <p:cNvPr id="55" name="Text 53"/>
          <p:cNvSpPr txBox="1"/>
          <p:nvPr/>
        </p:nvSpPr>
        <p:spPr>
          <a:xfrm>
            <a:off x="2423160" y="5120640"/>
            <a:ext cx="1463040" cy="274320"/>
          </a:xfrm>
          <a:prstGeom prst="rect">
            <a:avLst/>
          </a:prstGeom>
          <a:noFill/>
          <a:ln/>
        </p:spPr>
        <p:txBody>
          <a:bodyPr wrap="square" lIns="0" tIns="0" rIns="0" bIns="0" rtlCol="0" anchor="t"/>
          <a:lstStyle/>
          <a:p>
            <a:pPr marL="0" indent="0" algn="ctr">
              <a:buNone/>
            </a:pPr>
            <a:r>
              <a:rPr lang="en-US" sz="1100" dirty="0">
                <a:solidFill>
                  <a:srgbClr val="55657F"/>
                </a:solidFill>
                <a:latin typeface="Calibri" pitchFamily="34" charset="0"/>
                <a:ea typeface="Calibri" pitchFamily="34" charset="-122"/>
                <a:cs typeface="Calibri" pitchFamily="34" charset="-120"/>
              </a:rPr>
              <a:t>Product</a:t>
            </a:r>
            <a:endParaRPr lang="en-US" sz="1100" dirty="0"/>
          </a:p>
        </p:txBody>
      </p:sp>
      <p:sp>
        <p:nvSpPr>
          <p:cNvPr id="56" name="Text 54"/>
          <p:cNvSpPr txBox="1"/>
          <p:nvPr/>
        </p:nvSpPr>
        <p:spPr>
          <a:xfrm>
            <a:off x="2423160" y="5376672"/>
            <a:ext cx="1463040" cy="411480"/>
          </a:xfrm>
          <a:prstGeom prst="rect">
            <a:avLst/>
          </a:prstGeom>
          <a:noFill/>
          <a:ln/>
        </p:spPr>
        <p:txBody>
          <a:bodyPr wrap="square" lIns="0" tIns="0" rIns="0" bIns="0" rtlCol="0" anchor="t"/>
          <a:lstStyle/>
          <a:p>
            <a:pPr marL="0" indent="0" algn="ctr">
              <a:buNone/>
            </a:pPr>
            <a:r>
              <a:rPr lang="en-US" sz="1700" b="1" dirty="0">
                <a:solidFill>
                  <a:srgbClr val="0B1F3A"/>
                </a:solidFill>
                <a:latin typeface="Calibri" pitchFamily="34" charset="0"/>
                <a:ea typeface="Calibri" pitchFamily="34" charset="-122"/>
                <a:cs typeface="Calibri" pitchFamily="34" charset="-120"/>
              </a:rPr>
              <a:t>Rice</a:t>
            </a:r>
            <a:endParaRPr lang="en-US" sz="1700" dirty="0"/>
          </a:p>
        </p:txBody>
      </p:sp>
      <p:sp>
        <p:nvSpPr>
          <p:cNvPr id="57" name="Shape 55"/>
          <p:cNvSpPr/>
          <p:nvPr/>
        </p:nvSpPr>
        <p:spPr>
          <a:xfrm>
            <a:off x="4023360" y="5074920"/>
            <a:ext cx="1463040" cy="777240"/>
          </a:xfrm>
          <a:prstGeom prst="roundRect">
            <a:avLst>
              <a:gd name="adj" fmla="val 9412"/>
            </a:avLst>
          </a:prstGeom>
          <a:solidFill>
            <a:srgbClr val="FFFFFF"/>
          </a:solidFill>
          <a:ln w="12700">
            <a:solidFill>
              <a:srgbClr val="FFFFFF"/>
            </a:solidFill>
            <a:prstDash val="solid"/>
          </a:ln>
        </p:spPr>
      </p:sp>
      <p:sp>
        <p:nvSpPr>
          <p:cNvPr id="58" name="Text 56"/>
          <p:cNvSpPr txBox="1"/>
          <p:nvPr/>
        </p:nvSpPr>
        <p:spPr>
          <a:xfrm>
            <a:off x="4023360" y="5120640"/>
            <a:ext cx="1463040" cy="274320"/>
          </a:xfrm>
          <a:prstGeom prst="rect">
            <a:avLst/>
          </a:prstGeom>
          <a:noFill/>
          <a:ln/>
        </p:spPr>
        <p:txBody>
          <a:bodyPr wrap="square" lIns="0" tIns="0" rIns="0" bIns="0" rtlCol="0" anchor="t"/>
          <a:lstStyle/>
          <a:p>
            <a:pPr marL="0" indent="0" algn="ctr">
              <a:buNone/>
            </a:pPr>
            <a:r>
              <a:rPr lang="en-US" sz="1100" dirty="0">
                <a:solidFill>
                  <a:srgbClr val="55657F"/>
                </a:solidFill>
                <a:latin typeface="Calibri" pitchFamily="34" charset="0"/>
                <a:ea typeface="Calibri" pitchFamily="34" charset="-122"/>
                <a:cs typeface="Calibri" pitchFamily="34" charset="-120"/>
              </a:rPr>
              <a:t>Quantity</a:t>
            </a:r>
            <a:endParaRPr lang="en-US" sz="1100" dirty="0"/>
          </a:p>
        </p:txBody>
      </p:sp>
      <p:sp>
        <p:nvSpPr>
          <p:cNvPr id="59" name="Text 57"/>
          <p:cNvSpPr txBox="1"/>
          <p:nvPr/>
        </p:nvSpPr>
        <p:spPr>
          <a:xfrm>
            <a:off x="4023360" y="5376672"/>
            <a:ext cx="1463040" cy="411480"/>
          </a:xfrm>
          <a:prstGeom prst="rect">
            <a:avLst/>
          </a:prstGeom>
          <a:noFill/>
          <a:ln/>
        </p:spPr>
        <p:txBody>
          <a:bodyPr wrap="square" lIns="0" tIns="0" rIns="0" bIns="0" rtlCol="0" anchor="t"/>
          <a:lstStyle/>
          <a:p>
            <a:pPr marL="0" indent="0" algn="ctr">
              <a:buNone/>
            </a:pPr>
            <a:r>
              <a:rPr lang="en-US" sz="1700" b="1" dirty="0">
                <a:solidFill>
                  <a:srgbClr val="0B1F3A"/>
                </a:solidFill>
                <a:latin typeface="Calibri" pitchFamily="34" charset="0"/>
                <a:ea typeface="Calibri" pitchFamily="34" charset="-122"/>
                <a:cs typeface="Calibri" pitchFamily="34" charset="-120"/>
              </a:rPr>
              <a:t>5</a:t>
            </a:r>
            <a:endParaRPr lang="en-US" sz="1700" dirty="0"/>
          </a:p>
        </p:txBody>
      </p:sp>
      <p:sp>
        <p:nvSpPr>
          <p:cNvPr id="60" name="Shape 58"/>
          <p:cNvSpPr/>
          <p:nvPr/>
        </p:nvSpPr>
        <p:spPr>
          <a:xfrm>
            <a:off x="5623560" y="5074920"/>
            <a:ext cx="1463040" cy="777240"/>
          </a:xfrm>
          <a:prstGeom prst="roundRect">
            <a:avLst>
              <a:gd name="adj" fmla="val 9412"/>
            </a:avLst>
          </a:prstGeom>
          <a:solidFill>
            <a:srgbClr val="FFFFFF"/>
          </a:solidFill>
          <a:ln w="12700">
            <a:solidFill>
              <a:srgbClr val="FFFFFF"/>
            </a:solidFill>
            <a:prstDash val="solid"/>
          </a:ln>
        </p:spPr>
      </p:sp>
      <p:sp>
        <p:nvSpPr>
          <p:cNvPr id="61" name="Text 59"/>
          <p:cNvSpPr txBox="1"/>
          <p:nvPr/>
        </p:nvSpPr>
        <p:spPr>
          <a:xfrm>
            <a:off x="5623560" y="5120640"/>
            <a:ext cx="1463040" cy="274320"/>
          </a:xfrm>
          <a:prstGeom prst="rect">
            <a:avLst/>
          </a:prstGeom>
          <a:noFill/>
          <a:ln/>
        </p:spPr>
        <p:txBody>
          <a:bodyPr wrap="square" lIns="0" tIns="0" rIns="0" bIns="0" rtlCol="0" anchor="t"/>
          <a:lstStyle/>
          <a:p>
            <a:pPr marL="0" indent="0" algn="ctr">
              <a:buNone/>
            </a:pPr>
            <a:r>
              <a:rPr lang="en-US" sz="1100" dirty="0">
                <a:solidFill>
                  <a:srgbClr val="55657F"/>
                </a:solidFill>
                <a:latin typeface="Calibri" pitchFamily="34" charset="0"/>
                <a:ea typeface="Calibri" pitchFamily="34" charset="-122"/>
                <a:cs typeface="Calibri" pitchFamily="34" charset="-120"/>
              </a:rPr>
              <a:t>Unit</a:t>
            </a:r>
            <a:endParaRPr lang="en-US" sz="1100" dirty="0"/>
          </a:p>
        </p:txBody>
      </p:sp>
      <p:sp>
        <p:nvSpPr>
          <p:cNvPr id="62" name="Text 60"/>
          <p:cNvSpPr txBox="1"/>
          <p:nvPr/>
        </p:nvSpPr>
        <p:spPr>
          <a:xfrm>
            <a:off x="5623560" y="5376672"/>
            <a:ext cx="1463040" cy="411480"/>
          </a:xfrm>
          <a:prstGeom prst="rect">
            <a:avLst/>
          </a:prstGeom>
          <a:noFill/>
          <a:ln/>
        </p:spPr>
        <p:txBody>
          <a:bodyPr wrap="square" lIns="0" tIns="0" rIns="0" bIns="0" rtlCol="0" anchor="t"/>
          <a:lstStyle/>
          <a:p>
            <a:pPr marL="0" indent="0" algn="ctr">
              <a:buNone/>
            </a:pPr>
            <a:r>
              <a:rPr lang="en-US" sz="1700" b="1" dirty="0">
                <a:solidFill>
                  <a:srgbClr val="0B1F3A"/>
                </a:solidFill>
                <a:latin typeface="Calibri" pitchFamily="34" charset="0"/>
                <a:ea typeface="Calibri" pitchFamily="34" charset="-122"/>
                <a:cs typeface="Calibri" pitchFamily="34" charset="-120"/>
              </a:rPr>
              <a:t>Bags</a:t>
            </a:r>
            <a:endParaRPr lang="en-US" sz="1700" dirty="0"/>
          </a:p>
        </p:txBody>
      </p:sp>
      <p:sp>
        <p:nvSpPr>
          <p:cNvPr id="63" name="Text 61"/>
          <p:cNvSpPr txBox="1"/>
          <p:nvPr/>
        </p:nvSpPr>
        <p:spPr>
          <a:xfrm>
            <a:off x="822960" y="5925312"/>
            <a:ext cx="6400800" cy="274320"/>
          </a:xfrm>
          <a:prstGeom prst="rect">
            <a:avLst/>
          </a:prstGeom>
          <a:noFill/>
          <a:ln/>
        </p:spPr>
        <p:txBody>
          <a:bodyPr wrap="square" lIns="0" tIns="0" rIns="0" bIns="0" rtlCol="0" anchor="t"/>
          <a:lstStyle/>
          <a:p>
            <a:pPr marL="0" indent="0">
              <a:buNone/>
            </a:pPr>
            <a:r>
              <a:rPr lang="en-US" sz="1200" dirty="0">
                <a:solidFill>
                  <a:srgbClr val="55657F"/>
                </a:solidFill>
                <a:latin typeface="Calibri" pitchFamily="34" charset="0"/>
                <a:ea typeface="Calibri" pitchFamily="34" charset="-122"/>
                <a:cs typeface="Calibri" pitchFamily="34" charset="-120"/>
              </a:rPr>
              <a:t>After confirmation, the inventory is updated.</a:t>
            </a:r>
            <a:endParaRPr lang="en-US" sz="1200" dirty="0"/>
          </a:p>
        </p:txBody>
      </p:sp>
      <p:sp>
        <p:nvSpPr>
          <p:cNvPr id="64" name="Shape 62"/>
          <p:cNvSpPr/>
          <p:nvPr/>
        </p:nvSpPr>
        <p:spPr>
          <a:xfrm>
            <a:off x="7772400" y="3977640"/>
            <a:ext cx="3867912" cy="2286000"/>
          </a:xfrm>
          <a:prstGeom prst="roundRect">
            <a:avLst>
              <a:gd name="adj" fmla="val 3200"/>
            </a:avLst>
          </a:prstGeom>
          <a:solidFill>
            <a:srgbClr val="0B1F3A"/>
          </a:solidFill>
          <a:ln w="12700">
            <a:solidFill>
              <a:srgbClr val="0B1F3A"/>
            </a:solidFill>
            <a:prstDash val="solid"/>
          </a:ln>
        </p:spPr>
      </p:sp>
      <p:sp>
        <p:nvSpPr>
          <p:cNvPr id="65" name="Text 63"/>
          <p:cNvSpPr txBox="1"/>
          <p:nvPr/>
        </p:nvSpPr>
        <p:spPr>
          <a:xfrm>
            <a:off x="8046720" y="4114800"/>
            <a:ext cx="329184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SAFE BY DESIGN</a:t>
            </a:r>
            <a:endParaRPr lang="en-US" sz="1200" dirty="0"/>
          </a:p>
        </p:txBody>
      </p:sp>
      <p:sp>
        <p:nvSpPr>
          <p:cNvPr id="66" name="Text 64"/>
          <p:cNvSpPr txBox="1"/>
          <p:nvPr/>
        </p:nvSpPr>
        <p:spPr>
          <a:xfrm>
            <a:off x="8046720" y="4480560"/>
            <a:ext cx="3337560" cy="1645920"/>
          </a:xfrm>
          <a:prstGeom prst="rect">
            <a:avLst/>
          </a:prstGeom>
          <a:noFill/>
          <a:ln/>
        </p:spPr>
        <p:txBody>
          <a:bodyPr wrap="square" lIns="0" tIns="0" rIns="0" bIns="0" rtlCol="0" anchor="t"/>
          <a:lstStyle/>
          <a:p>
            <a:pPr marL="0" indent="0">
              <a:buNone/>
            </a:pPr>
            <a:r>
              <a:rPr lang="en-US" sz="1550" dirty="0">
                <a:solidFill>
                  <a:srgbClr val="FFFFFF"/>
                </a:solidFill>
                <a:latin typeface="Calibri" pitchFamily="34" charset="0"/>
                <a:ea typeface="Calibri" pitchFamily="34" charset="-122"/>
                <a:cs typeface="Calibri" pitchFamily="34" charset="-120"/>
              </a:rPr>
              <a:t>The AI does not directly modify the database. It understands the request; the backend validates it and performs the operation.</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SYSTEM ARCHITECTURE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System Architecture</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48640" y="1600200"/>
            <a:ext cx="1371600" cy="1325880"/>
          </a:xfrm>
          <a:prstGeom prst="roundRect">
            <a:avLst>
              <a:gd name="adj" fmla="val 5517"/>
            </a:avLst>
          </a:prstGeom>
          <a:solidFill>
            <a:srgbClr val="F5A623"/>
          </a:solidFill>
          <a:ln w="12700">
            <a:solidFill>
              <a:srgbClr val="F5A623"/>
            </a:solidFill>
            <a:prstDash val="solid"/>
          </a:ln>
        </p:spPr>
      </p:sp>
      <p:sp>
        <p:nvSpPr>
          <p:cNvPr id="7" name="Text 5"/>
          <p:cNvSpPr txBox="1"/>
          <p:nvPr/>
        </p:nvSpPr>
        <p:spPr>
          <a:xfrm>
            <a:off x="621792" y="1737360"/>
            <a:ext cx="1225296" cy="68580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Shopkeeper</a:t>
            </a:r>
            <a:endParaRPr lang="en-US" sz="1300" dirty="0"/>
          </a:p>
        </p:txBody>
      </p:sp>
      <p:sp>
        <p:nvSpPr>
          <p:cNvPr id="8" name="Text 6"/>
          <p:cNvSpPr txBox="1"/>
          <p:nvPr/>
        </p:nvSpPr>
        <p:spPr>
          <a:xfrm>
            <a:off x="621792" y="2468880"/>
            <a:ext cx="1225296" cy="365760"/>
          </a:xfrm>
          <a:prstGeom prst="rect">
            <a:avLst/>
          </a:prstGeom>
          <a:noFill/>
          <a:ln/>
        </p:spPr>
        <p:txBody>
          <a:bodyPr wrap="square" lIns="0" tIns="0" rIns="0" bIns="0" rtlCol="0" anchor="t"/>
          <a:lstStyle/>
          <a:p>
            <a:pPr marL="0" indent="0" algn="ctr">
              <a:buNone/>
            </a:pPr>
            <a:r>
              <a:rPr lang="en-US" sz="1050" dirty="0">
                <a:solidFill>
                  <a:srgbClr val="0B1F3A"/>
                </a:solidFill>
                <a:latin typeface="Calibri" pitchFamily="34" charset="0"/>
                <a:ea typeface="Calibri" pitchFamily="34" charset="-122"/>
                <a:cs typeface="Calibri" pitchFamily="34" charset="-120"/>
              </a:rPr>
              <a:t>Voice / Text</a:t>
            </a:r>
            <a:endParaRPr lang="en-US" sz="1050" dirty="0"/>
          </a:p>
        </p:txBody>
      </p:sp>
      <p:sp>
        <p:nvSpPr>
          <p:cNvPr id="9" name="Shape 7"/>
          <p:cNvSpPr/>
          <p:nvPr/>
        </p:nvSpPr>
        <p:spPr>
          <a:xfrm>
            <a:off x="1920240" y="2148840"/>
            <a:ext cx="246888" cy="237744"/>
          </a:xfrm>
          <a:prstGeom prst="rightArrow">
            <a:avLst/>
          </a:prstGeom>
          <a:solidFill>
            <a:srgbClr val="F5A623"/>
          </a:solidFill>
          <a:ln w="12700">
            <a:solidFill>
              <a:srgbClr val="F5A623"/>
            </a:solidFill>
            <a:prstDash val="solid"/>
          </a:ln>
        </p:spPr>
      </p:sp>
      <p:sp>
        <p:nvSpPr>
          <p:cNvPr id="10" name="Shape 8"/>
          <p:cNvSpPr/>
          <p:nvPr/>
        </p:nvSpPr>
        <p:spPr>
          <a:xfrm>
            <a:off x="2167128" y="1600200"/>
            <a:ext cx="1371600" cy="1325880"/>
          </a:xfrm>
          <a:prstGeom prst="roundRect">
            <a:avLst>
              <a:gd name="adj" fmla="val 5517"/>
            </a:avLst>
          </a:prstGeom>
          <a:solidFill>
            <a:srgbClr val="0B1F3A"/>
          </a:solidFill>
          <a:ln w="12700">
            <a:solidFill>
              <a:srgbClr val="0B1F3A"/>
            </a:solidFill>
            <a:prstDash val="solid"/>
          </a:ln>
        </p:spPr>
      </p:sp>
      <p:sp>
        <p:nvSpPr>
          <p:cNvPr id="11" name="Text 9"/>
          <p:cNvSpPr txBox="1"/>
          <p:nvPr/>
        </p:nvSpPr>
        <p:spPr>
          <a:xfrm>
            <a:off x="2240280" y="1737360"/>
            <a:ext cx="122529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Mobile Application</a:t>
            </a:r>
            <a:endParaRPr lang="en-US" sz="1300" dirty="0"/>
          </a:p>
        </p:txBody>
      </p:sp>
      <p:sp>
        <p:nvSpPr>
          <p:cNvPr id="12" name="Text 10"/>
          <p:cNvSpPr txBox="1"/>
          <p:nvPr/>
        </p:nvSpPr>
        <p:spPr>
          <a:xfrm>
            <a:off x="2240280" y="2468880"/>
            <a:ext cx="1225296" cy="365760"/>
          </a:xfrm>
          <a:prstGeom prst="rect">
            <a:avLst/>
          </a:prstGeom>
          <a:noFill/>
          <a:ln/>
        </p:spPr>
        <p:txBody>
          <a:bodyPr wrap="square" lIns="0" tIns="0" rIns="0" bIns="0" rtlCol="0" anchor="t"/>
          <a:lstStyle/>
          <a:p>
            <a:pPr marL="0" indent="0" algn="ctr">
              <a:buNone/>
            </a:pPr>
            <a:r>
              <a:rPr lang="en-US" sz="1050" dirty="0">
                <a:solidFill>
                  <a:srgbClr val="CADCFC"/>
                </a:solidFill>
                <a:latin typeface="Calibri" pitchFamily="34" charset="0"/>
                <a:ea typeface="Calibri" pitchFamily="34" charset="-122"/>
                <a:cs typeface="Calibri" pitchFamily="34" charset="-120"/>
              </a:rPr>
              <a:t>DukaanSetu app</a:t>
            </a:r>
            <a:endParaRPr lang="en-US" sz="1050" dirty="0"/>
          </a:p>
        </p:txBody>
      </p:sp>
      <p:sp>
        <p:nvSpPr>
          <p:cNvPr id="13" name="Shape 11"/>
          <p:cNvSpPr/>
          <p:nvPr/>
        </p:nvSpPr>
        <p:spPr>
          <a:xfrm>
            <a:off x="3538728" y="2148840"/>
            <a:ext cx="246888" cy="237744"/>
          </a:xfrm>
          <a:prstGeom prst="rightArrow">
            <a:avLst/>
          </a:prstGeom>
          <a:solidFill>
            <a:srgbClr val="F5A623"/>
          </a:solidFill>
          <a:ln w="12700">
            <a:solidFill>
              <a:srgbClr val="F5A623"/>
            </a:solidFill>
            <a:prstDash val="solid"/>
          </a:ln>
        </p:spPr>
      </p:sp>
      <p:sp>
        <p:nvSpPr>
          <p:cNvPr id="14" name="Shape 12"/>
          <p:cNvSpPr/>
          <p:nvPr/>
        </p:nvSpPr>
        <p:spPr>
          <a:xfrm>
            <a:off x="3785616" y="1600200"/>
            <a:ext cx="1371600" cy="1325880"/>
          </a:xfrm>
          <a:prstGeom prst="roundRect">
            <a:avLst>
              <a:gd name="adj" fmla="val 5517"/>
            </a:avLst>
          </a:prstGeom>
          <a:solidFill>
            <a:srgbClr val="0B1F3A"/>
          </a:solidFill>
          <a:ln w="12700">
            <a:solidFill>
              <a:srgbClr val="0B1F3A"/>
            </a:solidFill>
            <a:prstDash val="solid"/>
          </a:ln>
        </p:spPr>
      </p:sp>
      <p:sp>
        <p:nvSpPr>
          <p:cNvPr id="15" name="Text 13"/>
          <p:cNvSpPr txBox="1"/>
          <p:nvPr/>
        </p:nvSpPr>
        <p:spPr>
          <a:xfrm>
            <a:off x="3858768" y="1737360"/>
            <a:ext cx="122529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Speech-to-Text</a:t>
            </a:r>
            <a:endParaRPr lang="en-US" sz="1300" dirty="0"/>
          </a:p>
        </p:txBody>
      </p:sp>
      <p:sp>
        <p:nvSpPr>
          <p:cNvPr id="16" name="Text 14"/>
          <p:cNvSpPr txBox="1"/>
          <p:nvPr/>
        </p:nvSpPr>
        <p:spPr>
          <a:xfrm>
            <a:off x="3858768" y="2468880"/>
            <a:ext cx="1225296" cy="365760"/>
          </a:xfrm>
          <a:prstGeom prst="rect">
            <a:avLst/>
          </a:prstGeom>
          <a:noFill/>
          <a:ln/>
        </p:spPr>
        <p:txBody>
          <a:bodyPr wrap="square" lIns="0" tIns="0" rIns="0" bIns="0" rtlCol="0" anchor="t"/>
          <a:lstStyle/>
          <a:p>
            <a:pPr marL="0" indent="0" algn="ctr">
              <a:buNone/>
            </a:pPr>
            <a:r>
              <a:rPr lang="en-US" sz="1050" dirty="0">
                <a:solidFill>
                  <a:srgbClr val="CADCFC"/>
                </a:solidFill>
                <a:latin typeface="Calibri" pitchFamily="34" charset="0"/>
                <a:ea typeface="Calibri" pitchFamily="34" charset="-122"/>
                <a:cs typeface="Calibri" pitchFamily="34" charset="-120"/>
              </a:rPr>
              <a:t>Voice to text</a:t>
            </a:r>
            <a:endParaRPr lang="en-US" sz="1050" dirty="0"/>
          </a:p>
        </p:txBody>
      </p:sp>
      <p:sp>
        <p:nvSpPr>
          <p:cNvPr id="17" name="Shape 15"/>
          <p:cNvSpPr/>
          <p:nvPr/>
        </p:nvSpPr>
        <p:spPr>
          <a:xfrm>
            <a:off x="5157216" y="2148840"/>
            <a:ext cx="246888" cy="237744"/>
          </a:xfrm>
          <a:prstGeom prst="rightArrow">
            <a:avLst/>
          </a:prstGeom>
          <a:solidFill>
            <a:srgbClr val="F5A623"/>
          </a:solidFill>
          <a:ln w="12700">
            <a:solidFill>
              <a:srgbClr val="F5A623"/>
            </a:solidFill>
            <a:prstDash val="solid"/>
          </a:ln>
        </p:spPr>
      </p:sp>
      <p:sp>
        <p:nvSpPr>
          <p:cNvPr id="18" name="Shape 16"/>
          <p:cNvSpPr/>
          <p:nvPr/>
        </p:nvSpPr>
        <p:spPr>
          <a:xfrm>
            <a:off x="5404104" y="1600200"/>
            <a:ext cx="1371600" cy="1325880"/>
          </a:xfrm>
          <a:prstGeom prst="roundRect">
            <a:avLst>
              <a:gd name="adj" fmla="val 5517"/>
            </a:avLst>
          </a:prstGeom>
          <a:solidFill>
            <a:srgbClr val="0B1F3A"/>
          </a:solidFill>
          <a:ln w="12700">
            <a:solidFill>
              <a:srgbClr val="0B1F3A"/>
            </a:solidFill>
            <a:prstDash val="solid"/>
          </a:ln>
        </p:spPr>
      </p:sp>
      <p:sp>
        <p:nvSpPr>
          <p:cNvPr id="19" name="Text 17"/>
          <p:cNvSpPr txBox="1"/>
          <p:nvPr/>
        </p:nvSpPr>
        <p:spPr>
          <a:xfrm>
            <a:off x="5477256" y="1737360"/>
            <a:ext cx="122529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NLP / LLM</a:t>
            </a:r>
            <a:endParaRPr lang="en-US" sz="1300" dirty="0"/>
          </a:p>
        </p:txBody>
      </p:sp>
      <p:sp>
        <p:nvSpPr>
          <p:cNvPr id="20" name="Text 18"/>
          <p:cNvSpPr txBox="1"/>
          <p:nvPr/>
        </p:nvSpPr>
        <p:spPr>
          <a:xfrm>
            <a:off x="5477256" y="2468880"/>
            <a:ext cx="1225296" cy="365760"/>
          </a:xfrm>
          <a:prstGeom prst="rect">
            <a:avLst/>
          </a:prstGeom>
          <a:noFill/>
          <a:ln/>
        </p:spPr>
        <p:txBody>
          <a:bodyPr wrap="square" lIns="0" tIns="0" rIns="0" bIns="0" rtlCol="0" anchor="t"/>
          <a:lstStyle/>
          <a:p>
            <a:pPr marL="0" indent="0" algn="ctr">
              <a:buNone/>
            </a:pPr>
            <a:r>
              <a:rPr lang="en-US" sz="1050" dirty="0">
                <a:solidFill>
                  <a:srgbClr val="CADCFC"/>
                </a:solidFill>
                <a:latin typeface="Calibri" pitchFamily="34" charset="0"/>
                <a:ea typeface="Calibri" pitchFamily="34" charset="-122"/>
                <a:cs typeface="Calibri" pitchFamily="34" charset="-120"/>
              </a:rPr>
              <a:t>Intent + entities</a:t>
            </a:r>
            <a:endParaRPr lang="en-US" sz="1050" dirty="0"/>
          </a:p>
        </p:txBody>
      </p:sp>
      <p:sp>
        <p:nvSpPr>
          <p:cNvPr id="21" name="Shape 19"/>
          <p:cNvSpPr/>
          <p:nvPr/>
        </p:nvSpPr>
        <p:spPr>
          <a:xfrm>
            <a:off x="6775704" y="2148840"/>
            <a:ext cx="246888" cy="237744"/>
          </a:xfrm>
          <a:prstGeom prst="rightArrow">
            <a:avLst/>
          </a:prstGeom>
          <a:solidFill>
            <a:srgbClr val="F5A623"/>
          </a:solidFill>
          <a:ln w="12700">
            <a:solidFill>
              <a:srgbClr val="F5A623"/>
            </a:solidFill>
            <a:prstDash val="solid"/>
          </a:ln>
        </p:spPr>
      </p:sp>
      <p:sp>
        <p:nvSpPr>
          <p:cNvPr id="22" name="Shape 20"/>
          <p:cNvSpPr/>
          <p:nvPr/>
        </p:nvSpPr>
        <p:spPr>
          <a:xfrm>
            <a:off x="7022592" y="1600200"/>
            <a:ext cx="1371600" cy="1325880"/>
          </a:xfrm>
          <a:prstGeom prst="roundRect">
            <a:avLst>
              <a:gd name="adj" fmla="val 5517"/>
            </a:avLst>
          </a:prstGeom>
          <a:solidFill>
            <a:srgbClr val="0B1F3A"/>
          </a:solidFill>
          <a:ln w="12700">
            <a:solidFill>
              <a:srgbClr val="0B1F3A"/>
            </a:solidFill>
            <a:prstDash val="solid"/>
          </a:ln>
        </p:spPr>
      </p:sp>
      <p:sp>
        <p:nvSpPr>
          <p:cNvPr id="23" name="Text 21"/>
          <p:cNvSpPr txBox="1"/>
          <p:nvPr/>
        </p:nvSpPr>
        <p:spPr>
          <a:xfrm>
            <a:off x="7095744" y="1737360"/>
            <a:ext cx="122529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Validation &amp; Confirmation</a:t>
            </a:r>
            <a:endParaRPr lang="en-US" sz="1300" dirty="0"/>
          </a:p>
        </p:txBody>
      </p:sp>
      <p:sp>
        <p:nvSpPr>
          <p:cNvPr id="24" name="Text 22"/>
          <p:cNvSpPr txBox="1"/>
          <p:nvPr/>
        </p:nvSpPr>
        <p:spPr>
          <a:xfrm>
            <a:off x="7095744" y="2468880"/>
            <a:ext cx="1225296" cy="365760"/>
          </a:xfrm>
          <a:prstGeom prst="rect">
            <a:avLst/>
          </a:prstGeom>
          <a:noFill/>
          <a:ln/>
        </p:spPr>
        <p:txBody>
          <a:bodyPr wrap="square" lIns="0" tIns="0" rIns="0" bIns="0" rtlCol="0" anchor="t"/>
          <a:lstStyle/>
          <a:p>
            <a:pPr marL="0" indent="0" algn="ctr">
              <a:buNone/>
            </a:pPr>
            <a:r>
              <a:rPr lang="en-US" sz="1050" dirty="0">
                <a:solidFill>
                  <a:srgbClr val="CADCFC"/>
                </a:solidFill>
                <a:latin typeface="Calibri" pitchFamily="34" charset="0"/>
                <a:ea typeface="Calibri" pitchFamily="34" charset="-122"/>
                <a:cs typeface="Calibri" pitchFamily="34" charset="-120"/>
              </a:rPr>
              <a:t>Checks the request</a:t>
            </a:r>
            <a:endParaRPr lang="en-US" sz="1050" dirty="0"/>
          </a:p>
        </p:txBody>
      </p:sp>
      <p:sp>
        <p:nvSpPr>
          <p:cNvPr id="25" name="Shape 23"/>
          <p:cNvSpPr/>
          <p:nvPr/>
        </p:nvSpPr>
        <p:spPr>
          <a:xfrm>
            <a:off x="8394192" y="2148840"/>
            <a:ext cx="246888" cy="237744"/>
          </a:xfrm>
          <a:prstGeom prst="rightArrow">
            <a:avLst/>
          </a:prstGeom>
          <a:solidFill>
            <a:srgbClr val="F5A623"/>
          </a:solidFill>
          <a:ln w="12700">
            <a:solidFill>
              <a:srgbClr val="F5A623"/>
            </a:solidFill>
            <a:prstDash val="solid"/>
          </a:ln>
        </p:spPr>
      </p:sp>
      <p:sp>
        <p:nvSpPr>
          <p:cNvPr id="26" name="Shape 24"/>
          <p:cNvSpPr/>
          <p:nvPr/>
        </p:nvSpPr>
        <p:spPr>
          <a:xfrm>
            <a:off x="8641080" y="1600200"/>
            <a:ext cx="1371600" cy="1325880"/>
          </a:xfrm>
          <a:prstGeom prst="roundRect">
            <a:avLst>
              <a:gd name="adj" fmla="val 5517"/>
            </a:avLst>
          </a:prstGeom>
          <a:solidFill>
            <a:srgbClr val="0B1F3A"/>
          </a:solidFill>
          <a:ln w="12700">
            <a:solidFill>
              <a:srgbClr val="0B1F3A"/>
            </a:solidFill>
            <a:prstDash val="solid"/>
          </a:ln>
        </p:spPr>
      </p:sp>
      <p:sp>
        <p:nvSpPr>
          <p:cNvPr id="27" name="Text 25"/>
          <p:cNvSpPr txBox="1"/>
          <p:nvPr/>
        </p:nvSpPr>
        <p:spPr>
          <a:xfrm>
            <a:off x="8714232" y="1737360"/>
            <a:ext cx="122529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Backend API</a:t>
            </a:r>
            <a:endParaRPr lang="en-US" sz="1300" dirty="0"/>
          </a:p>
        </p:txBody>
      </p:sp>
      <p:sp>
        <p:nvSpPr>
          <p:cNvPr id="28" name="Text 26"/>
          <p:cNvSpPr txBox="1"/>
          <p:nvPr/>
        </p:nvSpPr>
        <p:spPr>
          <a:xfrm>
            <a:off x="8714232" y="2468880"/>
            <a:ext cx="1225296" cy="365760"/>
          </a:xfrm>
          <a:prstGeom prst="rect">
            <a:avLst/>
          </a:prstGeom>
          <a:noFill/>
          <a:ln/>
        </p:spPr>
        <p:txBody>
          <a:bodyPr wrap="square" lIns="0" tIns="0" rIns="0" bIns="0" rtlCol="0" anchor="t"/>
          <a:lstStyle/>
          <a:p>
            <a:pPr marL="0" indent="0" algn="ctr">
              <a:buNone/>
            </a:pPr>
            <a:r>
              <a:rPr lang="en-US" sz="1050" dirty="0">
                <a:solidFill>
                  <a:srgbClr val="CADCFC"/>
                </a:solidFill>
                <a:latin typeface="Calibri" pitchFamily="34" charset="0"/>
                <a:ea typeface="Calibri" pitchFamily="34" charset="-122"/>
                <a:cs typeface="Calibri" pitchFamily="34" charset="-120"/>
              </a:rPr>
              <a:t>Spring Boot</a:t>
            </a:r>
            <a:endParaRPr lang="en-US" sz="1050" dirty="0"/>
          </a:p>
        </p:txBody>
      </p:sp>
      <p:sp>
        <p:nvSpPr>
          <p:cNvPr id="29" name="Shape 27"/>
          <p:cNvSpPr/>
          <p:nvPr/>
        </p:nvSpPr>
        <p:spPr>
          <a:xfrm>
            <a:off x="10012680" y="2148840"/>
            <a:ext cx="246888" cy="237744"/>
          </a:xfrm>
          <a:prstGeom prst="rightArrow">
            <a:avLst/>
          </a:prstGeom>
          <a:solidFill>
            <a:srgbClr val="F5A623"/>
          </a:solidFill>
          <a:ln w="12700">
            <a:solidFill>
              <a:srgbClr val="F5A623"/>
            </a:solidFill>
            <a:prstDash val="solid"/>
          </a:ln>
        </p:spPr>
      </p:sp>
      <p:sp>
        <p:nvSpPr>
          <p:cNvPr id="30" name="Shape 28"/>
          <p:cNvSpPr/>
          <p:nvPr/>
        </p:nvSpPr>
        <p:spPr>
          <a:xfrm>
            <a:off x="10259568" y="1600200"/>
            <a:ext cx="1371600" cy="1325880"/>
          </a:xfrm>
          <a:prstGeom prst="roundRect">
            <a:avLst>
              <a:gd name="adj" fmla="val 5517"/>
            </a:avLst>
          </a:prstGeom>
          <a:solidFill>
            <a:srgbClr val="0B1F3A"/>
          </a:solidFill>
          <a:ln w="12700">
            <a:solidFill>
              <a:srgbClr val="0B1F3A"/>
            </a:solidFill>
            <a:prstDash val="solid"/>
          </a:ln>
        </p:spPr>
      </p:sp>
      <p:sp>
        <p:nvSpPr>
          <p:cNvPr id="31" name="Text 29"/>
          <p:cNvSpPr txBox="1"/>
          <p:nvPr/>
        </p:nvSpPr>
        <p:spPr>
          <a:xfrm>
            <a:off x="10332720" y="1737360"/>
            <a:ext cx="1225296"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Database</a:t>
            </a:r>
            <a:endParaRPr lang="en-US" sz="1300" dirty="0"/>
          </a:p>
        </p:txBody>
      </p:sp>
      <p:sp>
        <p:nvSpPr>
          <p:cNvPr id="32" name="Text 30"/>
          <p:cNvSpPr txBox="1"/>
          <p:nvPr/>
        </p:nvSpPr>
        <p:spPr>
          <a:xfrm>
            <a:off x="10332720" y="2468880"/>
            <a:ext cx="1225296" cy="365760"/>
          </a:xfrm>
          <a:prstGeom prst="rect">
            <a:avLst/>
          </a:prstGeom>
          <a:noFill/>
          <a:ln/>
        </p:spPr>
        <p:txBody>
          <a:bodyPr wrap="square" lIns="0" tIns="0" rIns="0" bIns="0" rtlCol="0" anchor="t"/>
          <a:lstStyle/>
          <a:p>
            <a:pPr marL="0" indent="0" algn="ctr">
              <a:buNone/>
            </a:pPr>
            <a:r>
              <a:rPr lang="en-US" sz="1050" dirty="0">
                <a:solidFill>
                  <a:srgbClr val="CADCFC"/>
                </a:solidFill>
                <a:latin typeface="Calibri" pitchFamily="34" charset="0"/>
                <a:ea typeface="Calibri" pitchFamily="34" charset="-122"/>
                <a:cs typeface="Calibri" pitchFamily="34" charset="-120"/>
              </a:rPr>
              <a:t>PostgreSQL / MySQL</a:t>
            </a:r>
            <a:endParaRPr lang="en-US" sz="1050" dirty="0"/>
          </a:p>
        </p:txBody>
      </p:sp>
      <p:sp>
        <p:nvSpPr>
          <p:cNvPr id="33" name="Shape 31"/>
          <p:cNvSpPr/>
          <p:nvPr/>
        </p:nvSpPr>
        <p:spPr>
          <a:xfrm>
            <a:off x="10817352" y="2999232"/>
            <a:ext cx="256032" cy="365760"/>
          </a:xfrm>
          <a:prstGeom prst="downArrow">
            <a:avLst/>
          </a:prstGeom>
          <a:solidFill>
            <a:srgbClr val="F5A623"/>
          </a:solidFill>
          <a:ln w="12700">
            <a:solidFill>
              <a:srgbClr val="F5A623"/>
            </a:solidFill>
            <a:prstDash val="solid"/>
          </a:ln>
        </p:spPr>
      </p:sp>
      <p:sp>
        <p:nvSpPr>
          <p:cNvPr id="34" name="Shape 32"/>
          <p:cNvSpPr/>
          <p:nvPr/>
        </p:nvSpPr>
        <p:spPr>
          <a:xfrm>
            <a:off x="6839712" y="3456432"/>
            <a:ext cx="1508760" cy="685800"/>
          </a:xfrm>
          <a:prstGeom prst="roundRect">
            <a:avLst>
              <a:gd name="adj" fmla="val 10667"/>
            </a:avLst>
          </a:prstGeom>
          <a:solidFill>
            <a:srgbClr val="16305A"/>
          </a:solidFill>
          <a:ln w="12700">
            <a:solidFill>
              <a:srgbClr val="16305A"/>
            </a:solidFill>
            <a:prstDash val="solid"/>
          </a:ln>
        </p:spPr>
      </p:sp>
      <p:sp>
        <p:nvSpPr>
          <p:cNvPr id="35" name="Text 33"/>
          <p:cNvSpPr txBox="1"/>
          <p:nvPr/>
        </p:nvSpPr>
        <p:spPr>
          <a:xfrm>
            <a:off x="6931152" y="3456432"/>
            <a:ext cx="13258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Inventory</a:t>
            </a:r>
            <a:endParaRPr lang="en-US" sz="1400" dirty="0"/>
          </a:p>
        </p:txBody>
      </p:sp>
      <p:sp>
        <p:nvSpPr>
          <p:cNvPr id="36" name="Shape 34"/>
          <p:cNvSpPr/>
          <p:nvPr/>
        </p:nvSpPr>
        <p:spPr>
          <a:xfrm>
            <a:off x="8485632" y="3456432"/>
            <a:ext cx="1508760" cy="685800"/>
          </a:xfrm>
          <a:prstGeom prst="roundRect">
            <a:avLst>
              <a:gd name="adj" fmla="val 10667"/>
            </a:avLst>
          </a:prstGeom>
          <a:solidFill>
            <a:srgbClr val="16305A"/>
          </a:solidFill>
          <a:ln w="12700">
            <a:solidFill>
              <a:srgbClr val="16305A"/>
            </a:solidFill>
            <a:prstDash val="solid"/>
          </a:ln>
        </p:spPr>
      </p:sp>
      <p:sp>
        <p:nvSpPr>
          <p:cNvPr id="37" name="Text 35"/>
          <p:cNvSpPr txBox="1"/>
          <p:nvPr/>
        </p:nvSpPr>
        <p:spPr>
          <a:xfrm>
            <a:off x="8577072" y="3456432"/>
            <a:ext cx="13258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Transactions</a:t>
            </a:r>
            <a:endParaRPr lang="en-US" sz="1400" dirty="0"/>
          </a:p>
        </p:txBody>
      </p:sp>
      <p:sp>
        <p:nvSpPr>
          <p:cNvPr id="38" name="Shape 36"/>
          <p:cNvSpPr/>
          <p:nvPr/>
        </p:nvSpPr>
        <p:spPr>
          <a:xfrm>
            <a:off x="10131552" y="3456432"/>
            <a:ext cx="1508760" cy="685800"/>
          </a:xfrm>
          <a:prstGeom prst="roundRect">
            <a:avLst>
              <a:gd name="adj" fmla="val 10667"/>
            </a:avLst>
          </a:prstGeom>
          <a:solidFill>
            <a:srgbClr val="16305A"/>
          </a:solidFill>
          <a:ln w="12700">
            <a:solidFill>
              <a:srgbClr val="16305A"/>
            </a:solidFill>
            <a:prstDash val="solid"/>
          </a:ln>
        </p:spPr>
      </p:sp>
      <p:sp>
        <p:nvSpPr>
          <p:cNvPr id="39" name="Text 37"/>
          <p:cNvSpPr txBox="1"/>
          <p:nvPr/>
        </p:nvSpPr>
        <p:spPr>
          <a:xfrm>
            <a:off x="10222992" y="3456432"/>
            <a:ext cx="13258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Analytics</a:t>
            </a:r>
            <a:endParaRPr lang="en-US" sz="1400" dirty="0"/>
          </a:p>
        </p:txBody>
      </p:sp>
      <p:sp>
        <p:nvSpPr>
          <p:cNvPr id="40" name="Shape 38"/>
          <p:cNvSpPr/>
          <p:nvPr/>
        </p:nvSpPr>
        <p:spPr>
          <a:xfrm>
            <a:off x="7452360" y="4206240"/>
            <a:ext cx="256032" cy="365760"/>
          </a:xfrm>
          <a:prstGeom prst="downArrow">
            <a:avLst/>
          </a:prstGeom>
          <a:solidFill>
            <a:srgbClr val="F5A623"/>
          </a:solidFill>
          <a:ln w="12700">
            <a:solidFill>
              <a:srgbClr val="F5A623"/>
            </a:solidFill>
            <a:prstDash val="solid"/>
          </a:ln>
        </p:spPr>
      </p:sp>
      <p:sp>
        <p:nvSpPr>
          <p:cNvPr id="41" name="Shape 39"/>
          <p:cNvSpPr/>
          <p:nvPr/>
        </p:nvSpPr>
        <p:spPr>
          <a:xfrm>
            <a:off x="6839712" y="4617720"/>
            <a:ext cx="2286000" cy="777240"/>
          </a:xfrm>
          <a:prstGeom prst="roundRect">
            <a:avLst>
              <a:gd name="adj" fmla="val 9412"/>
            </a:avLst>
          </a:prstGeom>
          <a:solidFill>
            <a:srgbClr val="F1F4F9"/>
          </a:solidFill>
          <a:ln w="12700">
            <a:solidFill>
              <a:srgbClr val="F1F4F9"/>
            </a:solidFill>
            <a:prstDash val="solid"/>
          </a:ln>
        </p:spPr>
      </p:sp>
      <p:sp>
        <p:nvSpPr>
          <p:cNvPr id="42" name="Text 40"/>
          <p:cNvSpPr txBox="1"/>
          <p:nvPr/>
        </p:nvSpPr>
        <p:spPr>
          <a:xfrm>
            <a:off x="6931152" y="4617720"/>
            <a:ext cx="2103120" cy="77724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Smart Alerts &amp; Reorder Suggestions</a:t>
            </a:r>
            <a:endParaRPr lang="en-US" sz="1300" dirty="0"/>
          </a:p>
        </p:txBody>
      </p:sp>
      <p:sp>
        <p:nvSpPr>
          <p:cNvPr id="43" name="Shape 41"/>
          <p:cNvSpPr/>
          <p:nvPr/>
        </p:nvSpPr>
        <p:spPr>
          <a:xfrm>
            <a:off x="9189720" y="4892040"/>
            <a:ext cx="237744" cy="237744"/>
          </a:xfrm>
          <a:prstGeom prst="rightArrow">
            <a:avLst/>
          </a:prstGeom>
          <a:solidFill>
            <a:srgbClr val="F5A623"/>
          </a:solidFill>
          <a:ln w="12700">
            <a:solidFill>
              <a:srgbClr val="F5A623"/>
            </a:solidFill>
            <a:prstDash val="solid"/>
          </a:ln>
        </p:spPr>
      </p:sp>
      <p:sp>
        <p:nvSpPr>
          <p:cNvPr id="44" name="Shape 42"/>
          <p:cNvSpPr/>
          <p:nvPr/>
        </p:nvSpPr>
        <p:spPr>
          <a:xfrm>
            <a:off x="9464040" y="4617720"/>
            <a:ext cx="2176272" cy="777240"/>
          </a:xfrm>
          <a:prstGeom prst="roundRect">
            <a:avLst>
              <a:gd name="adj" fmla="val 9412"/>
            </a:avLst>
          </a:prstGeom>
          <a:solidFill>
            <a:srgbClr val="F5A623"/>
          </a:solidFill>
          <a:ln w="12700">
            <a:solidFill>
              <a:srgbClr val="F5A623"/>
            </a:solidFill>
            <a:prstDash val="solid"/>
          </a:ln>
        </p:spPr>
      </p:sp>
      <p:sp>
        <p:nvSpPr>
          <p:cNvPr id="45" name="Text 43"/>
          <p:cNvSpPr txBox="1"/>
          <p:nvPr/>
        </p:nvSpPr>
        <p:spPr>
          <a:xfrm>
            <a:off x="9555480" y="4617720"/>
            <a:ext cx="1993392" cy="777240"/>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Dashboard / Response</a:t>
            </a:r>
            <a:endParaRPr lang="en-US" sz="1300" dirty="0"/>
          </a:p>
        </p:txBody>
      </p:sp>
      <p:sp>
        <p:nvSpPr>
          <p:cNvPr id="46" name="Shape 44"/>
          <p:cNvSpPr/>
          <p:nvPr/>
        </p:nvSpPr>
        <p:spPr>
          <a:xfrm>
            <a:off x="548640" y="3456432"/>
            <a:ext cx="5943600" cy="2743200"/>
          </a:xfrm>
          <a:prstGeom prst="roundRect">
            <a:avLst>
              <a:gd name="adj" fmla="val 2667"/>
            </a:avLst>
          </a:prstGeom>
          <a:solidFill>
            <a:srgbClr val="F1F4F9"/>
          </a:solidFill>
          <a:ln w="12700">
            <a:solidFill>
              <a:srgbClr val="F1F4F9"/>
            </a:solidFill>
            <a:prstDash val="solid"/>
          </a:ln>
        </p:spPr>
      </p:sp>
      <p:sp>
        <p:nvSpPr>
          <p:cNvPr id="47" name="Text 45"/>
          <p:cNvSpPr txBox="1"/>
          <p:nvPr/>
        </p:nvSpPr>
        <p:spPr>
          <a:xfrm>
            <a:off x="822960" y="3611880"/>
            <a:ext cx="45720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ARCHITECTURE PRINCIPLE</a:t>
            </a:r>
            <a:endParaRPr lang="en-US" sz="1200" dirty="0"/>
          </a:p>
        </p:txBody>
      </p:sp>
      <p:sp>
        <p:nvSpPr>
          <p:cNvPr id="48" name="Shape 46"/>
          <p:cNvSpPr/>
          <p:nvPr/>
        </p:nvSpPr>
        <p:spPr>
          <a:xfrm>
            <a:off x="822960" y="4023360"/>
            <a:ext cx="502920" cy="502920"/>
          </a:xfrm>
          <a:prstGeom prst="ellipse">
            <a:avLst/>
          </a:prstGeom>
          <a:solidFill>
            <a:srgbClr val="0B1F3A"/>
          </a:solidFill>
          <a:ln w="12700">
            <a:solidFill>
              <a:srgbClr val="0B1F3A"/>
            </a:solidFill>
            <a:prstDash val="solid"/>
          </a:ln>
        </p:spPr>
      </p:sp>
      <p:pic>
        <p:nvPicPr>
          <p:cNvPr id="49" name="Image 0" descr="preencoded.png"/>
          <p:cNvPicPr>
            <a:picLocks noChangeAspect="1"/>
          </p:cNvPicPr>
          <p:nvPr/>
        </p:nvPicPr>
        <p:blipFill>
          <a:blip r:embed="rId3"/>
          <a:stretch>
            <a:fillRect/>
          </a:stretch>
        </p:blipFill>
        <p:spPr>
          <a:xfrm>
            <a:off x="948690" y="4149090"/>
            <a:ext cx="251460" cy="251460"/>
          </a:xfrm>
          <a:prstGeom prst="rect">
            <a:avLst/>
          </a:prstGeom>
        </p:spPr>
      </p:pic>
      <p:sp>
        <p:nvSpPr>
          <p:cNvPr id="50" name="Text 47"/>
          <p:cNvSpPr txBox="1"/>
          <p:nvPr/>
        </p:nvSpPr>
        <p:spPr>
          <a:xfrm>
            <a:off x="1508760" y="4023360"/>
            <a:ext cx="4754880" cy="50292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AI understands </a:t>
            </a:r>
            <a:r>
              <a:rPr lang="en-US" sz="1500" dirty="0">
                <a:solidFill>
                  <a:srgbClr val="0B1F3A"/>
                </a:solidFill>
                <a:latin typeface="Calibri" pitchFamily="34" charset="0"/>
                <a:ea typeface="Calibri" pitchFamily="34" charset="-122"/>
                <a:cs typeface="Calibri" pitchFamily="34" charset="-120"/>
              </a:rPr>
              <a:t>the request</a:t>
            </a:r>
            <a:endParaRPr lang="en-US" sz="1500" dirty="0"/>
          </a:p>
        </p:txBody>
      </p:sp>
      <p:sp>
        <p:nvSpPr>
          <p:cNvPr id="51" name="Shape 48"/>
          <p:cNvSpPr/>
          <p:nvPr/>
        </p:nvSpPr>
        <p:spPr>
          <a:xfrm>
            <a:off x="822960" y="4736592"/>
            <a:ext cx="502920" cy="502920"/>
          </a:xfrm>
          <a:prstGeom prst="ellipse">
            <a:avLst/>
          </a:prstGeom>
          <a:solidFill>
            <a:srgbClr val="0B1F3A"/>
          </a:solidFill>
          <a:ln w="12700">
            <a:solidFill>
              <a:srgbClr val="0B1F3A"/>
            </a:solidFill>
            <a:prstDash val="solid"/>
          </a:ln>
        </p:spPr>
      </p:sp>
      <p:pic>
        <p:nvPicPr>
          <p:cNvPr id="52" name="Image 1" descr="preencoded.png"/>
          <p:cNvPicPr>
            <a:picLocks noChangeAspect="1"/>
          </p:cNvPicPr>
          <p:nvPr/>
        </p:nvPicPr>
        <p:blipFill>
          <a:blip r:embed="rId4"/>
          <a:stretch>
            <a:fillRect/>
          </a:stretch>
        </p:blipFill>
        <p:spPr>
          <a:xfrm>
            <a:off x="948690" y="4862322"/>
            <a:ext cx="251460" cy="251460"/>
          </a:xfrm>
          <a:prstGeom prst="rect">
            <a:avLst/>
          </a:prstGeom>
        </p:spPr>
      </p:pic>
      <p:sp>
        <p:nvSpPr>
          <p:cNvPr id="53" name="Text 49"/>
          <p:cNvSpPr txBox="1"/>
          <p:nvPr/>
        </p:nvSpPr>
        <p:spPr>
          <a:xfrm>
            <a:off x="1508760" y="4736592"/>
            <a:ext cx="4754880" cy="50292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Backend controls </a:t>
            </a:r>
            <a:r>
              <a:rPr lang="en-US" sz="1500" dirty="0">
                <a:solidFill>
                  <a:srgbClr val="0B1F3A"/>
                </a:solidFill>
                <a:latin typeface="Calibri" pitchFamily="34" charset="0"/>
                <a:ea typeface="Calibri" pitchFamily="34" charset="-122"/>
                <a:cs typeface="Calibri" pitchFamily="34" charset="-120"/>
              </a:rPr>
              <a:t>the business logic</a:t>
            </a:r>
            <a:endParaRPr lang="en-US" sz="1500" dirty="0"/>
          </a:p>
        </p:txBody>
      </p:sp>
      <p:sp>
        <p:nvSpPr>
          <p:cNvPr id="54" name="Shape 50"/>
          <p:cNvSpPr/>
          <p:nvPr/>
        </p:nvSpPr>
        <p:spPr>
          <a:xfrm>
            <a:off x="822960" y="5449824"/>
            <a:ext cx="502920" cy="502920"/>
          </a:xfrm>
          <a:prstGeom prst="ellipse">
            <a:avLst/>
          </a:prstGeom>
          <a:solidFill>
            <a:srgbClr val="0B1F3A"/>
          </a:solidFill>
          <a:ln w="12700">
            <a:solidFill>
              <a:srgbClr val="0B1F3A"/>
            </a:solidFill>
            <a:prstDash val="solid"/>
          </a:ln>
        </p:spPr>
      </p:sp>
      <p:pic>
        <p:nvPicPr>
          <p:cNvPr id="55" name="Image 2" descr="preencoded.png"/>
          <p:cNvPicPr>
            <a:picLocks noChangeAspect="1"/>
          </p:cNvPicPr>
          <p:nvPr/>
        </p:nvPicPr>
        <p:blipFill>
          <a:blip r:embed="rId5"/>
          <a:stretch>
            <a:fillRect/>
          </a:stretch>
        </p:blipFill>
        <p:spPr>
          <a:xfrm>
            <a:off x="948690" y="5575554"/>
            <a:ext cx="251460" cy="251460"/>
          </a:xfrm>
          <a:prstGeom prst="rect">
            <a:avLst/>
          </a:prstGeom>
        </p:spPr>
      </p:pic>
      <p:sp>
        <p:nvSpPr>
          <p:cNvPr id="56" name="Text 51"/>
          <p:cNvSpPr txBox="1"/>
          <p:nvPr/>
        </p:nvSpPr>
        <p:spPr>
          <a:xfrm>
            <a:off x="1508760" y="5449824"/>
            <a:ext cx="4754880" cy="502920"/>
          </a:xfrm>
          <a:prstGeom prst="rect">
            <a:avLst/>
          </a:prstGeom>
          <a:noFill/>
          <a:ln/>
        </p:spPr>
        <p:txBody>
          <a:bodyPr wrap="square" lIns="0" tIns="0" rIns="0" bIns="0" rtlCol="0" anchor="ctr"/>
          <a:lstStyle/>
          <a:p>
            <a:pPr marL="0" indent="0">
              <a:buNone/>
            </a:pPr>
            <a:r>
              <a:rPr lang="en-US" sz="1500" b="1" dirty="0">
                <a:solidFill>
                  <a:srgbClr val="0B1F3A"/>
                </a:solidFill>
                <a:latin typeface="Calibri" pitchFamily="34" charset="0"/>
                <a:ea typeface="Calibri" pitchFamily="34" charset="-122"/>
                <a:cs typeface="Calibri" pitchFamily="34" charset="-120"/>
              </a:rPr>
              <a:t>Database stores </a:t>
            </a:r>
            <a:r>
              <a:rPr lang="en-US" sz="1500" dirty="0">
                <a:solidFill>
                  <a:srgbClr val="0B1F3A"/>
                </a:solidFill>
                <a:latin typeface="Calibri" pitchFamily="34" charset="0"/>
                <a:ea typeface="Calibri" pitchFamily="34" charset="-122"/>
                <a:cs typeface="Calibri" pitchFamily="34" charset="-120"/>
              </a:rPr>
              <a:t>the actual business data</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VOICE &amp; AI PROCESSING</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How Voice Becomes an Inventory Action</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48640" y="1609344"/>
            <a:ext cx="502920" cy="502920"/>
          </a:xfrm>
          <a:prstGeom prst="ellipse">
            <a:avLst/>
          </a:prstGeom>
          <a:solidFill>
            <a:srgbClr val="F5A623"/>
          </a:solidFill>
          <a:ln w="12700">
            <a:solidFill>
              <a:srgbClr val="F5A623"/>
            </a:solidFill>
            <a:prstDash val="solid"/>
          </a:ln>
        </p:spPr>
      </p:sp>
      <p:sp>
        <p:nvSpPr>
          <p:cNvPr id="7" name="Text 5"/>
          <p:cNvSpPr txBox="1"/>
          <p:nvPr/>
        </p:nvSpPr>
        <p:spPr>
          <a:xfrm>
            <a:off x="548640" y="1609344"/>
            <a:ext cx="502920" cy="50292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280160" y="1554480"/>
            <a:ext cx="5852160" cy="32004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Voice Input</a:t>
            </a:r>
            <a:endParaRPr lang="en-US" sz="1600" dirty="0"/>
          </a:p>
        </p:txBody>
      </p:sp>
      <p:sp>
        <p:nvSpPr>
          <p:cNvPr id="9" name="Text 7"/>
          <p:cNvSpPr txBox="1"/>
          <p:nvPr/>
        </p:nvSpPr>
        <p:spPr>
          <a:xfrm>
            <a:off x="1280160" y="1856232"/>
            <a:ext cx="5852160" cy="320040"/>
          </a:xfrm>
          <a:prstGeom prst="rect">
            <a:avLst/>
          </a:prstGeom>
          <a:noFill/>
          <a:ln/>
        </p:spPr>
        <p:txBody>
          <a:bodyPr wrap="square" lIns="0" tIns="0" rIns="0" bIns="0" rtlCol="0" anchor="t"/>
          <a:lstStyle/>
          <a:p>
            <a:pPr marL="0" indent="0">
              <a:buNone/>
            </a:pPr>
            <a:r>
              <a:rPr lang="en-US" sz="1350" dirty="0">
                <a:solidFill>
                  <a:srgbClr val="55657F"/>
                </a:solidFill>
                <a:latin typeface="Calibri" pitchFamily="34" charset="0"/>
                <a:ea typeface="Calibri" pitchFamily="34" charset="-122"/>
                <a:cs typeface="Calibri" pitchFamily="34" charset="-120"/>
              </a:rPr>
              <a:t>“5 bags rice add cheyyi.”</a:t>
            </a:r>
            <a:endParaRPr lang="en-US" sz="1350" dirty="0"/>
          </a:p>
        </p:txBody>
      </p:sp>
      <p:sp>
        <p:nvSpPr>
          <p:cNvPr id="10" name="Shape 8"/>
          <p:cNvSpPr/>
          <p:nvPr/>
        </p:nvSpPr>
        <p:spPr>
          <a:xfrm>
            <a:off x="548640" y="2395728"/>
            <a:ext cx="502920" cy="502920"/>
          </a:xfrm>
          <a:prstGeom prst="ellipse">
            <a:avLst/>
          </a:prstGeom>
          <a:solidFill>
            <a:srgbClr val="F5A623"/>
          </a:solidFill>
          <a:ln w="12700">
            <a:solidFill>
              <a:srgbClr val="F5A623"/>
            </a:solidFill>
            <a:prstDash val="solid"/>
          </a:ln>
        </p:spPr>
      </p:sp>
      <p:sp>
        <p:nvSpPr>
          <p:cNvPr id="11" name="Text 9"/>
          <p:cNvSpPr txBox="1"/>
          <p:nvPr/>
        </p:nvSpPr>
        <p:spPr>
          <a:xfrm>
            <a:off x="548640" y="2395728"/>
            <a:ext cx="502920" cy="50292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280160" y="2340864"/>
            <a:ext cx="5852160" cy="32004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Speech Recognition</a:t>
            </a:r>
            <a:endParaRPr lang="en-US" sz="1600" dirty="0"/>
          </a:p>
        </p:txBody>
      </p:sp>
      <p:sp>
        <p:nvSpPr>
          <p:cNvPr id="13" name="Text 11"/>
          <p:cNvSpPr txBox="1"/>
          <p:nvPr/>
        </p:nvSpPr>
        <p:spPr>
          <a:xfrm>
            <a:off x="1280160" y="2642616"/>
            <a:ext cx="5852160" cy="320040"/>
          </a:xfrm>
          <a:prstGeom prst="rect">
            <a:avLst/>
          </a:prstGeom>
          <a:noFill/>
          <a:ln/>
        </p:spPr>
        <p:txBody>
          <a:bodyPr wrap="square" lIns="0" tIns="0" rIns="0" bIns="0" rtlCol="0" anchor="t"/>
          <a:lstStyle/>
          <a:p>
            <a:pPr marL="0" indent="0">
              <a:buNone/>
            </a:pPr>
            <a:r>
              <a:rPr lang="en-US" sz="1350" dirty="0">
                <a:solidFill>
                  <a:srgbClr val="55657F"/>
                </a:solidFill>
                <a:latin typeface="Calibri" pitchFamily="34" charset="0"/>
                <a:ea typeface="Calibri" pitchFamily="34" charset="-122"/>
                <a:cs typeface="Calibri" pitchFamily="34" charset="-120"/>
              </a:rPr>
              <a:t>Voice is converted into text.</a:t>
            </a:r>
            <a:endParaRPr lang="en-US" sz="1350" dirty="0"/>
          </a:p>
        </p:txBody>
      </p:sp>
      <p:sp>
        <p:nvSpPr>
          <p:cNvPr id="14" name="Shape 12"/>
          <p:cNvSpPr/>
          <p:nvPr/>
        </p:nvSpPr>
        <p:spPr>
          <a:xfrm>
            <a:off x="548640" y="3182112"/>
            <a:ext cx="502920" cy="502920"/>
          </a:xfrm>
          <a:prstGeom prst="ellipse">
            <a:avLst/>
          </a:prstGeom>
          <a:solidFill>
            <a:srgbClr val="F5A623"/>
          </a:solidFill>
          <a:ln w="12700">
            <a:solidFill>
              <a:srgbClr val="F5A623"/>
            </a:solidFill>
            <a:prstDash val="solid"/>
          </a:ln>
        </p:spPr>
      </p:sp>
      <p:sp>
        <p:nvSpPr>
          <p:cNvPr id="15" name="Text 13"/>
          <p:cNvSpPr txBox="1"/>
          <p:nvPr/>
        </p:nvSpPr>
        <p:spPr>
          <a:xfrm>
            <a:off x="548640" y="3182112"/>
            <a:ext cx="502920" cy="50292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1280160" y="3127248"/>
            <a:ext cx="5852160" cy="32004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NLP / LLM Understanding</a:t>
            </a:r>
            <a:endParaRPr lang="en-US" sz="1600" dirty="0"/>
          </a:p>
        </p:txBody>
      </p:sp>
      <p:sp>
        <p:nvSpPr>
          <p:cNvPr id="17" name="Text 15"/>
          <p:cNvSpPr txBox="1"/>
          <p:nvPr/>
        </p:nvSpPr>
        <p:spPr>
          <a:xfrm>
            <a:off x="1280160" y="3429000"/>
            <a:ext cx="5852160" cy="320040"/>
          </a:xfrm>
          <a:prstGeom prst="rect">
            <a:avLst/>
          </a:prstGeom>
          <a:noFill/>
          <a:ln/>
        </p:spPr>
        <p:txBody>
          <a:bodyPr wrap="square" lIns="0" tIns="0" rIns="0" bIns="0" rtlCol="0" anchor="t"/>
          <a:lstStyle/>
          <a:p>
            <a:pPr marL="0" indent="0">
              <a:buNone/>
            </a:pPr>
            <a:r>
              <a:rPr lang="en-US" sz="1350" dirty="0">
                <a:solidFill>
                  <a:srgbClr val="55657F"/>
                </a:solidFill>
                <a:latin typeface="Calibri" pitchFamily="34" charset="0"/>
                <a:ea typeface="Calibri" pitchFamily="34" charset="-122"/>
                <a:cs typeface="Calibri" pitchFamily="34" charset="-120"/>
              </a:rPr>
              <a:t>Identifies intent, product, quantity, unit and price.</a:t>
            </a:r>
            <a:endParaRPr lang="en-US" sz="1350" dirty="0"/>
          </a:p>
        </p:txBody>
      </p:sp>
      <p:sp>
        <p:nvSpPr>
          <p:cNvPr id="18" name="Shape 16"/>
          <p:cNvSpPr/>
          <p:nvPr/>
        </p:nvSpPr>
        <p:spPr>
          <a:xfrm>
            <a:off x="548640" y="3968496"/>
            <a:ext cx="502920" cy="502920"/>
          </a:xfrm>
          <a:prstGeom prst="ellipse">
            <a:avLst/>
          </a:prstGeom>
          <a:solidFill>
            <a:srgbClr val="F5A623"/>
          </a:solidFill>
          <a:ln w="12700">
            <a:solidFill>
              <a:srgbClr val="F5A623"/>
            </a:solidFill>
            <a:prstDash val="solid"/>
          </a:ln>
        </p:spPr>
      </p:sp>
      <p:sp>
        <p:nvSpPr>
          <p:cNvPr id="19" name="Text 17"/>
          <p:cNvSpPr txBox="1"/>
          <p:nvPr/>
        </p:nvSpPr>
        <p:spPr>
          <a:xfrm>
            <a:off x="548640" y="3968496"/>
            <a:ext cx="502920" cy="50292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4</a:t>
            </a:r>
            <a:endParaRPr lang="en-US" sz="1600" dirty="0"/>
          </a:p>
        </p:txBody>
      </p:sp>
      <p:sp>
        <p:nvSpPr>
          <p:cNvPr id="20" name="Text 18"/>
          <p:cNvSpPr txBox="1"/>
          <p:nvPr/>
        </p:nvSpPr>
        <p:spPr>
          <a:xfrm>
            <a:off x="1280160" y="3913632"/>
            <a:ext cx="5852160" cy="32004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Validation</a:t>
            </a:r>
            <a:endParaRPr lang="en-US" sz="1600" dirty="0"/>
          </a:p>
        </p:txBody>
      </p:sp>
      <p:sp>
        <p:nvSpPr>
          <p:cNvPr id="21" name="Text 19"/>
          <p:cNvSpPr txBox="1"/>
          <p:nvPr/>
        </p:nvSpPr>
        <p:spPr>
          <a:xfrm>
            <a:off x="1280160" y="4215384"/>
            <a:ext cx="5852160" cy="320040"/>
          </a:xfrm>
          <a:prstGeom prst="rect">
            <a:avLst/>
          </a:prstGeom>
          <a:noFill/>
          <a:ln/>
        </p:spPr>
        <p:txBody>
          <a:bodyPr wrap="square" lIns="0" tIns="0" rIns="0" bIns="0" rtlCol="0" anchor="t"/>
          <a:lstStyle/>
          <a:p>
            <a:pPr marL="0" indent="0">
              <a:buNone/>
            </a:pPr>
            <a:r>
              <a:rPr lang="en-US" sz="1350" dirty="0">
                <a:solidFill>
                  <a:srgbClr val="55657F"/>
                </a:solidFill>
                <a:latin typeface="Calibri" pitchFamily="34" charset="0"/>
                <a:ea typeface="Calibri" pitchFamily="34" charset="-122"/>
                <a:cs typeface="Calibri" pitchFamily="34" charset="-120"/>
              </a:rPr>
              <a:t>Checks the required information is available and valid.</a:t>
            </a:r>
            <a:endParaRPr lang="en-US" sz="1350" dirty="0"/>
          </a:p>
        </p:txBody>
      </p:sp>
      <p:sp>
        <p:nvSpPr>
          <p:cNvPr id="22" name="Shape 20"/>
          <p:cNvSpPr/>
          <p:nvPr/>
        </p:nvSpPr>
        <p:spPr>
          <a:xfrm>
            <a:off x="548640" y="4754880"/>
            <a:ext cx="502920" cy="502920"/>
          </a:xfrm>
          <a:prstGeom prst="ellipse">
            <a:avLst/>
          </a:prstGeom>
          <a:solidFill>
            <a:srgbClr val="F5A623"/>
          </a:solidFill>
          <a:ln w="12700">
            <a:solidFill>
              <a:srgbClr val="F5A623"/>
            </a:solidFill>
            <a:prstDash val="solid"/>
          </a:ln>
        </p:spPr>
      </p:sp>
      <p:sp>
        <p:nvSpPr>
          <p:cNvPr id="23" name="Text 21"/>
          <p:cNvSpPr txBox="1"/>
          <p:nvPr/>
        </p:nvSpPr>
        <p:spPr>
          <a:xfrm>
            <a:off x="548640" y="4754880"/>
            <a:ext cx="502920" cy="50292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5</a:t>
            </a:r>
            <a:endParaRPr lang="en-US" sz="1600" dirty="0"/>
          </a:p>
        </p:txBody>
      </p:sp>
      <p:sp>
        <p:nvSpPr>
          <p:cNvPr id="24" name="Text 22"/>
          <p:cNvSpPr txBox="1"/>
          <p:nvPr/>
        </p:nvSpPr>
        <p:spPr>
          <a:xfrm>
            <a:off x="1280160" y="4700016"/>
            <a:ext cx="5852160" cy="32004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Confirmation</a:t>
            </a:r>
            <a:endParaRPr lang="en-US" sz="1600" dirty="0"/>
          </a:p>
        </p:txBody>
      </p:sp>
      <p:sp>
        <p:nvSpPr>
          <p:cNvPr id="25" name="Text 23"/>
          <p:cNvSpPr txBox="1"/>
          <p:nvPr/>
        </p:nvSpPr>
        <p:spPr>
          <a:xfrm>
            <a:off x="1280160" y="5001768"/>
            <a:ext cx="5852160" cy="320040"/>
          </a:xfrm>
          <a:prstGeom prst="rect">
            <a:avLst/>
          </a:prstGeom>
          <a:noFill/>
          <a:ln/>
        </p:spPr>
        <p:txBody>
          <a:bodyPr wrap="square" lIns="0" tIns="0" rIns="0" bIns="0" rtlCol="0" anchor="t"/>
          <a:lstStyle/>
          <a:p>
            <a:pPr marL="0" indent="0">
              <a:buNone/>
            </a:pPr>
            <a:r>
              <a:rPr lang="en-US" sz="1350" dirty="0">
                <a:solidFill>
                  <a:srgbClr val="55657F"/>
                </a:solidFill>
                <a:latin typeface="Calibri" pitchFamily="34" charset="0"/>
                <a:ea typeface="Calibri" pitchFamily="34" charset="-122"/>
                <a:cs typeface="Calibri" pitchFamily="34" charset="-120"/>
              </a:rPr>
              <a:t>“Add 5 bags of Rice. Confirm?”</a:t>
            </a:r>
            <a:endParaRPr lang="en-US" sz="1350" dirty="0"/>
          </a:p>
        </p:txBody>
      </p:sp>
      <p:sp>
        <p:nvSpPr>
          <p:cNvPr id="26" name="Shape 24"/>
          <p:cNvSpPr/>
          <p:nvPr/>
        </p:nvSpPr>
        <p:spPr>
          <a:xfrm>
            <a:off x="548640" y="5541264"/>
            <a:ext cx="502920" cy="502920"/>
          </a:xfrm>
          <a:prstGeom prst="ellipse">
            <a:avLst/>
          </a:prstGeom>
          <a:solidFill>
            <a:srgbClr val="F5A623"/>
          </a:solidFill>
          <a:ln w="12700">
            <a:solidFill>
              <a:srgbClr val="F5A623"/>
            </a:solidFill>
            <a:prstDash val="solid"/>
          </a:ln>
        </p:spPr>
      </p:sp>
      <p:sp>
        <p:nvSpPr>
          <p:cNvPr id="27" name="Text 25"/>
          <p:cNvSpPr txBox="1"/>
          <p:nvPr/>
        </p:nvSpPr>
        <p:spPr>
          <a:xfrm>
            <a:off x="548640" y="5541264"/>
            <a:ext cx="502920" cy="50292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6</a:t>
            </a:r>
            <a:endParaRPr lang="en-US" sz="1600" dirty="0"/>
          </a:p>
        </p:txBody>
      </p:sp>
      <p:sp>
        <p:nvSpPr>
          <p:cNvPr id="28" name="Text 26"/>
          <p:cNvSpPr txBox="1"/>
          <p:nvPr/>
        </p:nvSpPr>
        <p:spPr>
          <a:xfrm>
            <a:off x="1280160" y="5486400"/>
            <a:ext cx="5852160" cy="320040"/>
          </a:xfrm>
          <a:prstGeom prst="rect">
            <a:avLst/>
          </a:prstGeom>
          <a:noFill/>
          <a:ln/>
        </p:spPr>
        <p:txBody>
          <a:bodyPr wrap="square" lIns="0" tIns="0" rIns="0" bIns="0" rtlCol="0" anchor="t"/>
          <a:lstStyle/>
          <a:p>
            <a:pPr marL="0" indent="0">
              <a:buNone/>
            </a:pPr>
            <a:r>
              <a:rPr lang="en-US" sz="1600" b="1" dirty="0">
                <a:solidFill>
                  <a:srgbClr val="0B1F3A"/>
                </a:solidFill>
                <a:latin typeface="Calibri" pitchFamily="34" charset="0"/>
                <a:ea typeface="Calibri" pitchFamily="34" charset="-122"/>
                <a:cs typeface="Calibri" pitchFamily="34" charset="-120"/>
              </a:rPr>
              <a:t>Backend Processing</a:t>
            </a:r>
            <a:endParaRPr lang="en-US" sz="1600" dirty="0"/>
          </a:p>
        </p:txBody>
      </p:sp>
      <p:sp>
        <p:nvSpPr>
          <p:cNvPr id="29" name="Text 27"/>
          <p:cNvSpPr txBox="1"/>
          <p:nvPr/>
        </p:nvSpPr>
        <p:spPr>
          <a:xfrm>
            <a:off x="1280160" y="5788152"/>
            <a:ext cx="5852160" cy="320040"/>
          </a:xfrm>
          <a:prstGeom prst="rect">
            <a:avLst/>
          </a:prstGeom>
          <a:noFill/>
          <a:ln/>
        </p:spPr>
        <p:txBody>
          <a:bodyPr wrap="square" lIns="0" tIns="0" rIns="0" bIns="0" rtlCol="0" anchor="t"/>
          <a:lstStyle/>
          <a:p>
            <a:pPr marL="0" indent="0">
              <a:buNone/>
            </a:pPr>
            <a:r>
              <a:rPr lang="en-US" sz="1350" dirty="0">
                <a:solidFill>
                  <a:srgbClr val="55657F"/>
                </a:solidFill>
                <a:latin typeface="Calibri" pitchFamily="34" charset="0"/>
                <a:ea typeface="Calibri" pitchFamily="34" charset="-122"/>
                <a:cs typeface="Calibri" pitchFamily="34" charset="-120"/>
              </a:rPr>
              <a:t>After confirmation, the backend updates the inventory.</a:t>
            </a:r>
            <a:endParaRPr lang="en-US" sz="1350" dirty="0"/>
          </a:p>
        </p:txBody>
      </p:sp>
      <p:sp>
        <p:nvSpPr>
          <p:cNvPr id="30" name="Shape 28"/>
          <p:cNvSpPr/>
          <p:nvPr/>
        </p:nvSpPr>
        <p:spPr>
          <a:xfrm>
            <a:off x="7589520" y="1554480"/>
            <a:ext cx="4050792" cy="2926080"/>
          </a:xfrm>
          <a:prstGeom prst="roundRect">
            <a:avLst>
              <a:gd name="adj" fmla="val 2500"/>
            </a:avLst>
          </a:prstGeom>
          <a:solidFill>
            <a:srgbClr val="F1F4F9"/>
          </a:solidFill>
          <a:ln w="12700">
            <a:solidFill>
              <a:srgbClr val="F1F4F9"/>
            </a:solidFill>
            <a:prstDash val="solid"/>
          </a:ln>
        </p:spPr>
      </p:sp>
      <p:sp>
        <p:nvSpPr>
          <p:cNvPr id="31" name="Text 29"/>
          <p:cNvSpPr txBox="1"/>
          <p:nvPr/>
        </p:nvSpPr>
        <p:spPr>
          <a:xfrm>
            <a:off x="7863840" y="1691640"/>
            <a:ext cx="3566160" cy="274320"/>
          </a:xfrm>
          <a:prstGeom prst="rect">
            <a:avLst/>
          </a:prstGeom>
          <a:noFill/>
          <a:ln/>
        </p:spPr>
        <p:txBody>
          <a:bodyPr wrap="square" lIns="0" tIns="0" rIns="0" bIns="0" rtlCol="0" anchor="t"/>
          <a:lstStyle/>
          <a:p>
            <a:pPr marL="0" indent="0">
              <a:buNone/>
            </a:pPr>
            <a:r>
              <a:rPr lang="en-US" sz="1200" b="1" kern="0" spc="200" dirty="0">
                <a:solidFill>
                  <a:srgbClr val="F5A623"/>
                </a:solidFill>
                <a:latin typeface="Calibri" pitchFamily="34" charset="0"/>
                <a:ea typeface="Calibri" pitchFamily="34" charset="-122"/>
                <a:cs typeface="Calibri" pitchFamily="34" charset="-120"/>
              </a:rPr>
              <a:t>WHAT THE SYSTEM EXTRACTS</a:t>
            </a:r>
            <a:endParaRPr lang="en-US" sz="1200" dirty="0"/>
          </a:p>
        </p:txBody>
      </p:sp>
      <p:sp>
        <p:nvSpPr>
          <p:cNvPr id="32" name="Text 30"/>
          <p:cNvSpPr txBox="1"/>
          <p:nvPr/>
        </p:nvSpPr>
        <p:spPr>
          <a:xfrm>
            <a:off x="7863840" y="2148840"/>
            <a:ext cx="1371600" cy="365760"/>
          </a:xfrm>
          <a:prstGeom prst="rect">
            <a:avLst/>
          </a:prstGeom>
          <a:noFill/>
          <a:ln/>
        </p:spPr>
        <p:txBody>
          <a:bodyPr wrap="square" lIns="0" tIns="0" rIns="0" bIns="0" rtlCol="0" anchor="ctr"/>
          <a:lstStyle/>
          <a:p>
            <a:pPr marL="0" indent="0">
              <a:buNone/>
            </a:pPr>
            <a:r>
              <a:rPr lang="en-US" sz="1300" dirty="0">
                <a:solidFill>
                  <a:srgbClr val="55657F"/>
                </a:solidFill>
                <a:latin typeface="Courier New" pitchFamily="34" charset="0"/>
                <a:ea typeface="Courier New" pitchFamily="34" charset="-122"/>
                <a:cs typeface="Courier New" pitchFamily="34" charset="-120"/>
              </a:rPr>
              <a:t>Intent</a:t>
            </a:r>
            <a:endParaRPr lang="en-US" sz="1300" dirty="0"/>
          </a:p>
        </p:txBody>
      </p:sp>
      <p:sp>
        <p:nvSpPr>
          <p:cNvPr id="33" name="Text 31"/>
          <p:cNvSpPr txBox="1"/>
          <p:nvPr/>
        </p:nvSpPr>
        <p:spPr>
          <a:xfrm>
            <a:off x="9326880" y="2148840"/>
            <a:ext cx="2103120" cy="365760"/>
          </a:xfrm>
          <a:prstGeom prst="rect">
            <a:avLst/>
          </a:prstGeom>
          <a:noFill/>
          <a:ln/>
        </p:spPr>
        <p:txBody>
          <a:bodyPr wrap="square" lIns="0" tIns="0" rIns="0" bIns="0" rtlCol="0" anchor="ctr"/>
          <a:lstStyle/>
          <a:p>
            <a:pPr marL="0" indent="0">
              <a:buNone/>
            </a:pPr>
            <a:r>
              <a:rPr lang="en-US" sz="1400" b="1" dirty="0">
                <a:solidFill>
                  <a:srgbClr val="0B1F3A"/>
                </a:solidFill>
                <a:latin typeface="Courier New" pitchFamily="34" charset="0"/>
                <a:ea typeface="Courier New" pitchFamily="34" charset="-122"/>
                <a:cs typeface="Courier New" pitchFamily="34" charset="-120"/>
              </a:rPr>
              <a:t>ADD_STOCK</a:t>
            </a:r>
            <a:endParaRPr lang="en-US" sz="1400" dirty="0"/>
          </a:p>
        </p:txBody>
      </p:sp>
      <p:sp>
        <p:nvSpPr>
          <p:cNvPr id="34" name="Text 32"/>
          <p:cNvSpPr txBox="1"/>
          <p:nvPr/>
        </p:nvSpPr>
        <p:spPr>
          <a:xfrm>
            <a:off x="7863840" y="2606040"/>
            <a:ext cx="1371600" cy="365760"/>
          </a:xfrm>
          <a:prstGeom prst="rect">
            <a:avLst/>
          </a:prstGeom>
          <a:noFill/>
          <a:ln/>
        </p:spPr>
        <p:txBody>
          <a:bodyPr wrap="square" lIns="0" tIns="0" rIns="0" bIns="0" rtlCol="0" anchor="ctr"/>
          <a:lstStyle/>
          <a:p>
            <a:pPr marL="0" indent="0">
              <a:buNone/>
            </a:pPr>
            <a:r>
              <a:rPr lang="en-US" sz="1300" dirty="0">
                <a:solidFill>
                  <a:srgbClr val="55657F"/>
                </a:solidFill>
                <a:latin typeface="Courier New" pitchFamily="34" charset="0"/>
                <a:ea typeface="Courier New" pitchFamily="34" charset="-122"/>
                <a:cs typeface="Courier New" pitchFamily="34" charset="-120"/>
              </a:rPr>
              <a:t>Product</a:t>
            </a:r>
            <a:endParaRPr lang="en-US" sz="1300" dirty="0"/>
          </a:p>
        </p:txBody>
      </p:sp>
      <p:sp>
        <p:nvSpPr>
          <p:cNvPr id="35" name="Text 33"/>
          <p:cNvSpPr txBox="1"/>
          <p:nvPr/>
        </p:nvSpPr>
        <p:spPr>
          <a:xfrm>
            <a:off x="9326880" y="2606040"/>
            <a:ext cx="2103120" cy="365760"/>
          </a:xfrm>
          <a:prstGeom prst="rect">
            <a:avLst/>
          </a:prstGeom>
          <a:noFill/>
          <a:ln/>
        </p:spPr>
        <p:txBody>
          <a:bodyPr wrap="square" lIns="0" tIns="0" rIns="0" bIns="0" rtlCol="0" anchor="ctr"/>
          <a:lstStyle/>
          <a:p>
            <a:pPr marL="0" indent="0">
              <a:buNone/>
            </a:pPr>
            <a:r>
              <a:rPr lang="en-US" sz="1400" b="1" dirty="0">
                <a:solidFill>
                  <a:srgbClr val="0B1F3A"/>
                </a:solidFill>
                <a:latin typeface="Courier New" pitchFamily="34" charset="0"/>
                <a:ea typeface="Courier New" pitchFamily="34" charset="-122"/>
                <a:cs typeface="Courier New" pitchFamily="34" charset="-120"/>
              </a:rPr>
              <a:t>Rice</a:t>
            </a:r>
            <a:endParaRPr lang="en-US" sz="1400" dirty="0"/>
          </a:p>
        </p:txBody>
      </p:sp>
      <p:sp>
        <p:nvSpPr>
          <p:cNvPr id="36" name="Text 34"/>
          <p:cNvSpPr txBox="1"/>
          <p:nvPr/>
        </p:nvSpPr>
        <p:spPr>
          <a:xfrm>
            <a:off x="7863840" y="3063240"/>
            <a:ext cx="1371600" cy="365760"/>
          </a:xfrm>
          <a:prstGeom prst="rect">
            <a:avLst/>
          </a:prstGeom>
          <a:noFill/>
          <a:ln/>
        </p:spPr>
        <p:txBody>
          <a:bodyPr wrap="square" lIns="0" tIns="0" rIns="0" bIns="0" rtlCol="0" anchor="ctr"/>
          <a:lstStyle/>
          <a:p>
            <a:pPr marL="0" indent="0">
              <a:buNone/>
            </a:pPr>
            <a:r>
              <a:rPr lang="en-US" sz="1300" dirty="0">
                <a:solidFill>
                  <a:srgbClr val="55657F"/>
                </a:solidFill>
                <a:latin typeface="Courier New" pitchFamily="34" charset="0"/>
                <a:ea typeface="Courier New" pitchFamily="34" charset="-122"/>
                <a:cs typeface="Courier New" pitchFamily="34" charset="-120"/>
              </a:rPr>
              <a:t>Quantity</a:t>
            </a:r>
            <a:endParaRPr lang="en-US" sz="1300" dirty="0"/>
          </a:p>
        </p:txBody>
      </p:sp>
      <p:sp>
        <p:nvSpPr>
          <p:cNvPr id="37" name="Text 35"/>
          <p:cNvSpPr txBox="1"/>
          <p:nvPr/>
        </p:nvSpPr>
        <p:spPr>
          <a:xfrm>
            <a:off x="9326880" y="3063240"/>
            <a:ext cx="2103120" cy="365760"/>
          </a:xfrm>
          <a:prstGeom prst="rect">
            <a:avLst/>
          </a:prstGeom>
          <a:noFill/>
          <a:ln/>
        </p:spPr>
        <p:txBody>
          <a:bodyPr wrap="square" lIns="0" tIns="0" rIns="0" bIns="0" rtlCol="0" anchor="ctr"/>
          <a:lstStyle/>
          <a:p>
            <a:pPr marL="0" indent="0">
              <a:buNone/>
            </a:pPr>
            <a:r>
              <a:rPr lang="en-US" sz="1400" b="1" dirty="0">
                <a:solidFill>
                  <a:srgbClr val="0B1F3A"/>
                </a:solidFill>
                <a:latin typeface="Courier New" pitchFamily="34" charset="0"/>
                <a:ea typeface="Courier New" pitchFamily="34" charset="-122"/>
                <a:cs typeface="Courier New" pitchFamily="34" charset="-120"/>
              </a:rPr>
              <a:t>5</a:t>
            </a:r>
            <a:endParaRPr lang="en-US" sz="1400" dirty="0"/>
          </a:p>
        </p:txBody>
      </p:sp>
      <p:sp>
        <p:nvSpPr>
          <p:cNvPr id="38" name="Text 36"/>
          <p:cNvSpPr txBox="1"/>
          <p:nvPr/>
        </p:nvSpPr>
        <p:spPr>
          <a:xfrm>
            <a:off x="7863840" y="3520440"/>
            <a:ext cx="1371600" cy="365760"/>
          </a:xfrm>
          <a:prstGeom prst="rect">
            <a:avLst/>
          </a:prstGeom>
          <a:noFill/>
          <a:ln/>
        </p:spPr>
        <p:txBody>
          <a:bodyPr wrap="square" lIns="0" tIns="0" rIns="0" bIns="0" rtlCol="0" anchor="ctr"/>
          <a:lstStyle/>
          <a:p>
            <a:pPr marL="0" indent="0">
              <a:buNone/>
            </a:pPr>
            <a:r>
              <a:rPr lang="en-US" sz="1300" dirty="0">
                <a:solidFill>
                  <a:srgbClr val="55657F"/>
                </a:solidFill>
                <a:latin typeface="Courier New" pitchFamily="34" charset="0"/>
                <a:ea typeface="Courier New" pitchFamily="34" charset="-122"/>
                <a:cs typeface="Courier New" pitchFamily="34" charset="-120"/>
              </a:rPr>
              <a:t>Unit</a:t>
            </a:r>
            <a:endParaRPr lang="en-US" sz="1300" dirty="0"/>
          </a:p>
        </p:txBody>
      </p:sp>
      <p:sp>
        <p:nvSpPr>
          <p:cNvPr id="39" name="Text 37"/>
          <p:cNvSpPr txBox="1"/>
          <p:nvPr/>
        </p:nvSpPr>
        <p:spPr>
          <a:xfrm>
            <a:off x="9326880" y="3520440"/>
            <a:ext cx="2103120" cy="365760"/>
          </a:xfrm>
          <a:prstGeom prst="rect">
            <a:avLst/>
          </a:prstGeom>
          <a:noFill/>
          <a:ln/>
        </p:spPr>
        <p:txBody>
          <a:bodyPr wrap="square" lIns="0" tIns="0" rIns="0" bIns="0" rtlCol="0" anchor="ctr"/>
          <a:lstStyle/>
          <a:p>
            <a:pPr marL="0" indent="0">
              <a:buNone/>
            </a:pPr>
            <a:r>
              <a:rPr lang="en-US" sz="1400" b="1" dirty="0">
                <a:solidFill>
                  <a:srgbClr val="0B1F3A"/>
                </a:solidFill>
                <a:latin typeface="Courier New" pitchFamily="34" charset="0"/>
                <a:ea typeface="Courier New" pitchFamily="34" charset="-122"/>
                <a:cs typeface="Courier New" pitchFamily="34" charset="-120"/>
              </a:rPr>
              <a:t>Bags</a:t>
            </a:r>
            <a:endParaRPr lang="en-US" sz="1400" dirty="0"/>
          </a:p>
        </p:txBody>
      </p:sp>
      <p:sp>
        <p:nvSpPr>
          <p:cNvPr id="40" name="Text 38"/>
          <p:cNvSpPr txBox="1"/>
          <p:nvPr/>
        </p:nvSpPr>
        <p:spPr>
          <a:xfrm>
            <a:off x="7863840" y="3977640"/>
            <a:ext cx="1371600" cy="365760"/>
          </a:xfrm>
          <a:prstGeom prst="rect">
            <a:avLst/>
          </a:prstGeom>
          <a:noFill/>
          <a:ln/>
        </p:spPr>
        <p:txBody>
          <a:bodyPr wrap="square" lIns="0" tIns="0" rIns="0" bIns="0" rtlCol="0" anchor="ctr"/>
          <a:lstStyle/>
          <a:p>
            <a:pPr marL="0" indent="0">
              <a:buNone/>
            </a:pPr>
            <a:r>
              <a:rPr lang="en-US" sz="1300" dirty="0">
                <a:solidFill>
                  <a:srgbClr val="55657F"/>
                </a:solidFill>
                <a:latin typeface="Courier New" pitchFamily="34" charset="0"/>
                <a:ea typeface="Courier New" pitchFamily="34" charset="-122"/>
                <a:cs typeface="Courier New" pitchFamily="34" charset="-120"/>
              </a:rPr>
              <a:t>Price</a:t>
            </a:r>
            <a:endParaRPr lang="en-US" sz="1300" dirty="0"/>
          </a:p>
        </p:txBody>
      </p:sp>
      <p:sp>
        <p:nvSpPr>
          <p:cNvPr id="41" name="Text 39"/>
          <p:cNvSpPr txBox="1"/>
          <p:nvPr/>
        </p:nvSpPr>
        <p:spPr>
          <a:xfrm>
            <a:off x="9326880" y="3977640"/>
            <a:ext cx="2103120" cy="365760"/>
          </a:xfrm>
          <a:prstGeom prst="rect">
            <a:avLst/>
          </a:prstGeom>
          <a:noFill/>
          <a:ln/>
        </p:spPr>
        <p:txBody>
          <a:bodyPr wrap="square" lIns="0" tIns="0" rIns="0" bIns="0" rtlCol="0" anchor="ctr"/>
          <a:lstStyle/>
          <a:p>
            <a:pPr marL="0" indent="0">
              <a:buNone/>
            </a:pPr>
            <a:r>
              <a:rPr lang="en-US" sz="1400" b="1" dirty="0">
                <a:solidFill>
                  <a:srgbClr val="0B1F3A"/>
                </a:solidFill>
                <a:latin typeface="Courier New" pitchFamily="34" charset="0"/>
                <a:ea typeface="Courier New" pitchFamily="34" charset="-122"/>
                <a:cs typeface="Courier New" pitchFamily="34" charset="-120"/>
              </a:rPr>
              <a:t>Not provided</a:t>
            </a:r>
            <a:endParaRPr lang="en-US" sz="1400" dirty="0"/>
          </a:p>
        </p:txBody>
      </p:sp>
      <p:sp>
        <p:nvSpPr>
          <p:cNvPr id="42" name="Shape 40"/>
          <p:cNvSpPr/>
          <p:nvPr/>
        </p:nvSpPr>
        <p:spPr>
          <a:xfrm>
            <a:off x="7589520" y="4709160"/>
            <a:ext cx="4050792" cy="1554480"/>
          </a:xfrm>
          <a:prstGeom prst="roundRect">
            <a:avLst>
              <a:gd name="adj" fmla="val 4706"/>
            </a:avLst>
          </a:prstGeom>
          <a:solidFill>
            <a:srgbClr val="0B1F3A"/>
          </a:solidFill>
          <a:ln w="12700">
            <a:solidFill>
              <a:srgbClr val="0B1F3A"/>
            </a:solidFill>
            <a:prstDash val="solid"/>
          </a:ln>
        </p:spPr>
      </p:sp>
      <p:sp>
        <p:nvSpPr>
          <p:cNvPr id="43" name="Text 41"/>
          <p:cNvSpPr txBox="1"/>
          <p:nvPr/>
        </p:nvSpPr>
        <p:spPr>
          <a:xfrm>
            <a:off x="7863840" y="4846320"/>
            <a:ext cx="3566160" cy="274320"/>
          </a:xfrm>
          <a:prstGeom prst="rect">
            <a:avLst/>
          </a:prstGeom>
          <a:noFill/>
          <a:ln/>
        </p:spPr>
        <p:txBody>
          <a:bodyPr wrap="square" lIns="0" tIns="0" rIns="0" bIns="0" rtlCol="0" anchor="t"/>
          <a:lstStyle/>
          <a:p>
            <a:pPr marL="0" indent="0">
              <a:buNone/>
            </a:pPr>
            <a:r>
              <a:rPr lang="en-US" sz="1200" b="1" kern="0" spc="200" dirty="0">
                <a:solidFill>
                  <a:srgbClr val="F5A623"/>
                </a:solidFill>
                <a:latin typeface="Calibri" pitchFamily="34" charset="0"/>
                <a:ea typeface="Calibri" pitchFamily="34" charset="-122"/>
                <a:cs typeface="Calibri" pitchFamily="34" charset="-120"/>
              </a:rPr>
              <a:t>IMPORTANT DESIGN DECISION</a:t>
            </a:r>
            <a:endParaRPr lang="en-US" sz="1200" dirty="0"/>
          </a:p>
        </p:txBody>
      </p:sp>
      <p:sp>
        <p:nvSpPr>
          <p:cNvPr id="44" name="Text 42"/>
          <p:cNvSpPr txBox="1"/>
          <p:nvPr/>
        </p:nvSpPr>
        <p:spPr>
          <a:xfrm>
            <a:off x="7863840" y="5212080"/>
            <a:ext cx="3520440" cy="960120"/>
          </a:xfrm>
          <a:prstGeom prst="rect">
            <a:avLst/>
          </a:prstGeom>
          <a:noFill/>
          <a:ln/>
        </p:spPr>
        <p:txBody>
          <a:bodyPr wrap="square" lIns="0" tIns="0" rIns="0" bIns="0" rtlCol="0" anchor="t"/>
          <a:lstStyle/>
          <a:p>
            <a:pPr marL="0" indent="0">
              <a:buNone/>
            </a:pPr>
            <a:r>
              <a:rPr lang="en-US" sz="1550" dirty="0">
                <a:solidFill>
                  <a:srgbClr val="FFFFFF"/>
                </a:solidFill>
                <a:latin typeface="Calibri" pitchFamily="34" charset="0"/>
                <a:ea typeface="Calibri" pitchFamily="34" charset="-122"/>
                <a:cs typeface="Calibri" pitchFamily="34" charset="-120"/>
              </a:rPr>
              <a:t>The LLM does not directly access or modify the inventory database.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INVENTORY &amp; TRANSACTION MANAGEMENT</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Managing Stock in Real Time</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9</a:t>
            </a:r>
            <a:endParaRPr lang="en-US" sz="1000" dirty="0"/>
          </a:p>
        </p:txBody>
      </p:sp>
      <p:sp>
        <p:nvSpPr>
          <p:cNvPr id="6" name="Shape 4"/>
          <p:cNvSpPr/>
          <p:nvPr/>
        </p:nvSpPr>
        <p:spPr>
          <a:xfrm>
            <a:off x="548640" y="1554480"/>
            <a:ext cx="3291840" cy="4663440"/>
          </a:xfrm>
          <a:prstGeom prst="roundRect">
            <a:avLst>
              <a:gd name="adj" fmla="val 2222"/>
            </a:avLst>
          </a:prstGeom>
          <a:solidFill>
            <a:srgbClr val="F1F4F9"/>
          </a:solidFill>
          <a:ln w="12700">
            <a:solidFill>
              <a:srgbClr val="F1F4F9"/>
            </a:solidFill>
            <a:prstDash val="solid"/>
          </a:ln>
        </p:spPr>
      </p:sp>
      <p:sp>
        <p:nvSpPr>
          <p:cNvPr id="7" name="Text 5"/>
          <p:cNvSpPr txBox="1"/>
          <p:nvPr/>
        </p:nvSpPr>
        <p:spPr>
          <a:xfrm>
            <a:off x="777240" y="1691640"/>
            <a:ext cx="2926080" cy="365760"/>
          </a:xfrm>
          <a:prstGeom prst="rect">
            <a:avLst/>
          </a:prstGeom>
          <a:noFill/>
          <a:ln/>
        </p:spPr>
        <p:txBody>
          <a:bodyPr wrap="square" lIns="0" tIns="0" rIns="0" bIns="0" rtlCol="0" anchor="t"/>
          <a:lstStyle/>
          <a:p>
            <a:pPr marL="0" indent="0">
              <a:buNone/>
            </a:pPr>
            <a:r>
              <a:rPr lang="en-US" sz="1700" b="1" dirty="0">
                <a:solidFill>
                  <a:srgbClr val="0B1F3A"/>
                </a:solidFill>
                <a:latin typeface="Cambria" pitchFamily="34" charset="0"/>
                <a:ea typeface="Cambria" pitchFamily="34" charset="-122"/>
                <a:cs typeface="Cambria" pitchFamily="34" charset="-120"/>
              </a:rPr>
              <a:t>Product information</a:t>
            </a:r>
            <a:endParaRPr lang="en-US" sz="1700" dirty="0"/>
          </a:p>
        </p:txBody>
      </p:sp>
      <p:sp>
        <p:nvSpPr>
          <p:cNvPr id="8" name="Text 6"/>
          <p:cNvSpPr txBox="1"/>
          <p:nvPr/>
        </p:nvSpPr>
        <p:spPr>
          <a:xfrm>
            <a:off x="777240" y="2286000"/>
            <a:ext cx="2834640" cy="36576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Product name</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Category</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Unit</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Current quantity</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Price</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Minimum stock level</a:t>
            </a:r>
            <a:endParaRPr lang="en-US" sz="1600" dirty="0"/>
          </a:p>
          <a:p>
            <a:pPr marL="177800" indent="-177800">
              <a:spcAft>
                <a:spcPts val="1600"/>
              </a:spcAft>
              <a:buSzPct val="100000"/>
              <a:buChar char="•"/>
            </a:pPr>
            <a:r>
              <a:rPr lang="en-US" sz="1600" dirty="0">
                <a:solidFill>
                  <a:srgbClr val="0B1F3A"/>
                </a:solidFill>
                <a:latin typeface="Calibri" pitchFamily="34" charset="0"/>
                <a:ea typeface="Calibri" pitchFamily="34" charset="-122"/>
                <a:cs typeface="Calibri" pitchFamily="34" charset="-120"/>
              </a:rPr>
              <a:t>Supplier information</a:t>
            </a:r>
            <a:endParaRPr lang="en-US" sz="1600" dirty="0"/>
          </a:p>
        </p:txBody>
      </p:sp>
      <p:sp>
        <p:nvSpPr>
          <p:cNvPr id="9" name="Shape 7"/>
          <p:cNvSpPr/>
          <p:nvPr/>
        </p:nvSpPr>
        <p:spPr>
          <a:xfrm>
            <a:off x="4114800" y="1554480"/>
            <a:ext cx="3931920" cy="2240280"/>
          </a:xfrm>
          <a:prstGeom prst="roundRect">
            <a:avLst>
              <a:gd name="adj" fmla="val 3265"/>
            </a:avLst>
          </a:prstGeom>
          <a:solidFill>
            <a:srgbClr val="F1F4F9"/>
          </a:solidFill>
          <a:ln w="12700">
            <a:solidFill>
              <a:srgbClr val="F1F4F9"/>
            </a:solidFill>
            <a:prstDash val="solid"/>
          </a:ln>
        </p:spPr>
      </p:sp>
      <p:sp>
        <p:nvSpPr>
          <p:cNvPr id="10" name="Text 8"/>
          <p:cNvSpPr txBox="1"/>
          <p:nvPr/>
        </p:nvSpPr>
        <p:spPr>
          <a:xfrm>
            <a:off x="4343400" y="1691640"/>
            <a:ext cx="3566160" cy="365760"/>
          </a:xfrm>
          <a:prstGeom prst="rect">
            <a:avLst/>
          </a:prstGeom>
          <a:noFill/>
          <a:ln/>
        </p:spPr>
        <p:txBody>
          <a:bodyPr wrap="square" lIns="0" tIns="0" rIns="0" bIns="0" rtlCol="0" anchor="t"/>
          <a:lstStyle/>
          <a:p>
            <a:pPr marL="0" indent="0">
              <a:buNone/>
            </a:pPr>
            <a:r>
              <a:rPr lang="en-US" sz="1600" b="1" dirty="0">
                <a:solidFill>
                  <a:srgbClr val="1F8A5B"/>
                </a:solidFill>
                <a:latin typeface="Calibri" pitchFamily="34" charset="0"/>
                <a:ea typeface="Calibri" pitchFamily="34" charset="-122"/>
                <a:cs typeface="Calibri" pitchFamily="34" charset="-120"/>
              </a:rPr>
              <a:t>Stock IN – goods received</a:t>
            </a:r>
            <a:endParaRPr lang="en-US" sz="1600" dirty="0"/>
          </a:p>
        </p:txBody>
      </p:sp>
      <p:sp>
        <p:nvSpPr>
          <p:cNvPr id="11" name="Text 9"/>
          <p:cNvSpPr txBox="1"/>
          <p:nvPr/>
        </p:nvSpPr>
        <p:spPr>
          <a:xfrm>
            <a:off x="4297680" y="2286000"/>
            <a:ext cx="1097280" cy="640080"/>
          </a:xfrm>
          <a:prstGeom prst="rect">
            <a:avLst/>
          </a:prstGeom>
          <a:noFill/>
          <a:ln/>
        </p:spPr>
        <p:txBody>
          <a:bodyPr wrap="square" lIns="0" tIns="0" rIns="0" bIns="0" rtlCol="0" anchor="t"/>
          <a:lstStyle/>
          <a:p>
            <a:pPr marL="0" indent="0" algn="ctr">
              <a:buNone/>
            </a:pPr>
            <a:r>
              <a:rPr lang="en-US" sz="3600" b="1" dirty="0">
                <a:solidFill>
                  <a:srgbClr val="0B1F3A"/>
                </a:solidFill>
                <a:latin typeface="Cambria" pitchFamily="34" charset="0"/>
                <a:ea typeface="Cambria" pitchFamily="34" charset="-122"/>
                <a:cs typeface="Cambria" pitchFamily="34" charset="-120"/>
              </a:rPr>
              <a:t>20</a:t>
            </a:r>
            <a:endParaRPr lang="en-US" sz="3600" dirty="0"/>
          </a:p>
        </p:txBody>
      </p:sp>
      <p:sp>
        <p:nvSpPr>
          <p:cNvPr id="12" name="Text 10"/>
          <p:cNvSpPr txBox="1"/>
          <p:nvPr/>
        </p:nvSpPr>
        <p:spPr>
          <a:xfrm>
            <a:off x="4297680" y="2971800"/>
            <a:ext cx="1097280" cy="274320"/>
          </a:xfrm>
          <a:prstGeom prst="rect">
            <a:avLst/>
          </a:prstGeom>
          <a:noFill/>
          <a:ln/>
        </p:spPr>
        <p:txBody>
          <a:bodyPr wrap="square" lIns="0" tIns="0" rIns="0" bIns="0" rtlCol="0" anchor="t"/>
          <a:lstStyle/>
          <a:p>
            <a:pPr marL="0" indent="0" algn="ctr">
              <a:buNone/>
            </a:pPr>
            <a:r>
              <a:rPr lang="en-US" sz="1150" dirty="0">
                <a:solidFill>
                  <a:srgbClr val="55657F"/>
                </a:solidFill>
                <a:latin typeface="Calibri" pitchFamily="34" charset="0"/>
                <a:ea typeface="Calibri" pitchFamily="34" charset="-122"/>
                <a:cs typeface="Calibri" pitchFamily="34" charset="-120"/>
              </a:rPr>
              <a:t>Previous stock</a:t>
            </a:r>
            <a:endParaRPr lang="en-US" sz="1150" dirty="0"/>
          </a:p>
        </p:txBody>
      </p:sp>
      <p:sp>
        <p:nvSpPr>
          <p:cNvPr id="13" name="Text 11"/>
          <p:cNvSpPr txBox="1"/>
          <p:nvPr/>
        </p:nvSpPr>
        <p:spPr>
          <a:xfrm>
            <a:off x="5577840" y="2286000"/>
            <a:ext cx="1097280" cy="640080"/>
          </a:xfrm>
          <a:prstGeom prst="rect">
            <a:avLst/>
          </a:prstGeom>
          <a:noFill/>
          <a:ln/>
        </p:spPr>
        <p:txBody>
          <a:bodyPr wrap="square" lIns="0" tIns="0" rIns="0" bIns="0" rtlCol="0" anchor="t"/>
          <a:lstStyle/>
          <a:p>
            <a:pPr marL="0" indent="0" algn="ctr">
              <a:buNone/>
            </a:pPr>
            <a:r>
              <a:rPr lang="en-US" sz="3600" b="1" dirty="0">
                <a:solidFill>
                  <a:srgbClr val="1F8A5B"/>
                </a:solidFill>
                <a:latin typeface="Cambria" pitchFamily="34" charset="0"/>
                <a:ea typeface="Cambria" pitchFamily="34" charset="-122"/>
                <a:cs typeface="Cambria" pitchFamily="34" charset="-120"/>
              </a:rPr>
              <a:t>+5</a:t>
            </a:r>
            <a:endParaRPr lang="en-US" sz="3600" dirty="0"/>
          </a:p>
        </p:txBody>
      </p:sp>
      <p:sp>
        <p:nvSpPr>
          <p:cNvPr id="14" name="Text 12"/>
          <p:cNvSpPr txBox="1"/>
          <p:nvPr/>
        </p:nvSpPr>
        <p:spPr>
          <a:xfrm>
            <a:off x="5577840" y="2971800"/>
            <a:ext cx="1097280" cy="274320"/>
          </a:xfrm>
          <a:prstGeom prst="rect">
            <a:avLst/>
          </a:prstGeom>
          <a:noFill/>
          <a:ln/>
        </p:spPr>
        <p:txBody>
          <a:bodyPr wrap="square" lIns="0" tIns="0" rIns="0" bIns="0" rtlCol="0" anchor="t"/>
          <a:lstStyle/>
          <a:p>
            <a:pPr marL="0" indent="0" algn="ctr">
              <a:buNone/>
            </a:pPr>
            <a:r>
              <a:rPr lang="en-US" sz="1150" dirty="0">
                <a:solidFill>
                  <a:srgbClr val="55657F"/>
                </a:solidFill>
                <a:latin typeface="Calibri" pitchFamily="34" charset="0"/>
                <a:ea typeface="Calibri" pitchFamily="34" charset="-122"/>
                <a:cs typeface="Calibri" pitchFamily="34" charset="-120"/>
              </a:rPr>
              <a:t>Stock IN</a:t>
            </a:r>
            <a:endParaRPr lang="en-US" sz="1150" dirty="0"/>
          </a:p>
        </p:txBody>
      </p:sp>
      <p:sp>
        <p:nvSpPr>
          <p:cNvPr id="15" name="Text 13"/>
          <p:cNvSpPr txBox="1"/>
          <p:nvPr/>
        </p:nvSpPr>
        <p:spPr>
          <a:xfrm>
            <a:off x="6858000" y="2286000"/>
            <a:ext cx="1097280" cy="640080"/>
          </a:xfrm>
          <a:prstGeom prst="rect">
            <a:avLst/>
          </a:prstGeom>
          <a:noFill/>
          <a:ln/>
        </p:spPr>
        <p:txBody>
          <a:bodyPr wrap="square" lIns="0" tIns="0" rIns="0" bIns="0" rtlCol="0" anchor="t"/>
          <a:lstStyle/>
          <a:p>
            <a:pPr marL="0" indent="0" algn="ctr">
              <a:buNone/>
            </a:pPr>
            <a:r>
              <a:rPr lang="en-US" sz="3600" b="1" dirty="0">
                <a:solidFill>
                  <a:srgbClr val="0B1F3A"/>
                </a:solidFill>
                <a:latin typeface="Cambria" pitchFamily="34" charset="0"/>
                <a:ea typeface="Cambria" pitchFamily="34" charset="-122"/>
                <a:cs typeface="Cambria" pitchFamily="34" charset="-120"/>
              </a:rPr>
              <a:t>25</a:t>
            </a:r>
            <a:endParaRPr lang="en-US" sz="3600" dirty="0"/>
          </a:p>
        </p:txBody>
      </p:sp>
      <p:sp>
        <p:nvSpPr>
          <p:cNvPr id="16" name="Text 14"/>
          <p:cNvSpPr txBox="1"/>
          <p:nvPr/>
        </p:nvSpPr>
        <p:spPr>
          <a:xfrm>
            <a:off x="6858000" y="2971800"/>
            <a:ext cx="1097280" cy="274320"/>
          </a:xfrm>
          <a:prstGeom prst="rect">
            <a:avLst/>
          </a:prstGeom>
          <a:noFill/>
          <a:ln/>
        </p:spPr>
        <p:txBody>
          <a:bodyPr wrap="square" lIns="0" tIns="0" rIns="0" bIns="0" rtlCol="0" anchor="t"/>
          <a:lstStyle/>
          <a:p>
            <a:pPr marL="0" indent="0" algn="ctr">
              <a:buNone/>
            </a:pPr>
            <a:r>
              <a:rPr lang="en-US" sz="1150" dirty="0">
                <a:solidFill>
                  <a:srgbClr val="55657F"/>
                </a:solidFill>
                <a:latin typeface="Calibri" pitchFamily="34" charset="0"/>
                <a:ea typeface="Calibri" pitchFamily="34" charset="-122"/>
                <a:cs typeface="Calibri" pitchFamily="34" charset="-120"/>
              </a:rPr>
              <a:t>New stock</a:t>
            </a:r>
            <a:endParaRPr lang="en-US" sz="1150" dirty="0"/>
          </a:p>
        </p:txBody>
      </p:sp>
      <p:sp>
        <p:nvSpPr>
          <p:cNvPr id="17" name="Text 15"/>
          <p:cNvSpPr txBox="1"/>
          <p:nvPr/>
        </p:nvSpPr>
        <p:spPr>
          <a:xfrm>
            <a:off x="4343400" y="3383280"/>
            <a:ext cx="3474720" cy="274320"/>
          </a:xfrm>
          <a:prstGeom prst="rect">
            <a:avLst/>
          </a:prstGeom>
          <a:noFill/>
          <a:ln/>
        </p:spPr>
        <p:txBody>
          <a:bodyPr wrap="square" lIns="0" tIns="0" rIns="0" bIns="0" rtlCol="0" anchor="t"/>
          <a:lstStyle/>
          <a:p>
            <a:pPr marL="0" indent="0" algn="ctr">
              <a:buNone/>
            </a:pPr>
            <a:r>
              <a:rPr lang="en-US" sz="1200" dirty="0">
                <a:solidFill>
                  <a:srgbClr val="55657F"/>
                </a:solidFill>
                <a:latin typeface="Calibri" pitchFamily="34" charset="0"/>
                <a:ea typeface="Calibri" pitchFamily="34" charset="-122"/>
                <a:cs typeface="Calibri" pitchFamily="34" charset="-120"/>
              </a:rPr>
              <a:t>Bags</a:t>
            </a:r>
            <a:endParaRPr lang="en-US" sz="1200" dirty="0"/>
          </a:p>
        </p:txBody>
      </p:sp>
      <p:sp>
        <p:nvSpPr>
          <p:cNvPr id="18" name="Shape 16"/>
          <p:cNvSpPr/>
          <p:nvPr/>
        </p:nvSpPr>
        <p:spPr>
          <a:xfrm>
            <a:off x="4114800" y="3977640"/>
            <a:ext cx="3931920" cy="2240280"/>
          </a:xfrm>
          <a:prstGeom prst="roundRect">
            <a:avLst>
              <a:gd name="adj" fmla="val 3265"/>
            </a:avLst>
          </a:prstGeom>
          <a:solidFill>
            <a:srgbClr val="F1F4F9"/>
          </a:solidFill>
          <a:ln w="12700">
            <a:solidFill>
              <a:srgbClr val="F1F4F9"/>
            </a:solidFill>
            <a:prstDash val="solid"/>
          </a:ln>
        </p:spPr>
      </p:sp>
      <p:sp>
        <p:nvSpPr>
          <p:cNvPr id="19" name="Text 17"/>
          <p:cNvSpPr txBox="1"/>
          <p:nvPr/>
        </p:nvSpPr>
        <p:spPr>
          <a:xfrm>
            <a:off x="4343400" y="4114800"/>
            <a:ext cx="3566160" cy="365760"/>
          </a:xfrm>
          <a:prstGeom prst="rect">
            <a:avLst/>
          </a:prstGeom>
          <a:noFill/>
          <a:ln/>
        </p:spPr>
        <p:txBody>
          <a:bodyPr wrap="square" lIns="0" tIns="0" rIns="0" bIns="0" rtlCol="0" anchor="t"/>
          <a:lstStyle/>
          <a:p>
            <a:pPr marL="0" indent="0">
              <a:buNone/>
            </a:pPr>
            <a:r>
              <a:rPr lang="en-US" sz="1600" b="1" dirty="0">
                <a:solidFill>
                  <a:srgbClr val="C2410C"/>
                </a:solidFill>
                <a:latin typeface="Calibri" pitchFamily="34" charset="0"/>
                <a:ea typeface="Calibri" pitchFamily="34" charset="-122"/>
                <a:cs typeface="Calibri" pitchFamily="34" charset="-120"/>
              </a:rPr>
              <a:t>Stock OUT – sold or removed</a:t>
            </a:r>
            <a:endParaRPr lang="en-US" sz="1600" dirty="0"/>
          </a:p>
        </p:txBody>
      </p:sp>
      <p:sp>
        <p:nvSpPr>
          <p:cNvPr id="20" name="Text 18"/>
          <p:cNvSpPr txBox="1"/>
          <p:nvPr/>
        </p:nvSpPr>
        <p:spPr>
          <a:xfrm>
            <a:off x="4297680" y="4709160"/>
            <a:ext cx="1097280" cy="640080"/>
          </a:xfrm>
          <a:prstGeom prst="rect">
            <a:avLst/>
          </a:prstGeom>
          <a:noFill/>
          <a:ln/>
        </p:spPr>
        <p:txBody>
          <a:bodyPr wrap="square" lIns="0" tIns="0" rIns="0" bIns="0" rtlCol="0" anchor="t"/>
          <a:lstStyle/>
          <a:p>
            <a:pPr marL="0" indent="0" algn="ctr">
              <a:buNone/>
            </a:pPr>
            <a:r>
              <a:rPr lang="en-US" sz="3600" b="1" dirty="0">
                <a:solidFill>
                  <a:srgbClr val="0B1F3A"/>
                </a:solidFill>
                <a:latin typeface="Cambria" pitchFamily="34" charset="0"/>
                <a:ea typeface="Cambria" pitchFamily="34" charset="-122"/>
                <a:cs typeface="Cambria" pitchFamily="34" charset="-120"/>
              </a:rPr>
              <a:t>25</a:t>
            </a:r>
            <a:endParaRPr lang="en-US" sz="3600" dirty="0"/>
          </a:p>
        </p:txBody>
      </p:sp>
      <p:sp>
        <p:nvSpPr>
          <p:cNvPr id="21" name="Text 19"/>
          <p:cNvSpPr txBox="1"/>
          <p:nvPr/>
        </p:nvSpPr>
        <p:spPr>
          <a:xfrm>
            <a:off x="4297680" y="5394960"/>
            <a:ext cx="1097280" cy="274320"/>
          </a:xfrm>
          <a:prstGeom prst="rect">
            <a:avLst/>
          </a:prstGeom>
          <a:noFill/>
          <a:ln/>
        </p:spPr>
        <p:txBody>
          <a:bodyPr wrap="square" lIns="0" tIns="0" rIns="0" bIns="0" rtlCol="0" anchor="t"/>
          <a:lstStyle/>
          <a:p>
            <a:pPr marL="0" indent="0" algn="ctr">
              <a:buNone/>
            </a:pPr>
            <a:r>
              <a:rPr lang="en-US" sz="1150" dirty="0">
                <a:solidFill>
                  <a:srgbClr val="55657F"/>
                </a:solidFill>
                <a:latin typeface="Calibri" pitchFamily="34" charset="0"/>
                <a:ea typeface="Calibri" pitchFamily="34" charset="-122"/>
                <a:cs typeface="Calibri" pitchFamily="34" charset="-120"/>
              </a:rPr>
              <a:t>Previous stock</a:t>
            </a:r>
            <a:endParaRPr lang="en-US" sz="1150" dirty="0"/>
          </a:p>
        </p:txBody>
      </p:sp>
      <p:sp>
        <p:nvSpPr>
          <p:cNvPr id="22" name="Text 20"/>
          <p:cNvSpPr txBox="1"/>
          <p:nvPr/>
        </p:nvSpPr>
        <p:spPr>
          <a:xfrm>
            <a:off x="5577840" y="4709160"/>
            <a:ext cx="1097280" cy="640080"/>
          </a:xfrm>
          <a:prstGeom prst="rect">
            <a:avLst/>
          </a:prstGeom>
          <a:noFill/>
          <a:ln/>
        </p:spPr>
        <p:txBody>
          <a:bodyPr wrap="square" lIns="0" tIns="0" rIns="0" bIns="0" rtlCol="0" anchor="t"/>
          <a:lstStyle/>
          <a:p>
            <a:pPr marL="0" indent="0" algn="ctr">
              <a:buNone/>
            </a:pPr>
            <a:r>
              <a:rPr lang="en-US" sz="3600" b="1" dirty="0">
                <a:solidFill>
                  <a:srgbClr val="C2410C"/>
                </a:solidFill>
                <a:latin typeface="Cambria" pitchFamily="34" charset="0"/>
                <a:ea typeface="Cambria" pitchFamily="34" charset="-122"/>
                <a:cs typeface="Cambria" pitchFamily="34" charset="-120"/>
              </a:rPr>
              <a:t>−2</a:t>
            </a:r>
            <a:endParaRPr lang="en-US" sz="3600" dirty="0"/>
          </a:p>
        </p:txBody>
      </p:sp>
      <p:sp>
        <p:nvSpPr>
          <p:cNvPr id="23" name="Text 21"/>
          <p:cNvSpPr txBox="1"/>
          <p:nvPr/>
        </p:nvSpPr>
        <p:spPr>
          <a:xfrm>
            <a:off x="5577840" y="5394960"/>
            <a:ext cx="1097280" cy="274320"/>
          </a:xfrm>
          <a:prstGeom prst="rect">
            <a:avLst/>
          </a:prstGeom>
          <a:noFill/>
          <a:ln/>
        </p:spPr>
        <p:txBody>
          <a:bodyPr wrap="square" lIns="0" tIns="0" rIns="0" bIns="0" rtlCol="0" anchor="t"/>
          <a:lstStyle/>
          <a:p>
            <a:pPr marL="0" indent="0" algn="ctr">
              <a:buNone/>
            </a:pPr>
            <a:r>
              <a:rPr lang="en-US" sz="1150" dirty="0">
                <a:solidFill>
                  <a:srgbClr val="55657F"/>
                </a:solidFill>
                <a:latin typeface="Calibri" pitchFamily="34" charset="0"/>
                <a:ea typeface="Calibri" pitchFamily="34" charset="-122"/>
                <a:cs typeface="Calibri" pitchFamily="34" charset="-120"/>
              </a:rPr>
              <a:t>Stock OUT</a:t>
            </a:r>
            <a:endParaRPr lang="en-US" sz="1150" dirty="0"/>
          </a:p>
        </p:txBody>
      </p:sp>
      <p:sp>
        <p:nvSpPr>
          <p:cNvPr id="24" name="Text 22"/>
          <p:cNvSpPr txBox="1"/>
          <p:nvPr/>
        </p:nvSpPr>
        <p:spPr>
          <a:xfrm>
            <a:off x="6858000" y="4709160"/>
            <a:ext cx="1097280" cy="640080"/>
          </a:xfrm>
          <a:prstGeom prst="rect">
            <a:avLst/>
          </a:prstGeom>
          <a:noFill/>
          <a:ln/>
        </p:spPr>
        <p:txBody>
          <a:bodyPr wrap="square" lIns="0" tIns="0" rIns="0" bIns="0" rtlCol="0" anchor="t"/>
          <a:lstStyle/>
          <a:p>
            <a:pPr marL="0" indent="0" algn="ctr">
              <a:buNone/>
            </a:pPr>
            <a:r>
              <a:rPr lang="en-US" sz="3600" b="1" dirty="0">
                <a:solidFill>
                  <a:srgbClr val="0B1F3A"/>
                </a:solidFill>
                <a:latin typeface="Cambria" pitchFamily="34" charset="0"/>
                <a:ea typeface="Cambria" pitchFamily="34" charset="-122"/>
                <a:cs typeface="Cambria" pitchFamily="34" charset="-120"/>
              </a:rPr>
              <a:t>23</a:t>
            </a:r>
            <a:endParaRPr lang="en-US" sz="3600" dirty="0"/>
          </a:p>
        </p:txBody>
      </p:sp>
      <p:sp>
        <p:nvSpPr>
          <p:cNvPr id="25" name="Text 23"/>
          <p:cNvSpPr txBox="1"/>
          <p:nvPr/>
        </p:nvSpPr>
        <p:spPr>
          <a:xfrm>
            <a:off x="6858000" y="5394960"/>
            <a:ext cx="1097280" cy="274320"/>
          </a:xfrm>
          <a:prstGeom prst="rect">
            <a:avLst/>
          </a:prstGeom>
          <a:noFill/>
          <a:ln/>
        </p:spPr>
        <p:txBody>
          <a:bodyPr wrap="square" lIns="0" tIns="0" rIns="0" bIns="0" rtlCol="0" anchor="t"/>
          <a:lstStyle/>
          <a:p>
            <a:pPr marL="0" indent="0" algn="ctr">
              <a:buNone/>
            </a:pPr>
            <a:r>
              <a:rPr lang="en-US" sz="1150" dirty="0">
                <a:solidFill>
                  <a:srgbClr val="55657F"/>
                </a:solidFill>
                <a:latin typeface="Calibri" pitchFamily="34" charset="0"/>
                <a:ea typeface="Calibri" pitchFamily="34" charset="-122"/>
                <a:cs typeface="Calibri" pitchFamily="34" charset="-120"/>
              </a:rPr>
              <a:t>New stock</a:t>
            </a:r>
            <a:endParaRPr lang="en-US" sz="1150" dirty="0"/>
          </a:p>
        </p:txBody>
      </p:sp>
      <p:sp>
        <p:nvSpPr>
          <p:cNvPr id="26" name="Text 24"/>
          <p:cNvSpPr txBox="1"/>
          <p:nvPr/>
        </p:nvSpPr>
        <p:spPr>
          <a:xfrm>
            <a:off x="4343400" y="5806440"/>
            <a:ext cx="3474720" cy="274320"/>
          </a:xfrm>
          <a:prstGeom prst="rect">
            <a:avLst/>
          </a:prstGeom>
          <a:noFill/>
          <a:ln/>
        </p:spPr>
        <p:txBody>
          <a:bodyPr wrap="square" lIns="0" tIns="0" rIns="0" bIns="0" rtlCol="0" anchor="t"/>
          <a:lstStyle/>
          <a:p>
            <a:pPr marL="0" indent="0" algn="ctr">
              <a:buNone/>
            </a:pPr>
            <a:r>
              <a:rPr lang="en-US" sz="1200" dirty="0">
                <a:solidFill>
                  <a:srgbClr val="55657F"/>
                </a:solidFill>
                <a:latin typeface="Calibri" pitchFamily="34" charset="0"/>
                <a:ea typeface="Calibri" pitchFamily="34" charset="-122"/>
                <a:cs typeface="Calibri" pitchFamily="34" charset="-120"/>
              </a:rPr>
              <a:t>Bags</a:t>
            </a:r>
            <a:endParaRPr lang="en-US" sz="1200" dirty="0"/>
          </a:p>
        </p:txBody>
      </p:sp>
      <p:sp>
        <p:nvSpPr>
          <p:cNvPr id="27" name="Shape 25"/>
          <p:cNvSpPr/>
          <p:nvPr/>
        </p:nvSpPr>
        <p:spPr>
          <a:xfrm>
            <a:off x="8321040" y="1554480"/>
            <a:ext cx="3319272" cy="4663440"/>
          </a:xfrm>
          <a:prstGeom prst="roundRect">
            <a:avLst>
              <a:gd name="adj" fmla="val 2204"/>
            </a:avLst>
          </a:prstGeom>
          <a:solidFill>
            <a:srgbClr val="0B1F3A"/>
          </a:solidFill>
          <a:ln w="12700">
            <a:solidFill>
              <a:srgbClr val="0B1F3A"/>
            </a:solidFill>
            <a:prstDash val="solid"/>
          </a:ln>
        </p:spPr>
      </p:sp>
      <p:sp>
        <p:nvSpPr>
          <p:cNvPr id="28" name="Text 26"/>
          <p:cNvSpPr txBox="1"/>
          <p:nvPr/>
        </p:nvSpPr>
        <p:spPr>
          <a:xfrm>
            <a:off x="8549640" y="1691640"/>
            <a:ext cx="292608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Every movement is recorded</a:t>
            </a:r>
            <a:endParaRPr lang="en-US" sz="1700" dirty="0"/>
          </a:p>
        </p:txBody>
      </p:sp>
      <p:sp>
        <p:nvSpPr>
          <p:cNvPr id="29" name="Text 27"/>
          <p:cNvSpPr txBox="1"/>
          <p:nvPr/>
        </p:nvSpPr>
        <p:spPr>
          <a:xfrm>
            <a:off x="8549640" y="2514600"/>
            <a:ext cx="2834640" cy="3657600"/>
          </a:xfrm>
          <a:prstGeom prst="rect">
            <a:avLst/>
          </a:prstGeom>
          <a:noFill/>
          <a:ln/>
        </p:spPr>
        <p:txBody>
          <a:bodyPr wrap="square" lIns="0" tIns="0" rIns="0" bIns="0" rtlCol="0" anchor="t"/>
          <a:lstStyle/>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Product</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Quantity</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Unit</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Action</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Date and time</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Price where applicable</a:t>
            </a:r>
            <a:endParaRPr lang="en-US" sz="1600" dirty="0"/>
          </a:p>
          <a:p>
            <a:pPr marL="177800" indent="-1778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Source of transaction</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REGIONAL LANGUAGE &amp; TRADE UNITS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Designed for the Way Local Businesses Communicate</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10</a:t>
            </a:r>
            <a:endParaRPr lang="en-US" sz="1000" dirty="0"/>
          </a:p>
        </p:txBody>
      </p:sp>
      <p:sp>
        <p:nvSpPr>
          <p:cNvPr id="6" name="Text 4"/>
          <p:cNvSpPr txBox="1"/>
          <p:nvPr/>
        </p:nvSpPr>
        <p:spPr>
          <a:xfrm>
            <a:off x="548640" y="1600200"/>
            <a:ext cx="4572000" cy="32004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Languages</a:t>
            </a:r>
            <a:endParaRPr lang="en-US" sz="1800" dirty="0"/>
          </a:p>
        </p:txBody>
      </p:sp>
      <p:sp>
        <p:nvSpPr>
          <p:cNvPr id="7" name="Shape 5"/>
          <p:cNvSpPr/>
          <p:nvPr/>
        </p:nvSpPr>
        <p:spPr>
          <a:xfrm>
            <a:off x="548640" y="2057400"/>
            <a:ext cx="1280160" cy="411480"/>
          </a:xfrm>
          <a:prstGeom prst="roundRect">
            <a:avLst>
              <a:gd name="adj" fmla="val 48889"/>
            </a:avLst>
          </a:prstGeom>
          <a:solidFill>
            <a:srgbClr val="0B1F3A"/>
          </a:solidFill>
          <a:ln w="12700">
            <a:solidFill>
              <a:srgbClr val="0B1F3A"/>
            </a:solidFill>
            <a:prstDash val="solid"/>
          </a:ln>
        </p:spPr>
      </p:sp>
      <p:sp>
        <p:nvSpPr>
          <p:cNvPr id="8" name="Text 6"/>
          <p:cNvSpPr txBox="1"/>
          <p:nvPr/>
        </p:nvSpPr>
        <p:spPr>
          <a:xfrm>
            <a:off x="548640" y="2057400"/>
            <a:ext cx="128016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English</a:t>
            </a:r>
            <a:endParaRPr lang="en-US" sz="1300" dirty="0"/>
          </a:p>
        </p:txBody>
      </p:sp>
      <p:sp>
        <p:nvSpPr>
          <p:cNvPr id="9" name="Shape 7"/>
          <p:cNvSpPr/>
          <p:nvPr/>
        </p:nvSpPr>
        <p:spPr>
          <a:xfrm>
            <a:off x="1965960" y="2057400"/>
            <a:ext cx="1920240" cy="411480"/>
          </a:xfrm>
          <a:prstGeom prst="roundRect">
            <a:avLst>
              <a:gd name="adj" fmla="val 48889"/>
            </a:avLst>
          </a:prstGeom>
          <a:solidFill>
            <a:srgbClr val="0B1F3A"/>
          </a:solidFill>
          <a:ln w="12700">
            <a:solidFill>
              <a:srgbClr val="0B1F3A"/>
            </a:solidFill>
            <a:prstDash val="solid"/>
          </a:ln>
        </p:spPr>
      </p:sp>
      <p:sp>
        <p:nvSpPr>
          <p:cNvPr id="10" name="Text 8"/>
          <p:cNvSpPr txBox="1"/>
          <p:nvPr/>
        </p:nvSpPr>
        <p:spPr>
          <a:xfrm>
            <a:off x="1965960" y="2057400"/>
            <a:ext cx="192024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Regional languages</a:t>
            </a:r>
            <a:endParaRPr lang="en-US" sz="1300" dirty="0"/>
          </a:p>
        </p:txBody>
      </p:sp>
      <p:sp>
        <p:nvSpPr>
          <p:cNvPr id="11" name="Shape 9"/>
          <p:cNvSpPr/>
          <p:nvPr/>
        </p:nvSpPr>
        <p:spPr>
          <a:xfrm>
            <a:off x="4023360" y="2057400"/>
            <a:ext cx="2103120" cy="411480"/>
          </a:xfrm>
          <a:prstGeom prst="roundRect">
            <a:avLst>
              <a:gd name="adj" fmla="val 48889"/>
            </a:avLst>
          </a:prstGeom>
          <a:solidFill>
            <a:srgbClr val="0B1F3A"/>
          </a:solidFill>
          <a:ln w="12700">
            <a:solidFill>
              <a:srgbClr val="0B1F3A"/>
            </a:solidFill>
            <a:prstDash val="solid"/>
          </a:ln>
        </p:spPr>
      </p:sp>
      <p:sp>
        <p:nvSpPr>
          <p:cNvPr id="12" name="Text 10"/>
          <p:cNvSpPr txBox="1"/>
          <p:nvPr/>
        </p:nvSpPr>
        <p:spPr>
          <a:xfrm>
            <a:off x="4023360" y="2057400"/>
            <a:ext cx="210312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Mixed-language speech</a:t>
            </a:r>
            <a:endParaRPr lang="en-US" sz="1300" dirty="0"/>
          </a:p>
        </p:txBody>
      </p:sp>
      <p:sp>
        <p:nvSpPr>
          <p:cNvPr id="13" name="Shape 11"/>
          <p:cNvSpPr/>
          <p:nvPr/>
        </p:nvSpPr>
        <p:spPr>
          <a:xfrm>
            <a:off x="548640" y="2743200"/>
            <a:ext cx="5577840" cy="2468880"/>
          </a:xfrm>
          <a:prstGeom prst="roundRect">
            <a:avLst>
              <a:gd name="adj" fmla="val 2963"/>
            </a:avLst>
          </a:prstGeom>
          <a:solidFill>
            <a:srgbClr val="F1F4F9"/>
          </a:solidFill>
          <a:ln w="12700">
            <a:solidFill>
              <a:srgbClr val="F1F4F9"/>
            </a:solidFill>
            <a:prstDash val="solid"/>
          </a:ln>
        </p:spPr>
      </p:sp>
      <p:sp>
        <p:nvSpPr>
          <p:cNvPr id="14" name="Text 12"/>
          <p:cNvSpPr txBox="1"/>
          <p:nvPr/>
        </p:nvSpPr>
        <p:spPr>
          <a:xfrm>
            <a:off x="822960" y="2926080"/>
            <a:ext cx="5029200" cy="274320"/>
          </a:xfrm>
          <a:prstGeom prst="rect">
            <a:avLst/>
          </a:prstGeom>
          <a:noFill/>
          <a:ln/>
        </p:spPr>
        <p:txBody>
          <a:bodyPr wrap="square" lIns="0" tIns="0" rIns="0" bIns="0" rtlCol="0" anchor="t"/>
          <a:lstStyle/>
          <a:p>
            <a:pPr marL="0" indent="0">
              <a:buNone/>
            </a:pPr>
            <a:r>
              <a:rPr lang="en-US" sz="1300" dirty="0">
                <a:solidFill>
                  <a:srgbClr val="55657F"/>
                </a:solidFill>
                <a:latin typeface="Calibri" pitchFamily="34" charset="0"/>
                <a:ea typeface="Calibri" pitchFamily="34" charset="-122"/>
                <a:cs typeface="Calibri" pitchFamily="34" charset="-120"/>
              </a:rPr>
              <a:t>A shopkeeper may say:</a:t>
            </a:r>
            <a:endParaRPr lang="en-US" sz="1300" dirty="0"/>
          </a:p>
        </p:txBody>
      </p:sp>
      <p:sp>
        <p:nvSpPr>
          <p:cNvPr id="15" name="Text 13"/>
          <p:cNvSpPr txBox="1"/>
          <p:nvPr/>
        </p:nvSpPr>
        <p:spPr>
          <a:xfrm>
            <a:off x="822960" y="3291840"/>
            <a:ext cx="5029200" cy="822960"/>
          </a:xfrm>
          <a:prstGeom prst="rect">
            <a:avLst/>
          </a:prstGeom>
          <a:noFill/>
          <a:ln/>
        </p:spPr>
        <p:txBody>
          <a:bodyPr wrap="square" lIns="0" tIns="0" rIns="0" bIns="0" rtlCol="0" anchor="t"/>
          <a:lstStyle/>
          <a:p>
            <a:pPr marL="0" indent="0">
              <a:buNone/>
            </a:pPr>
            <a:r>
              <a:rPr lang="en-US" sz="2800" b="1" i="1" dirty="0">
                <a:solidFill>
                  <a:srgbClr val="0B1F3A"/>
                </a:solidFill>
                <a:latin typeface="Cambria" pitchFamily="34" charset="0"/>
                <a:ea typeface="Cambria" pitchFamily="34" charset="-122"/>
                <a:cs typeface="Cambria" pitchFamily="34" charset="-120"/>
              </a:rPr>
              <a:t>“Rice 5 bags add cheyyi.”</a:t>
            </a:r>
            <a:endParaRPr lang="en-US" sz="2800" dirty="0"/>
          </a:p>
        </p:txBody>
      </p:sp>
      <p:sp>
        <p:nvSpPr>
          <p:cNvPr id="16" name="Text 14"/>
          <p:cNvSpPr txBox="1"/>
          <p:nvPr/>
        </p:nvSpPr>
        <p:spPr>
          <a:xfrm>
            <a:off x="822960" y="4206240"/>
            <a:ext cx="5029200" cy="868680"/>
          </a:xfrm>
          <a:prstGeom prst="rect">
            <a:avLst/>
          </a:prstGeom>
          <a:noFill/>
          <a:ln/>
        </p:spPr>
        <p:txBody>
          <a:bodyPr wrap="square" lIns="0" tIns="0" rIns="0" bIns="0" rtlCol="0" anchor="t"/>
          <a:lstStyle/>
          <a:p>
            <a:pPr marL="0" indent="0">
              <a:buNone/>
            </a:pPr>
            <a:r>
              <a:rPr lang="en-US" sz="1400" dirty="0">
                <a:solidFill>
                  <a:srgbClr val="0B1F3A"/>
                </a:solidFill>
                <a:latin typeface="Calibri" pitchFamily="34" charset="0"/>
                <a:ea typeface="Calibri" pitchFamily="34" charset="-122"/>
                <a:cs typeface="Calibri" pitchFamily="34" charset="-120"/>
              </a:rPr>
              <a:t>The system identifies the meaning from the complete sentence instead of requiring a fixed English command.</a:t>
            </a:r>
            <a:endParaRPr lang="en-US" sz="1400" dirty="0"/>
          </a:p>
        </p:txBody>
      </p:sp>
      <p:sp>
        <p:nvSpPr>
          <p:cNvPr id="17" name="Text 15"/>
          <p:cNvSpPr txBox="1"/>
          <p:nvPr/>
        </p:nvSpPr>
        <p:spPr>
          <a:xfrm>
            <a:off x="6492240" y="1600200"/>
            <a:ext cx="4572000" cy="32004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Trade units</a:t>
            </a:r>
            <a:endParaRPr lang="en-US" sz="1800" dirty="0"/>
          </a:p>
        </p:txBody>
      </p:sp>
      <p:sp>
        <p:nvSpPr>
          <p:cNvPr id="18" name="Shape 16"/>
          <p:cNvSpPr/>
          <p:nvPr/>
        </p:nvSpPr>
        <p:spPr>
          <a:xfrm>
            <a:off x="6492240" y="2057400"/>
            <a:ext cx="1627632" cy="914400"/>
          </a:xfrm>
          <a:prstGeom prst="roundRect">
            <a:avLst>
              <a:gd name="adj" fmla="val 8000"/>
            </a:avLst>
          </a:prstGeom>
          <a:solidFill>
            <a:srgbClr val="F1F4F9"/>
          </a:solidFill>
          <a:ln w="12700">
            <a:solidFill>
              <a:srgbClr val="F1F4F9"/>
            </a:solidFill>
            <a:prstDash val="solid"/>
          </a:ln>
        </p:spPr>
      </p:sp>
      <p:sp>
        <p:nvSpPr>
          <p:cNvPr id="19" name="Shape 17"/>
          <p:cNvSpPr/>
          <p:nvPr/>
        </p:nvSpPr>
        <p:spPr>
          <a:xfrm>
            <a:off x="6601968" y="2304288"/>
            <a:ext cx="420624" cy="420624"/>
          </a:xfrm>
          <a:prstGeom prst="ellipse">
            <a:avLst/>
          </a:prstGeom>
          <a:solidFill>
            <a:srgbClr val="F5A623"/>
          </a:solidFill>
          <a:ln w="12700">
            <a:solidFill>
              <a:srgbClr val="F5A623"/>
            </a:solidFill>
            <a:prstDash val="solid"/>
          </a:ln>
        </p:spPr>
      </p:sp>
      <p:pic>
        <p:nvPicPr>
          <p:cNvPr id="20" name="Image 0" descr="preencoded.png"/>
          <p:cNvPicPr>
            <a:picLocks noChangeAspect="1"/>
          </p:cNvPicPr>
          <p:nvPr/>
        </p:nvPicPr>
        <p:blipFill>
          <a:blip r:embed="rId3"/>
          <a:stretch>
            <a:fillRect/>
          </a:stretch>
        </p:blipFill>
        <p:spPr>
          <a:xfrm>
            <a:off x="6707124" y="2409444"/>
            <a:ext cx="210312" cy="210312"/>
          </a:xfrm>
          <a:prstGeom prst="rect">
            <a:avLst/>
          </a:prstGeom>
        </p:spPr>
      </p:pic>
      <p:sp>
        <p:nvSpPr>
          <p:cNvPr id="21" name="Text 18"/>
          <p:cNvSpPr txBox="1"/>
          <p:nvPr/>
        </p:nvSpPr>
        <p:spPr>
          <a:xfrm>
            <a:off x="7114032" y="205740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Pieces</a:t>
            </a:r>
            <a:endParaRPr lang="en-US" sz="1300" dirty="0"/>
          </a:p>
        </p:txBody>
      </p:sp>
      <p:sp>
        <p:nvSpPr>
          <p:cNvPr id="22" name="Shape 19"/>
          <p:cNvSpPr/>
          <p:nvPr/>
        </p:nvSpPr>
        <p:spPr>
          <a:xfrm>
            <a:off x="8229600" y="2057400"/>
            <a:ext cx="1627632" cy="914400"/>
          </a:xfrm>
          <a:prstGeom prst="roundRect">
            <a:avLst>
              <a:gd name="adj" fmla="val 8000"/>
            </a:avLst>
          </a:prstGeom>
          <a:solidFill>
            <a:srgbClr val="F1F4F9"/>
          </a:solidFill>
          <a:ln w="12700">
            <a:solidFill>
              <a:srgbClr val="F1F4F9"/>
            </a:solidFill>
            <a:prstDash val="solid"/>
          </a:ln>
        </p:spPr>
      </p:sp>
      <p:sp>
        <p:nvSpPr>
          <p:cNvPr id="23" name="Shape 20"/>
          <p:cNvSpPr/>
          <p:nvPr/>
        </p:nvSpPr>
        <p:spPr>
          <a:xfrm>
            <a:off x="8339328" y="2304288"/>
            <a:ext cx="420624" cy="420624"/>
          </a:xfrm>
          <a:prstGeom prst="ellipse">
            <a:avLst/>
          </a:prstGeom>
          <a:solidFill>
            <a:srgbClr val="F5A623"/>
          </a:solidFill>
          <a:ln w="12700">
            <a:solidFill>
              <a:srgbClr val="F5A623"/>
            </a:solidFill>
            <a:prstDash val="solid"/>
          </a:ln>
        </p:spPr>
      </p:sp>
      <p:pic>
        <p:nvPicPr>
          <p:cNvPr id="24" name="Image 1" descr="preencoded.png"/>
          <p:cNvPicPr>
            <a:picLocks noChangeAspect="1"/>
          </p:cNvPicPr>
          <p:nvPr/>
        </p:nvPicPr>
        <p:blipFill>
          <a:blip r:embed="rId4"/>
          <a:stretch>
            <a:fillRect/>
          </a:stretch>
        </p:blipFill>
        <p:spPr>
          <a:xfrm>
            <a:off x="8444484" y="2409444"/>
            <a:ext cx="210312" cy="210312"/>
          </a:xfrm>
          <a:prstGeom prst="rect">
            <a:avLst/>
          </a:prstGeom>
        </p:spPr>
      </p:pic>
      <p:sp>
        <p:nvSpPr>
          <p:cNvPr id="25" name="Text 21"/>
          <p:cNvSpPr txBox="1"/>
          <p:nvPr/>
        </p:nvSpPr>
        <p:spPr>
          <a:xfrm>
            <a:off x="8851392" y="205740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Grams</a:t>
            </a:r>
            <a:endParaRPr lang="en-US" sz="1300" dirty="0"/>
          </a:p>
        </p:txBody>
      </p:sp>
      <p:sp>
        <p:nvSpPr>
          <p:cNvPr id="26" name="Shape 22"/>
          <p:cNvSpPr/>
          <p:nvPr/>
        </p:nvSpPr>
        <p:spPr>
          <a:xfrm>
            <a:off x="9966960" y="2057400"/>
            <a:ext cx="1627632" cy="914400"/>
          </a:xfrm>
          <a:prstGeom prst="roundRect">
            <a:avLst>
              <a:gd name="adj" fmla="val 8000"/>
            </a:avLst>
          </a:prstGeom>
          <a:solidFill>
            <a:srgbClr val="F1F4F9"/>
          </a:solidFill>
          <a:ln w="12700">
            <a:solidFill>
              <a:srgbClr val="F1F4F9"/>
            </a:solidFill>
            <a:prstDash val="solid"/>
          </a:ln>
        </p:spPr>
      </p:sp>
      <p:sp>
        <p:nvSpPr>
          <p:cNvPr id="27" name="Shape 23"/>
          <p:cNvSpPr/>
          <p:nvPr/>
        </p:nvSpPr>
        <p:spPr>
          <a:xfrm>
            <a:off x="10076688" y="2304288"/>
            <a:ext cx="420624" cy="420624"/>
          </a:xfrm>
          <a:prstGeom prst="ellipse">
            <a:avLst/>
          </a:prstGeom>
          <a:solidFill>
            <a:srgbClr val="F5A623"/>
          </a:solidFill>
          <a:ln w="12700">
            <a:solidFill>
              <a:srgbClr val="F5A623"/>
            </a:solidFill>
            <a:prstDash val="solid"/>
          </a:ln>
        </p:spPr>
      </p:sp>
      <p:pic>
        <p:nvPicPr>
          <p:cNvPr id="28" name="Image 2" descr="preencoded.png"/>
          <p:cNvPicPr>
            <a:picLocks noChangeAspect="1"/>
          </p:cNvPicPr>
          <p:nvPr/>
        </p:nvPicPr>
        <p:blipFill>
          <a:blip r:embed="rId5"/>
          <a:stretch>
            <a:fillRect/>
          </a:stretch>
        </p:blipFill>
        <p:spPr>
          <a:xfrm>
            <a:off x="10181844" y="2409444"/>
            <a:ext cx="210312" cy="210312"/>
          </a:xfrm>
          <a:prstGeom prst="rect">
            <a:avLst/>
          </a:prstGeom>
        </p:spPr>
      </p:pic>
      <p:sp>
        <p:nvSpPr>
          <p:cNvPr id="29" name="Text 24"/>
          <p:cNvSpPr txBox="1"/>
          <p:nvPr/>
        </p:nvSpPr>
        <p:spPr>
          <a:xfrm>
            <a:off x="10588752" y="205740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Kilograms</a:t>
            </a:r>
            <a:endParaRPr lang="en-US" sz="1300" dirty="0"/>
          </a:p>
        </p:txBody>
      </p:sp>
      <p:sp>
        <p:nvSpPr>
          <p:cNvPr id="30" name="Shape 25"/>
          <p:cNvSpPr/>
          <p:nvPr/>
        </p:nvSpPr>
        <p:spPr>
          <a:xfrm>
            <a:off x="6492240" y="3108960"/>
            <a:ext cx="1627632" cy="914400"/>
          </a:xfrm>
          <a:prstGeom prst="roundRect">
            <a:avLst>
              <a:gd name="adj" fmla="val 8000"/>
            </a:avLst>
          </a:prstGeom>
          <a:solidFill>
            <a:srgbClr val="F1F4F9"/>
          </a:solidFill>
          <a:ln w="12700">
            <a:solidFill>
              <a:srgbClr val="F1F4F9"/>
            </a:solidFill>
            <a:prstDash val="solid"/>
          </a:ln>
        </p:spPr>
      </p:sp>
      <p:sp>
        <p:nvSpPr>
          <p:cNvPr id="31" name="Shape 26"/>
          <p:cNvSpPr/>
          <p:nvPr/>
        </p:nvSpPr>
        <p:spPr>
          <a:xfrm>
            <a:off x="6601968" y="3355848"/>
            <a:ext cx="420624" cy="420624"/>
          </a:xfrm>
          <a:prstGeom prst="ellipse">
            <a:avLst/>
          </a:prstGeom>
          <a:solidFill>
            <a:srgbClr val="F5A623"/>
          </a:solidFill>
          <a:ln w="12700">
            <a:solidFill>
              <a:srgbClr val="F5A623"/>
            </a:solidFill>
            <a:prstDash val="solid"/>
          </a:ln>
        </p:spPr>
      </p:sp>
      <p:pic>
        <p:nvPicPr>
          <p:cNvPr id="32" name="Image 3" descr="preencoded.png"/>
          <p:cNvPicPr>
            <a:picLocks noChangeAspect="1"/>
          </p:cNvPicPr>
          <p:nvPr/>
        </p:nvPicPr>
        <p:blipFill>
          <a:blip r:embed="rId6"/>
          <a:stretch>
            <a:fillRect/>
          </a:stretch>
        </p:blipFill>
        <p:spPr>
          <a:xfrm>
            <a:off x="6707124" y="3461004"/>
            <a:ext cx="210312" cy="210312"/>
          </a:xfrm>
          <a:prstGeom prst="rect">
            <a:avLst/>
          </a:prstGeom>
        </p:spPr>
      </p:pic>
      <p:sp>
        <p:nvSpPr>
          <p:cNvPr id="33" name="Text 27"/>
          <p:cNvSpPr txBox="1"/>
          <p:nvPr/>
        </p:nvSpPr>
        <p:spPr>
          <a:xfrm>
            <a:off x="7114032" y="310896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Litres</a:t>
            </a:r>
            <a:endParaRPr lang="en-US" sz="1300" dirty="0"/>
          </a:p>
        </p:txBody>
      </p:sp>
      <p:sp>
        <p:nvSpPr>
          <p:cNvPr id="34" name="Shape 28"/>
          <p:cNvSpPr/>
          <p:nvPr/>
        </p:nvSpPr>
        <p:spPr>
          <a:xfrm>
            <a:off x="8229600" y="3108960"/>
            <a:ext cx="1627632" cy="914400"/>
          </a:xfrm>
          <a:prstGeom prst="roundRect">
            <a:avLst>
              <a:gd name="adj" fmla="val 8000"/>
            </a:avLst>
          </a:prstGeom>
          <a:solidFill>
            <a:srgbClr val="F1F4F9"/>
          </a:solidFill>
          <a:ln w="12700">
            <a:solidFill>
              <a:srgbClr val="F1F4F9"/>
            </a:solidFill>
            <a:prstDash val="solid"/>
          </a:ln>
        </p:spPr>
      </p:sp>
      <p:sp>
        <p:nvSpPr>
          <p:cNvPr id="35" name="Shape 29"/>
          <p:cNvSpPr/>
          <p:nvPr/>
        </p:nvSpPr>
        <p:spPr>
          <a:xfrm>
            <a:off x="8339328" y="3355848"/>
            <a:ext cx="420624" cy="420624"/>
          </a:xfrm>
          <a:prstGeom prst="ellipse">
            <a:avLst/>
          </a:prstGeom>
          <a:solidFill>
            <a:srgbClr val="F5A623"/>
          </a:solidFill>
          <a:ln w="12700">
            <a:solidFill>
              <a:srgbClr val="F5A623"/>
            </a:solidFill>
            <a:prstDash val="solid"/>
          </a:ln>
        </p:spPr>
      </p:sp>
      <p:pic>
        <p:nvPicPr>
          <p:cNvPr id="36" name="Image 4" descr="preencoded.png"/>
          <p:cNvPicPr>
            <a:picLocks noChangeAspect="1"/>
          </p:cNvPicPr>
          <p:nvPr/>
        </p:nvPicPr>
        <p:blipFill>
          <a:blip r:embed="rId7"/>
          <a:stretch>
            <a:fillRect/>
          </a:stretch>
        </p:blipFill>
        <p:spPr>
          <a:xfrm>
            <a:off x="8444484" y="3461004"/>
            <a:ext cx="210312" cy="210312"/>
          </a:xfrm>
          <a:prstGeom prst="rect">
            <a:avLst/>
          </a:prstGeom>
        </p:spPr>
      </p:pic>
      <p:sp>
        <p:nvSpPr>
          <p:cNvPr id="37" name="Text 30"/>
          <p:cNvSpPr txBox="1"/>
          <p:nvPr/>
        </p:nvSpPr>
        <p:spPr>
          <a:xfrm>
            <a:off x="8851392" y="310896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Bags</a:t>
            </a:r>
            <a:endParaRPr lang="en-US" sz="1300" dirty="0"/>
          </a:p>
        </p:txBody>
      </p:sp>
      <p:sp>
        <p:nvSpPr>
          <p:cNvPr id="38" name="Shape 31"/>
          <p:cNvSpPr/>
          <p:nvPr/>
        </p:nvSpPr>
        <p:spPr>
          <a:xfrm>
            <a:off x="9966960" y="3108960"/>
            <a:ext cx="1627632" cy="914400"/>
          </a:xfrm>
          <a:prstGeom prst="roundRect">
            <a:avLst>
              <a:gd name="adj" fmla="val 8000"/>
            </a:avLst>
          </a:prstGeom>
          <a:solidFill>
            <a:srgbClr val="F1F4F9"/>
          </a:solidFill>
          <a:ln w="12700">
            <a:solidFill>
              <a:srgbClr val="F1F4F9"/>
            </a:solidFill>
            <a:prstDash val="solid"/>
          </a:ln>
        </p:spPr>
      </p:sp>
      <p:sp>
        <p:nvSpPr>
          <p:cNvPr id="39" name="Shape 32"/>
          <p:cNvSpPr/>
          <p:nvPr/>
        </p:nvSpPr>
        <p:spPr>
          <a:xfrm>
            <a:off x="10076688" y="3355848"/>
            <a:ext cx="420624" cy="420624"/>
          </a:xfrm>
          <a:prstGeom prst="ellipse">
            <a:avLst/>
          </a:prstGeom>
          <a:solidFill>
            <a:srgbClr val="F5A623"/>
          </a:solidFill>
          <a:ln w="12700">
            <a:solidFill>
              <a:srgbClr val="F5A623"/>
            </a:solidFill>
            <a:prstDash val="solid"/>
          </a:ln>
        </p:spPr>
      </p:sp>
      <p:pic>
        <p:nvPicPr>
          <p:cNvPr id="40" name="Image 5" descr="preencoded.png"/>
          <p:cNvPicPr>
            <a:picLocks noChangeAspect="1"/>
          </p:cNvPicPr>
          <p:nvPr/>
        </p:nvPicPr>
        <p:blipFill>
          <a:blip r:embed="rId8"/>
          <a:stretch>
            <a:fillRect/>
          </a:stretch>
        </p:blipFill>
        <p:spPr>
          <a:xfrm>
            <a:off x="10181844" y="3461004"/>
            <a:ext cx="210312" cy="210312"/>
          </a:xfrm>
          <a:prstGeom prst="rect">
            <a:avLst/>
          </a:prstGeom>
        </p:spPr>
      </p:pic>
      <p:sp>
        <p:nvSpPr>
          <p:cNvPr id="41" name="Text 33"/>
          <p:cNvSpPr txBox="1"/>
          <p:nvPr/>
        </p:nvSpPr>
        <p:spPr>
          <a:xfrm>
            <a:off x="10588752" y="310896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Cartons</a:t>
            </a:r>
            <a:endParaRPr lang="en-US" sz="1300" dirty="0"/>
          </a:p>
        </p:txBody>
      </p:sp>
      <p:sp>
        <p:nvSpPr>
          <p:cNvPr id="42" name="Shape 34"/>
          <p:cNvSpPr/>
          <p:nvPr/>
        </p:nvSpPr>
        <p:spPr>
          <a:xfrm>
            <a:off x="6492240" y="4160520"/>
            <a:ext cx="1627632" cy="914400"/>
          </a:xfrm>
          <a:prstGeom prst="roundRect">
            <a:avLst>
              <a:gd name="adj" fmla="val 8000"/>
            </a:avLst>
          </a:prstGeom>
          <a:solidFill>
            <a:srgbClr val="F1F4F9"/>
          </a:solidFill>
          <a:ln w="12700">
            <a:solidFill>
              <a:srgbClr val="F1F4F9"/>
            </a:solidFill>
            <a:prstDash val="solid"/>
          </a:ln>
        </p:spPr>
      </p:sp>
      <p:sp>
        <p:nvSpPr>
          <p:cNvPr id="43" name="Shape 35"/>
          <p:cNvSpPr/>
          <p:nvPr/>
        </p:nvSpPr>
        <p:spPr>
          <a:xfrm>
            <a:off x="6601968" y="4407408"/>
            <a:ext cx="420624" cy="420624"/>
          </a:xfrm>
          <a:prstGeom prst="ellipse">
            <a:avLst/>
          </a:prstGeom>
          <a:solidFill>
            <a:srgbClr val="F5A623"/>
          </a:solidFill>
          <a:ln w="12700">
            <a:solidFill>
              <a:srgbClr val="F5A623"/>
            </a:solidFill>
            <a:prstDash val="solid"/>
          </a:ln>
        </p:spPr>
      </p:sp>
      <p:pic>
        <p:nvPicPr>
          <p:cNvPr id="44" name="Image 6" descr="preencoded.png"/>
          <p:cNvPicPr>
            <a:picLocks noChangeAspect="1"/>
          </p:cNvPicPr>
          <p:nvPr/>
        </p:nvPicPr>
        <p:blipFill>
          <a:blip r:embed="rId9"/>
          <a:stretch>
            <a:fillRect/>
          </a:stretch>
        </p:blipFill>
        <p:spPr>
          <a:xfrm>
            <a:off x="6707124" y="4512564"/>
            <a:ext cx="210312" cy="210312"/>
          </a:xfrm>
          <a:prstGeom prst="rect">
            <a:avLst/>
          </a:prstGeom>
        </p:spPr>
      </p:pic>
      <p:sp>
        <p:nvSpPr>
          <p:cNvPr id="45" name="Text 36"/>
          <p:cNvSpPr txBox="1"/>
          <p:nvPr/>
        </p:nvSpPr>
        <p:spPr>
          <a:xfrm>
            <a:off x="7114032" y="416052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Boxes</a:t>
            </a:r>
            <a:endParaRPr lang="en-US" sz="1300" dirty="0"/>
          </a:p>
        </p:txBody>
      </p:sp>
      <p:sp>
        <p:nvSpPr>
          <p:cNvPr id="46" name="Shape 37"/>
          <p:cNvSpPr/>
          <p:nvPr/>
        </p:nvSpPr>
        <p:spPr>
          <a:xfrm>
            <a:off x="8229600" y="4160520"/>
            <a:ext cx="1627632" cy="914400"/>
          </a:xfrm>
          <a:prstGeom prst="roundRect">
            <a:avLst>
              <a:gd name="adj" fmla="val 8000"/>
            </a:avLst>
          </a:prstGeom>
          <a:solidFill>
            <a:srgbClr val="F1F4F9"/>
          </a:solidFill>
          <a:ln w="12700">
            <a:solidFill>
              <a:srgbClr val="F1F4F9"/>
            </a:solidFill>
            <a:prstDash val="solid"/>
          </a:ln>
        </p:spPr>
      </p:sp>
      <p:sp>
        <p:nvSpPr>
          <p:cNvPr id="47" name="Shape 38"/>
          <p:cNvSpPr/>
          <p:nvPr/>
        </p:nvSpPr>
        <p:spPr>
          <a:xfrm>
            <a:off x="8339328" y="4407408"/>
            <a:ext cx="420624" cy="420624"/>
          </a:xfrm>
          <a:prstGeom prst="ellipse">
            <a:avLst/>
          </a:prstGeom>
          <a:solidFill>
            <a:srgbClr val="F5A623"/>
          </a:solidFill>
          <a:ln w="12700">
            <a:solidFill>
              <a:srgbClr val="F5A623"/>
            </a:solidFill>
            <a:prstDash val="solid"/>
          </a:ln>
        </p:spPr>
      </p:sp>
      <p:pic>
        <p:nvPicPr>
          <p:cNvPr id="48" name="Image 7" descr="preencoded.png"/>
          <p:cNvPicPr>
            <a:picLocks noChangeAspect="1"/>
          </p:cNvPicPr>
          <p:nvPr/>
        </p:nvPicPr>
        <p:blipFill>
          <a:blip r:embed="rId10"/>
          <a:stretch>
            <a:fillRect/>
          </a:stretch>
        </p:blipFill>
        <p:spPr>
          <a:xfrm>
            <a:off x="8444484" y="4512564"/>
            <a:ext cx="210312" cy="210312"/>
          </a:xfrm>
          <a:prstGeom prst="rect">
            <a:avLst/>
          </a:prstGeom>
        </p:spPr>
      </p:pic>
      <p:sp>
        <p:nvSpPr>
          <p:cNvPr id="49" name="Text 39"/>
          <p:cNvSpPr txBox="1"/>
          <p:nvPr/>
        </p:nvSpPr>
        <p:spPr>
          <a:xfrm>
            <a:off x="8851392" y="416052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Dozens</a:t>
            </a:r>
            <a:endParaRPr lang="en-US" sz="1300" dirty="0"/>
          </a:p>
        </p:txBody>
      </p:sp>
      <p:sp>
        <p:nvSpPr>
          <p:cNvPr id="50" name="Shape 40"/>
          <p:cNvSpPr/>
          <p:nvPr/>
        </p:nvSpPr>
        <p:spPr>
          <a:xfrm>
            <a:off x="9966960" y="4160520"/>
            <a:ext cx="1627632" cy="914400"/>
          </a:xfrm>
          <a:prstGeom prst="roundRect">
            <a:avLst>
              <a:gd name="adj" fmla="val 8000"/>
            </a:avLst>
          </a:prstGeom>
          <a:solidFill>
            <a:srgbClr val="F1F4F9"/>
          </a:solidFill>
          <a:ln w="12700">
            <a:solidFill>
              <a:srgbClr val="F1F4F9"/>
            </a:solidFill>
            <a:prstDash val="solid"/>
          </a:ln>
        </p:spPr>
      </p:sp>
      <p:sp>
        <p:nvSpPr>
          <p:cNvPr id="51" name="Shape 41"/>
          <p:cNvSpPr/>
          <p:nvPr/>
        </p:nvSpPr>
        <p:spPr>
          <a:xfrm>
            <a:off x="10076688" y="4407408"/>
            <a:ext cx="420624" cy="420624"/>
          </a:xfrm>
          <a:prstGeom prst="ellipse">
            <a:avLst/>
          </a:prstGeom>
          <a:solidFill>
            <a:srgbClr val="F5A623"/>
          </a:solidFill>
          <a:ln w="12700">
            <a:solidFill>
              <a:srgbClr val="F5A623"/>
            </a:solidFill>
            <a:prstDash val="solid"/>
          </a:ln>
        </p:spPr>
      </p:sp>
      <p:pic>
        <p:nvPicPr>
          <p:cNvPr id="52" name="Image 8" descr="preencoded.png"/>
          <p:cNvPicPr>
            <a:picLocks noChangeAspect="1"/>
          </p:cNvPicPr>
          <p:nvPr/>
        </p:nvPicPr>
        <p:blipFill>
          <a:blip r:embed="rId11"/>
          <a:stretch>
            <a:fillRect/>
          </a:stretch>
        </p:blipFill>
        <p:spPr>
          <a:xfrm>
            <a:off x="10181844" y="4512564"/>
            <a:ext cx="210312" cy="210312"/>
          </a:xfrm>
          <a:prstGeom prst="rect">
            <a:avLst/>
          </a:prstGeom>
        </p:spPr>
      </p:pic>
      <p:sp>
        <p:nvSpPr>
          <p:cNvPr id="53" name="Text 42"/>
          <p:cNvSpPr txBox="1"/>
          <p:nvPr/>
        </p:nvSpPr>
        <p:spPr>
          <a:xfrm>
            <a:off x="10588752" y="4160520"/>
            <a:ext cx="960120" cy="914400"/>
          </a:xfrm>
          <a:prstGeom prst="rect">
            <a:avLst/>
          </a:prstGeom>
          <a:noFill/>
          <a:ln/>
        </p:spPr>
        <p:txBody>
          <a:bodyPr wrap="square" lIns="0" tIns="0" rIns="0" bIns="0" rtlCol="0" anchor="ctr"/>
          <a:lstStyle/>
          <a:p>
            <a:pPr marL="0" indent="0">
              <a:buNone/>
            </a:pPr>
            <a:r>
              <a:rPr lang="en-US" sz="1300" b="1" dirty="0">
                <a:solidFill>
                  <a:srgbClr val="0B1F3A"/>
                </a:solidFill>
                <a:latin typeface="Calibri" pitchFamily="34" charset="0"/>
                <a:ea typeface="Calibri" pitchFamily="34" charset="-122"/>
                <a:cs typeface="Calibri" pitchFamily="34" charset="-120"/>
              </a:rPr>
              <a:t>Quintals</a:t>
            </a:r>
            <a:endParaRPr lang="en-US" sz="1300" dirty="0"/>
          </a:p>
        </p:txBody>
      </p:sp>
      <p:sp>
        <p:nvSpPr>
          <p:cNvPr id="54" name="Shape 43"/>
          <p:cNvSpPr/>
          <p:nvPr/>
        </p:nvSpPr>
        <p:spPr>
          <a:xfrm>
            <a:off x="548640" y="5440680"/>
            <a:ext cx="11091672" cy="822960"/>
          </a:xfrm>
          <a:prstGeom prst="roundRect">
            <a:avLst>
              <a:gd name="adj" fmla="val 8889"/>
            </a:avLst>
          </a:prstGeom>
          <a:solidFill>
            <a:srgbClr val="0B1F3A"/>
          </a:solidFill>
          <a:ln w="12700">
            <a:solidFill>
              <a:srgbClr val="0B1F3A"/>
            </a:solidFill>
            <a:prstDash val="solid"/>
          </a:ln>
        </p:spPr>
      </p:sp>
      <p:sp>
        <p:nvSpPr>
          <p:cNvPr id="55" name="Text 44"/>
          <p:cNvSpPr txBox="1"/>
          <p:nvPr/>
        </p:nvSpPr>
        <p:spPr>
          <a:xfrm>
            <a:off x="822960" y="5440680"/>
            <a:ext cx="2194560" cy="82296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WHY IT MATTERS</a:t>
            </a:r>
            <a:endParaRPr lang="en-US" sz="1200" dirty="0"/>
          </a:p>
        </p:txBody>
      </p:sp>
      <p:sp>
        <p:nvSpPr>
          <p:cNvPr id="56" name="Text 45"/>
          <p:cNvSpPr txBox="1"/>
          <p:nvPr/>
        </p:nvSpPr>
        <p:spPr>
          <a:xfrm>
            <a:off x="3017520" y="5440680"/>
            <a:ext cx="8412480" cy="8229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A grocer counts bags, a florist weighs kilograms, a jeweller uses grams. The app works with the units each shop already uses.</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STOCK QUESTIONS &amp; SMART ALERTS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From Inventory Tracking to Inventory Assistance</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11</a:t>
            </a:r>
            <a:endParaRPr lang="en-US" sz="1000" dirty="0"/>
          </a:p>
        </p:txBody>
      </p:sp>
      <p:sp>
        <p:nvSpPr>
          <p:cNvPr id="6" name="Text 4"/>
          <p:cNvSpPr txBox="1"/>
          <p:nvPr/>
        </p:nvSpPr>
        <p:spPr>
          <a:xfrm>
            <a:off x="548640" y="1600200"/>
            <a:ext cx="3566160" cy="32004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Ask by voice</a:t>
            </a:r>
            <a:endParaRPr lang="en-US" sz="1800" dirty="0"/>
          </a:p>
        </p:txBody>
      </p:sp>
      <p:sp>
        <p:nvSpPr>
          <p:cNvPr id="7" name="Shape 5"/>
          <p:cNvSpPr/>
          <p:nvPr/>
        </p:nvSpPr>
        <p:spPr>
          <a:xfrm>
            <a:off x="548640" y="2103120"/>
            <a:ext cx="3566160" cy="777240"/>
          </a:xfrm>
          <a:prstGeom prst="roundRect">
            <a:avLst>
              <a:gd name="adj" fmla="val 9412"/>
            </a:avLst>
          </a:prstGeom>
          <a:solidFill>
            <a:srgbClr val="F1F4F9"/>
          </a:solidFill>
          <a:ln w="12700">
            <a:solidFill>
              <a:srgbClr val="F1F4F9"/>
            </a:solidFill>
            <a:prstDash val="solid"/>
          </a:ln>
        </p:spPr>
      </p:sp>
      <p:sp>
        <p:nvSpPr>
          <p:cNvPr id="8" name="Shape 6"/>
          <p:cNvSpPr/>
          <p:nvPr/>
        </p:nvSpPr>
        <p:spPr>
          <a:xfrm>
            <a:off x="685800" y="2286000"/>
            <a:ext cx="411480" cy="411480"/>
          </a:xfrm>
          <a:prstGeom prst="ellipse">
            <a:avLst/>
          </a:prstGeom>
          <a:solidFill>
            <a:srgbClr val="F5A623"/>
          </a:solidFill>
          <a:ln w="12700">
            <a:solidFill>
              <a:srgbClr val="F5A623"/>
            </a:solidFill>
            <a:prstDash val="solid"/>
          </a:ln>
        </p:spPr>
      </p:sp>
      <p:pic>
        <p:nvPicPr>
          <p:cNvPr id="9" name="Image 0" descr="preencoded.png"/>
          <p:cNvPicPr>
            <a:picLocks noChangeAspect="1"/>
          </p:cNvPicPr>
          <p:nvPr/>
        </p:nvPicPr>
        <p:blipFill>
          <a:blip r:embed="rId3"/>
          <a:stretch>
            <a:fillRect/>
          </a:stretch>
        </p:blipFill>
        <p:spPr>
          <a:xfrm>
            <a:off x="788670" y="2388870"/>
            <a:ext cx="205740" cy="205740"/>
          </a:xfrm>
          <a:prstGeom prst="rect">
            <a:avLst/>
          </a:prstGeom>
        </p:spPr>
      </p:pic>
      <p:sp>
        <p:nvSpPr>
          <p:cNvPr id="10" name="Text 7"/>
          <p:cNvSpPr txBox="1"/>
          <p:nvPr/>
        </p:nvSpPr>
        <p:spPr>
          <a:xfrm>
            <a:off x="1234440" y="2103120"/>
            <a:ext cx="2788920" cy="777240"/>
          </a:xfrm>
          <a:prstGeom prst="rect">
            <a:avLst/>
          </a:prstGeom>
          <a:noFill/>
          <a:ln/>
        </p:spPr>
        <p:txBody>
          <a:bodyPr wrap="square" lIns="0" tIns="0" rIns="0" bIns="0" rtlCol="0" anchor="ctr"/>
          <a:lstStyle/>
          <a:p>
            <a:pPr marL="0" indent="0">
              <a:buNone/>
            </a:pPr>
            <a:r>
              <a:rPr lang="en-US" sz="1400" b="1" i="1" dirty="0">
                <a:solidFill>
                  <a:srgbClr val="0B1F3A"/>
                </a:solidFill>
                <a:latin typeface="Calibri" pitchFamily="34" charset="0"/>
                <a:ea typeface="Calibri" pitchFamily="34" charset="-122"/>
                <a:cs typeface="Calibri" pitchFamily="34" charset="-120"/>
              </a:rPr>
              <a:t>“How much rice is available?”</a:t>
            </a:r>
            <a:endParaRPr lang="en-US" sz="1400" dirty="0"/>
          </a:p>
        </p:txBody>
      </p:sp>
      <p:sp>
        <p:nvSpPr>
          <p:cNvPr id="11" name="Shape 8"/>
          <p:cNvSpPr/>
          <p:nvPr/>
        </p:nvSpPr>
        <p:spPr>
          <a:xfrm>
            <a:off x="548640" y="3063240"/>
            <a:ext cx="3566160" cy="777240"/>
          </a:xfrm>
          <a:prstGeom prst="roundRect">
            <a:avLst>
              <a:gd name="adj" fmla="val 9412"/>
            </a:avLst>
          </a:prstGeom>
          <a:solidFill>
            <a:srgbClr val="F1F4F9"/>
          </a:solidFill>
          <a:ln w="12700">
            <a:solidFill>
              <a:srgbClr val="F1F4F9"/>
            </a:solidFill>
            <a:prstDash val="solid"/>
          </a:ln>
        </p:spPr>
      </p:sp>
      <p:sp>
        <p:nvSpPr>
          <p:cNvPr id="12" name="Shape 9"/>
          <p:cNvSpPr/>
          <p:nvPr/>
        </p:nvSpPr>
        <p:spPr>
          <a:xfrm>
            <a:off x="685800" y="3246120"/>
            <a:ext cx="411480" cy="411480"/>
          </a:xfrm>
          <a:prstGeom prst="ellipse">
            <a:avLst/>
          </a:prstGeom>
          <a:solidFill>
            <a:srgbClr val="F5A623"/>
          </a:solidFill>
          <a:ln w="12700">
            <a:solidFill>
              <a:srgbClr val="F5A623"/>
            </a:solidFill>
            <a:prstDash val="solid"/>
          </a:ln>
        </p:spPr>
      </p:sp>
      <p:pic>
        <p:nvPicPr>
          <p:cNvPr id="13" name="Image 1" descr="preencoded.png"/>
          <p:cNvPicPr>
            <a:picLocks noChangeAspect="1"/>
          </p:cNvPicPr>
          <p:nvPr/>
        </p:nvPicPr>
        <p:blipFill>
          <a:blip r:embed="rId3"/>
          <a:stretch>
            <a:fillRect/>
          </a:stretch>
        </p:blipFill>
        <p:spPr>
          <a:xfrm>
            <a:off x="788670" y="3348990"/>
            <a:ext cx="205740" cy="205740"/>
          </a:xfrm>
          <a:prstGeom prst="rect">
            <a:avLst/>
          </a:prstGeom>
        </p:spPr>
      </p:pic>
      <p:sp>
        <p:nvSpPr>
          <p:cNvPr id="14" name="Text 10"/>
          <p:cNvSpPr txBox="1"/>
          <p:nvPr/>
        </p:nvSpPr>
        <p:spPr>
          <a:xfrm>
            <a:off x="1234440" y="3063240"/>
            <a:ext cx="2788920" cy="777240"/>
          </a:xfrm>
          <a:prstGeom prst="rect">
            <a:avLst/>
          </a:prstGeom>
          <a:noFill/>
          <a:ln/>
        </p:spPr>
        <p:txBody>
          <a:bodyPr wrap="square" lIns="0" tIns="0" rIns="0" bIns="0" rtlCol="0" anchor="ctr"/>
          <a:lstStyle/>
          <a:p>
            <a:pPr marL="0" indent="0">
              <a:buNone/>
            </a:pPr>
            <a:r>
              <a:rPr lang="en-US" sz="1400" b="1" i="1" dirty="0">
                <a:solidFill>
                  <a:srgbClr val="0B1F3A"/>
                </a:solidFill>
                <a:latin typeface="Calibri" pitchFamily="34" charset="0"/>
                <a:ea typeface="Calibri" pitchFamily="34" charset="-122"/>
                <a:cs typeface="Calibri" pitchFamily="34" charset="-120"/>
              </a:rPr>
              <a:t>“Which products are low?”</a:t>
            </a:r>
            <a:endParaRPr lang="en-US" sz="1400" dirty="0"/>
          </a:p>
        </p:txBody>
      </p:sp>
      <p:sp>
        <p:nvSpPr>
          <p:cNvPr id="15" name="Shape 11"/>
          <p:cNvSpPr/>
          <p:nvPr/>
        </p:nvSpPr>
        <p:spPr>
          <a:xfrm>
            <a:off x="548640" y="4023360"/>
            <a:ext cx="3566160" cy="777240"/>
          </a:xfrm>
          <a:prstGeom prst="roundRect">
            <a:avLst>
              <a:gd name="adj" fmla="val 9412"/>
            </a:avLst>
          </a:prstGeom>
          <a:solidFill>
            <a:srgbClr val="F1F4F9"/>
          </a:solidFill>
          <a:ln w="12700">
            <a:solidFill>
              <a:srgbClr val="F1F4F9"/>
            </a:solidFill>
            <a:prstDash val="solid"/>
          </a:ln>
        </p:spPr>
      </p:sp>
      <p:sp>
        <p:nvSpPr>
          <p:cNvPr id="16" name="Shape 12"/>
          <p:cNvSpPr/>
          <p:nvPr/>
        </p:nvSpPr>
        <p:spPr>
          <a:xfrm>
            <a:off x="685800" y="4206240"/>
            <a:ext cx="411480" cy="411480"/>
          </a:xfrm>
          <a:prstGeom prst="ellipse">
            <a:avLst/>
          </a:prstGeom>
          <a:solidFill>
            <a:srgbClr val="F5A623"/>
          </a:solidFill>
          <a:ln w="12700">
            <a:solidFill>
              <a:srgbClr val="F5A623"/>
            </a:solidFill>
            <a:prstDash val="solid"/>
          </a:ln>
        </p:spPr>
      </p:sp>
      <p:pic>
        <p:nvPicPr>
          <p:cNvPr id="17" name="Image 2" descr="preencoded.png"/>
          <p:cNvPicPr>
            <a:picLocks noChangeAspect="1"/>
          </p:cNvPicPr>
          <p:nvPr/>
        </p:nvPicPr>
        <p:blipFill>
          <a:blip r:embed="rId3"/>
          <a:stretch>
            <a:fillRect/>
          </a:stretch>
        </p:blipFill>
        <p:spPr>
          <a:xfrm>
            <a:off x="788670" y="4309110"/>
            <a:ext cx="205740" cy="205740"/>
          </a:xfrm>
          <a:prstGeom prst="rect">
            <a:avLst/>
          </a:prstGeom>
        </p:spPr>
      </p:pic>
      <p:sp>
        <p:nvSpPr>
          <p:cNvPr id="18" name="Text 13"/>
          <p:cNvSpPr txBox="1"/>
          <p:nvPr/>
        </p:nvSpPr>
        <p:spPr>
          <a:xfrm>
            <a:off x="1234440" y="4023360"/>
            <a:ext cx="2788920" cy="777240"/>
          </a:xfrm>
          <a:prstGeom prst="rect">
            <a:avLst/>
          </a:prstGeom>
          <a:noFill/>
          <a:ln/>
        </p:spPr>
        <p:txBody>
          <a:bodyPr wrap="square" lIns="0" tIns="0" rIns="0" bIns="0" rtlCol="0" anchor="ctr"/>
          <a:lstStyle/>
          <a:p>
            <a:pPr marL="0" indent="0">
              <a:buNone/>
            </a:pPr>
            <a:r>
              <a:rPr lang="en-US" sz="1400" b="1" i="1" dirty="0">
                <a:solidFill>
                  <a:srgbClr val="0B1F3A"/>
                </a:solidFill>
                <a:latin typeface="Calibri" pitchFamily="34" charset="0"/>
                <a:ea typeface="Calibri" pitchFamily="34" charset="-122"/>
                <a:cs typeface="Calibri" pitchFamily="34" charset="-120"/>
              </a:rPr>
              <a:t>“What should I order?”</a:t>
            </a:r>
            <a:endParaRPr lang="en-US" sz="1400" dirty="0"/>
          </a:p>
        </p:txBody>
      </p:sp>
      <p:sp>
        <p:nvSpPr>
          <p:cNvPr id="19" name="Text 14"/>
          <p:cNvSpPr txBox="1"/>
          <p:nvPr/>
        </p:nvSpPr>
        <p:spPr>
          <a:xfrm>
            <a:off x="548640" y="5029200"/>
            <a:ext cx="3566160" cy="548640"/>
          </a:xfrm>
          <a:prstGeom prst="rect">
            <a:avLst/>
          </a:prstGeom>
          <a:noFill/>
          <a:ln/>
        </p:spPr>
        <p:txBody>
          <a:bodyPr wrap="square" lIns="0" tIns="0" rIns="0" bIns="0" rtlCol="0" anchor="t"/>
          <a:lstStyle/>
          <a:p>
            <a:pPr marL="0" indent="0">
              <a:buNone/>
            </a:pPr>
            <a:r>
              <a:rPr lang="en-US" sz="1300" dirty="0">
                <a:solidFill>
                  <a:srgbClr val="55657F"/>
                </a:solidFill>
                <a:latin typeface="Calibri" pitchFamily="34" charset="0"/>
                <a:ea typeface="Calibri" pitchFamily="34" charset="-122"/>
                <a:cs typeface="Calibri" pitchFamily="34" charset="-120"/>
              </a:rPr>
              <a:t>Answers come from the actual inventory database.</a:t>
            </a:r>
            <a:endParaRPr lang="en-US" sz="1300" dirty="0"/>
          </a:p>
        </p:txBody>
      </p:sp>
      <p:sp>
        <p:nvSpPr>
          <p:cNvPr id="20" name="Shape 15"/>
          <p:cNvSpPr/>
          <p:nvPr/>
        </p:nvSpPr>
        <p:spPr>
          <a:xfrm>
            <a:off x="4343400" y="1600200"/>
            <a:ext cx="3566160" cy="3977640"/>
          </a:xfrm>
          <a:prstGeom prst="roundRect">
            <a:avLst>
              <a:gd name="adj" fmla="val 2051"/>
            </a:avLst>
          </a:prstGeom>
          <a:solidFill>
            <a:srgbClr val="F1F4F9"/>
          </a:solidFill>
          <a:ln w="12700">
            <a:solidFill>
              <a:srgbClr val="F1F4F9"/>
            </a:solidFill>
            <a:prstDash val="solid"/>
          </a:ln>
        </p:spPr>
      </p:sp>
      <p:sp>
        <p:nvSpPr>
          <p:cNvPr id="21" name="Shape 16"/>
          <p:cNvSpPr/>
          <p:nvPr/>
        </p:nvSpPr>
        <p:spPr>
          <a:xfrm>
            <a:off x="4572000" y="1783080"/>
            <a:ext cx="548640" cy="548640"/>
          </a:xfrm>
          <a:prstGeom prst="ellipse">
            <a:avLst/>
          </a:prstGeom>
          <a:solidFill>
            <a:srgbClr val="C2410C"/>
          </a:solidFill>
          <a:ln w="12700">
            <a:solidFill>
              <a:srgbClr val="C2410C"/>
            </a:solidFill>
            <a:prstDash val="solid"/>
          </a:ln>
        </p:spPr>
      </p:sp>
      <p:pic>
        <p:nvPicPr>
          <p:cNvPr id="22" name="Image 3" descr="preencoded.png"/>
          <p:cNvPicPr>
            <a:picLocks noChangeAspect="1"/>
          </p:cNvPicPr>
          <p:nvPr/>
        </p:nvPicPr>
        <p:blipFill>
          <a:blip r:embed="rId4"/>
          <a:stretch>
            <a:fillRect/>
          </a:stretch>
        </p:blipFill>
        <p:spPr>
          <a:xfrm>
            <a:off x="4709160" y="1920240"/>
            <a:ext cx="274320" cy="274320"/>
          </a:xfrm>
          <a:prstGeom prst="rect">
            <a:avLst/>
          </a:prstGeom>
        </p:spPr>
      </p:pic>
      <p:sp>
        <p:nvSpPr>
          <p:cNvPr id="23" name="Text 17"/>
          <p:cNvSpPr txBox="1"/>
          <p:nvPr/>
        </p:nvSpPr>
        <p:spPr>
          <a:xfrm>
            <a:off x="5257800" y="1783080"/>
            <a:ext cx="2560320" cy="548640"/>
          </a:xfrm>
          <a:prstGeom prst="rect">
            <a:avLst/>
          </a:prstGeom>
          <a:noFill/>
          <a:ln/>
        </p:spPr>
        <p:txBody>
          <a:bodyPr wrap="square" lIns="0" tIns="0" rIns="0" bIns="0" rtlCol="0" anchor="ctr"/>
          <a:lstStyle/>
          <a:p>
            <a:pPr marL="0" indent="0">
              <a:buNone/>
            </a:pPr>
            <a:r>
              <a:rPr lang="en-US" sz="1700" b="1" dirty="0">
                <a:solidFill>
                  <a:srgbClr val="0B1F3A"/>
                </a:solidFill>
                <a:latin typeface="Cambria" pitchFamily="34" charset="0"/>
                <a:ea typeface="Cambria" pitchFamily="34" charset="-122"/>
                <a:cs typeface="Cambria" pitchFamily="34" charset="-120"/>
              </a:rPr>
              <a:t>Low-stock alert</a:t>
            </a:r>
            <a:endParaRPr lang="en-US" sz="1700" dirty="0"/>
          </a:p>
        </p:txBody>
      </p:sp>
      <p:sp>
        <p:nvSpPr>
          <p:cNvPr id="24" name="Text 18"/>
          <p:cNvSpPr txBox="1"/>
          <p:nvPr/>
        </p:nvSpPr>
        <p:spPr>
          <a:xfrm>
            <a:off x="4572000" y="2606040"/>
            <a:ext cx="3108960" cy="411480"/>
          </a:xfrm>
          <a:prstGeom prst="rect">
            <a:avLst/>
          </a:prstGeom>
          <a:noFill/>
          <a:ln/>
        </p:spPr>
        <p:txBody>
          <a:bodyPr wrap="square" lIns="0" tIns="0" rIns="0" bIns="0" rtlCol="0" anchor="t"/>
          <a:lstStyle/>
          <a:p>
            <a:pPr marL="0" indent="0">
              <a:buNone/>
            </a:pPr>
            <a:r>
              <a:rPr lang="en-US" sz="2200" b="1" dirty="0">
                <a:solidFill>
                  <a:srgbClr val="0B1F3A"/>
                </a:solidFill>
                <a:latin typeface="Cambria" pitchFamily="34" charset="0"/>
                <a:ea typeface="Cambria" pitchFamily="34" charset="-122"/>
                <a:cs typeface="Cambria" pitchFamily="34" charset="-120"/>
              </a:rPr>
              <a:t>Rice</a:t>
            </a:r>
            <a:endParaRPr lang="en-US" sz="2200" dirty="0"/>
          </a:p>
        </p:txBody>
      </p:sp>
      <p:sp>
        <p:nvSpPr>
          <p:cNvPr id="25" name="Text 19"/>
          <p:cNvSpPr txBox="1"/>
          <p:nvPr/>
        </p:nvSpPr>
        <p:spPr>
          <a:xfrm>
            <a:off x="4572000" y="3063240"/>
            <a:ext cx="3108960" cy="320040"/>
          </a:xfrm>
          <a:prstGeom prst="rect">
            <a:avLst/>
          </a:prstGeom>
          <a:noFill/>
          <a:ln/>
        </p:spPr>
        <p:txBody>
          <a:bodyPr wrap="square" lIns="0" tIns="0" rIns="0" bIns="0" rtlCol="0" anchor="t"/>
          <a:lstStyle/>
          <a:p>
            <a:pPr marL="0" indent="0">
              <a:buNone/>
            </a:pPr>
            <a:r>
              <a:rPr lang="en-US" sz="1400" dirty="0">
                <a:solidFill>
                  <a:srgbClr val="0B1F3A"/>
                </a:solidFill>
                <a:latin typeface="Calibri" pitchFamily="34" charset="0"/>
                <a:ea typeface="Calibri" pitchFamily="34" charset="-122"/>
                <a:cs typeface="Calibri" pitchFamily="34" charset="-120"/>
              </a:rPr>
              <a:t>Current stock: 5 bags</a:t>
            </a:r>
            <a:endParaRPr lang="en-US" sz="1400" dirty="0"/>
          </a:p>
        </p:txBody>
      </p:sp>
      <p:sp>
        <p:nvSpPr>
          <p:cNvPr id="26" name="Text 20"/>
          <p:cNvSpPr txBox="1"/>
          <p:nvPr/>
        </p:nvSpPr>
        <p:spPr>
          <a:xfrm>
            <a:off x="4572000" y="3383280"/>
            <a:ext cx="3108960" cy="320040"/>
          </a:xfrm>
          <a:prstGeom prst="rect">
            <a:avLst/>
          </a:prstGeom>
          <a:noFill/>
          <a:ln/>
        </p:spPr>
        <p:txBody>
          <a:bodyPr wrap="square" lIns="0" tIns="0" rIns="0" bIns="0" rtlCol="0" anchor="t"/>
          <a:lstStyle/>
          <a:p>
            <a:pPr marL="0" indent="0">
              <a:buNone/>
            </a:pPr>
            <a:r>
              <a:rPr lang="en-US" sz="1400" dirty="0">
                <a:solidFill>
                  <a:srgbClr val="55657F"/>
                </a:solidFill>
                <a:latin typeface="Calibri" pitchFamily="34" charset="0"/>
                <a:ea typeface="Calibri" pitchFamily="34" charset="-122"/>
                <a:cs typeface="Calibri" pitchFamily="34" charset="-120"/>
              </a:rPr>
              <a:t>Minimum level: 10 bags</a:t>
            </a:r>
            <a:endParaRPr lang="en-US" sz="1400" dirty="0"/>
          </a:p>
        </p:txBody>
      </p:sp>
      <p:sp>
        <p:nvSpPr>
          <p:cNvPr id="27" name="Shape 21"/>
          <p:cNvSpPr/>
          <p:nvPr/>
        </p:nvSpPr>
        <p:spPr>
          <a:xfrm>
            <a:off x="4572000" y="3931920"/>
            <a:ext cx="3108960" cy="274320"/>
          </a:xfrm>
          <a:prstGeom prst="roundRect">
            <a:avLst>
              <a:gd name="adj" fmla="val 26667"/>
            </a:avLst>
          </a:prstGeom>
          <a:solidFill>
            <a:srgbClr val="D5DBE6"/>
          </a:solidFill>
          <a:ln w="12700">
            <a:solidFill>
              <a:srgbClr val="D5DBE6"/>
            </a:solidFill>
            <a:prstDash val="solid"/>
          </a:ln>
        </p:spPr>
      </p:sp>
      <p:sp>
        <p:nvSpPr>
          <p:cNvPr id="28" name="Shape 22"/>
          <p:cNvSpPr/>
          <p:nvPr/>
        </p:nvSpPr>
        <p:spPr>
          <a:xfrm>
            <a:off x="4572000" y="3931920"/>
            <a:ext cx="1554480" cy="274320"/>
          </a:xfrm>
          <a:prstGeom prst="roundRect">
            <a:avLst>
              <a:gd name="adj" fmla="val 26667"/>
            </a:avLst>
          </a:prstGeom>
          <a:solidFill>
            <a:srgbClr val="C2410C"/>
          </a:solidFill>
          <a:ln w="12700">
            <a:solidFill>
              <a:srgbClr val="C2410C"/>
            </a:solidFill>
            <a:prstDash val="solid"/>
          </a:ln>
        </p:spPr>
      </p:sp>
      <p:sp>
        <p:nvSpPr>
          <p:cNvPr id="29" name="Text 23"/>
          <p:cNvSpPr txBox="1"/>
          <p:nvPr/>
        </p:nvSpPr>
        <p:spPr>
          <a:xfrm>
            <a:off x="4572000" y="4251960"/>
            <a:ext cx="457200" cy="22860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0</a:t>
            </a:r>
            <a:endParaRPr lang="en-US" sz="1000" dirty="0"/>
          </a:p>
        </p:txBody>
      </p:sp>
      <p:sp>
        <p:nvSpPr>
          <p:cNvPr id="30" name="Text 24"/>
          <p:cNvSpPr txBox="1"/>
          <p:nvPr/>
        </p:nvSpPr>
        <p:spPr>
          <a:xfrm>
            <a:off x="7223760" y="4251960"/>
            <a:ext cx="457200" cy="22860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10</a:t>
            </a:r>
            <a:endParaRPr lang="en-US" sz="1000" dirty="0"/>
          </a:p>
        </p:txBody>
      </p:sp>
      <p:sp>
        <p:nvSpPr>
          <p:cNvPr id="31" name="Shape 25"/>
          <p:cNvSpPr/>
          <p:nvPr/>
        </p:nvSpPr>
        <p:spPr>
          <a:xfrm>
            <a:off x="4572000" y="4754880"/>
            <a:ext cx="1554480" cy="457200"/>
          </a:xfrm>
          <a:prstGeom prst="roundRect">
            <a:avLst>
              <a:gd name="adj" fmla="val 50000"/>
            </a:avLst>
          </a:prstGeom>
          <a:solidFill>
            <a:srgbClr val="C2410C"/>
          </a:solidFill>
          <a:ln w="12700">
            <a:solidFill>
              <a:srgbClr val="C2410C"/>
            </a:solidFill>
            <a:prstDash val="solid"/>
          </a:ln>
        </p:spPr>
      </p:sp>
      <p:sp>
        <p:nvSpPr>
          <p:cNvPr id="32" name="Text 26"/>
          <p:cNvSpPr txBox="1"/>
          <p:nvPr/>
        </p:nvSpPr>
        <p:spPr>
          <a:xfrm>
            <a:off x="4572000" y="4754880"/>
            <a:ext cx="15544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Low stock</a:t>
            </a:r>
            <a:endParaRPr lang="en-US" sz="1400" dirty="0"/>
          </a:p>
        </p:txBody>
      </p:sp>
      <p:sp>
        <p:nvSpPr>
          <p:cNvPr id="33" name="Shape 27"/>
          <p:cNvSpPr/>
          <p:nvPr/>
        </p:nvSpPr>
        <p:spPr>
          <a:xfrm>
            <a:off x="8138160" y="1600200"/>
            <a:ext cx="3502152" cy="3977640"/>
          </a:xfrm>
          <a:prstGeom prst="roundRect">
            <a:avLst>
              <a:gd name="adj" fmla="val 2089"/>
            </a:avLst>
          </a:prstGeom>
          <a:solidFill>
            <a:srgbClr val="0B1F3A"/>
          </a:solidFill>
          <a:ln w="12700">
            <a:solidFill>
              <a:srgbClr val="0B1F3A"/>
            </a:solidFill>
            <a:prstDash val="solid"/>
          </a:ln>
        </p:spPr>
      </p:sp>
      <p:sp>
        <p:nvSpPr>
          <p:cNvPr id="34" name="Text 28"/>
          <p:cNvSpPr txBox="1"/>
          <p:nvPr/>
        </p:nvSpPr>
        <p:spPr>
          <a:xfrm>
            <a:off x="8366760" y="1737360"/>
            <a:ext cx="3108960" cy="640080"/>
          </a:xfrm>
          <a:prstGeom prst="rect">
            <a:avLst/>
          </a:prstGeom>
          <a:noFill/>
          <a:ln/>
        </p:spPr>
        <p:txBody>
          <a:bodyPr wrap="square" lIns="0" tIns="0" rIns="0" bIns="0" rtlCol="0" anchor="t"/>
          <a:lstStyle/>
          <a:p>
            <a:pPr marL="0" indent="0">
              <a:buNone/>
            </a:pPr>
            <a:r>
              <a:rPr lang="en-US" sz="1700" b="1" dirty="0">
                <a:solidFill>
                  <a:srgbClr val="FFFFFF"/>
                </a:solidFill>
                <a:latin typeface="Cambria" pitchFamily="34" charset="0"/>
                <a:ea typeface="Cambria" pitchFamily="34" charset="-122"/>
                <a:cs typeface="Cambria" pitchFamily="34" charset="-120"/>
              </a:rPr>
              <a:t>Smart reorder recommendation</a:t>
            </a:r>
            <a:endParaRPr lang="en-US" sz="1700" dirty="0"/>
          </a:p>
        </p:txBody>
      </p:sp>
      <p:sp>
        <p:nvSpPr>
          <p:cNvPr id="35" name="Text 29"/>
          <p:cNvSpPr txBox="1"/>
          <p:nvPr/>
        </p:nvSpPr>
        <p:spPr>
          <a:xfrm>
            <a:off x="8366760" y="2514600"/>
            <a:ext cx="3017520" cy="1828800"/>
          </a:xfrm>
          <a:prstGeom prst="rect">
            <a:avLst/>
          </a:prstGeom>
          <a:noFill/>
          <a:ln/>
        </p:spPr>
        <p:txBody>
          <a:bodyPr wrap="square" lIns="0" tIns="0" rIns="0" bIns="0" rtlCol="0" anchor="t"/>
          <a:lstStyle/>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Current stock</a:t>
            </a:r>
            <a:endParaRPr lang="en-US" sz="1450" dirty="0"/>
          </a:p>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Previous sales</a:t>
            </a:r>
            <a:endParaRPr lang="en-US" sz="1450" dirty="0"/>
          </a:p>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Average usage</a:t>
            </a:r>
            <a:endParaRPr lang="en-US" sz="1450" dirty="0"/>
          </a:p>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Demand trends</a:t>
            </a:r>
            <a:endParaRPr lang="en-US" sz="1450" dirty="0"/>
          </a:p>
          <a:p>
            <a:pPr marL="177800" indent="-177800">
              <a:spcAft>
                <a:spcPts val="700"/>
              </a:spcAft>
              <a:buSzPct val="100000"/>
              <a:buChar char="•"/>
            </a:pPr>
            <a:r>
              <a:rPr lang="en-US" sz="1450" dirty="0">
                <a:solidFill>
                  <a:srgbClr val="FFFFFF"/>
                </a:solidFill>
                <a:latin typeface="Calibri" pitchFamily="34" charset="0"/>
                <a:ea typeface="Calibri" pitchFamily="34" charset="-122"/>
                <a:cs typeface="Calibri" pitchFamily="34" charset="-120"/>
              </a:rPr>
              <a:t>Supplier lead time</a:t>
            </a:r>
            <a:endParaRPr lang="en-US" sz="1450" dirty="0"/>
          </a:p>
        </p:txBody>
      </p:sp>
      <p:sp>
        <p:nvSpPr>
          <p:cNvPr id="36" name="Text 30"/>
          <p:cNvSpPr txBox="1"/>
          <p:nvPr/>
        </p:nvSpPr>
        <p:spPr>
          <a:xfrm>
            <a:off x="8366760" y="4526280"/>
            <a:ext cx="3017520" cy="822960"/>
          </a:xfrm>
          <a:prstGeom prst="rect">
            <a:avLst/>
          </a:prstGeom>
          <a:noFill/>
          <a:ln/>
        </p:spPr>
        <p:txBody>
          <a:bodyPr wrap="square" lIns="0" tIns="0" rIns="0" bIns="0" rtlCol="0" anchor="t"/>
          <a:lstStyle/>
          <a:p>
            <a:pPr marL="0" indent="0">
              <a:buNone/>
            </a:pPr>
            <a:r>
              <a:rPr lang="en-US" sz="1300" dirty="0">
                <a:solidFill>
                  <a:srgbClr val="CADCFC"/>
                </a:solidFill>
                <a:latin typeface="Calibri" pitchFamily="34" charset="0"/>
                <a:ea typeface="Calibri" pitchFamily="34" charset="-122"/>
                <a:cs typeface="Calibri" pitchFamily="34" charset="-120"/>
              </a:rPr>
              <a:t>Suggests a reorder quantity from real business data.</a:t>
            </a:r>
            <a:endParaRPr lang="en-US" sz="1300" dirty="0"/>
          </a:p>
        </p:txBody>
      </p:sp>
      <p:sp>
        <p:nvSpPr>
          <p:cNvPr id="37" name="Shape 31"/>
          <p:cNvSpPr/>
          <p:nvPr/>
        </p:nvSpPr>
        <p:spPr>
          <a:xfrm>
            <a:off x="548640" y="5715000"/>
            <a:ext cx="11091672" cy="594360"/>
          </a:xfrm>
          <a:prstGeom prst="roundRect">
            <a:avLst>
              <a:gd name="adj" fmla="val 12308"/>
            </a:avLst>
          </a:prstGeom>
          <a:solidFill>
            <a:srgbClr val="0B1F3A"/>
          </a:solidFill>
          <a:ln w="12700">
            <a:solidFill>
              <a:srgbClr val="0B1F3A"/>
            </a:solidFill>
            <a:prstDash val="solid"/>
          </a:ln>
        </p:spPr>
      </p:sp>
      <p:sp>
        <p:nvSpPr>
          <p:cNvPr id="38" name="Text 32"/>
          <p:cNvSpPr txBox="1"/>
          <p:nvPr/>
        </p:nvSpPr>
        <p:spPr>
          <a:xfrm>
            <a:off x="822960" y="5715000"/>
            <a:ext cx="2194560" cy="59436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NOTE</a:t>
            </a:r>
            <a:endParaRPr lang="en-US" sz="1200" dirty="0"/>
          </a:p>
        </p:txBody>
      </p:sp>
      <p:sp>
        <p:nvSpPr>
          <p:cNvPr id="39" name="Text 33"/>
          <p:cNvSpPr txBox="1"/>
          <p:nvPr/>
        </p:nvSpPr>
        <p:spPr>
          <a:xfrm>
            <a:off x="3017520" y="5715000"/>
            <a:ext cx="8412480" cy="5943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The LLM never invents stock information: recommendations use available business data.</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ADDITIONAL BUSINESS FEATURES</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Beyond Basic Inventory Management</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12</a:t>
            </a:r>
            <a:endParaRPr lang="en-US" sz="1000" dirty="0"/>
          </a:p>
        </p:txBody>
      </p:sp>
      <p:sp>
        <p:nvSpPr>
          <p:cNvPr id="6" name="Shape 4"/>
          <p:cNvSpPr/>
          <p:nvPr/>
        </p:nvSpPr>
        <p:spPr>
          <a:xfrm>
            <a:off x="548640" y="1554480"/>
            <a:ext cx="2615184" cy="4663440"/>
          </a:xfrm>
          <a:prstGeom prst="roundRect">
            <a:avLst>
              <a:gd name="adj" fmla="val 2797"/>
            </a:avLst>
          </a:prstGeom>
          <a:solidFill>
            <a:srgbClr val="F1F4F9"/>
          </a:solidFill>
          <a:ln w="12700">
            <a:solidFill>
              <a:srgbClr val="F1F4F9"/>
            </a:solidFill>
            <a:prstDash val="solid"/>
          </a:ln>
        </p:spPr>
      </p:sp>
      <p:sp>
        <p:nvSpPr>
          <p:cNvPr id="7" name="Shape 5"/>
          <p:cNvSpPr/>
          <p:nvPr/>
        </p:nvSpPr>
        <p:spPr>
          <a:xfrm>
            <a:off x="731520" y="1719072"/>
            <a:ext cx="502920" cy="502920"/>
          </a:xfrm>
          <a:prstGeom prst="ellipse">
            <a:avLst/>
          </a:prstGeom>
          <a:solidFill>
            <a:srgbClr val="F5A623"/>
          </a:solidFill>
          <a:ln w="12700">
            <a:solidFill>
              <a:srgbClr val="F5A623"/>
            </a:solidFill>
            <a:prstDash val="solid"/>
          </a:ln>
        </p:spPr>
      </p:sp>
      <p:pic>
        <p:nvPicPr>
          <p:cNvPr id="8" name="Image 0" descr="preencoded.png"/>
          <p:cNvPicPr>
            <a:picLocks noChangeAspect="1"/>
          </p:cNvPicPr>
          <p:nvPr/>
        </p:nvPicPr>
        <p:blipFill>
          <a:blip r:embed="rId3"/>
          <a:stretch>
            <a:fillRect/>
          </a:stretch>
        </p:blipFill>
        <p:spPr>
          <a:xfrm>
            <a:off x="857250" y="1844802"/>
            <a:ext cx="251460" cy="251460"/>
          </a:xfrm>
          <a:prstGeom prst="rect">
            <a:avLst/>
          </a:prstGeom>
        </p:spPr>
      </p:pic>
      <p:sp>
        <p:nvSpPr>
          <p:cNvPr id="9" name="Text 6"/>
          <p:cNvSpPr txBox="1"/>
          <p:nvPr/>
        </p:nvSpPr>
        <p:spPr>
          <a:xfrm>
            <a:off x="1325880" y="1719072"/>
            <a:ext cx="173736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Customer Credit</a:t>
            </a:r>
            <a:endParaRPr lang="en-US" sz="1500" dirty="0"/>
          </a:p>
        </p:txBody>
      </p:sp>
      <p:sp>
        <p:nvSpPr>
          <p:cNvPr id="10" name="Shape 7"/>
          <p:cNvSpPr/>
          <p:nvPr/>
        </p:nvSpPr>
        <p:spPr>
          <a:xfrm>
            <a:off x="3374136" y="1554480"/>
            <a:ext cx="2615184" cy="4663440"/>
          </a:xfrm>
          <a:prstGeom prst="roundRect">
            <a:avLst>
              <a:gd name="adj" fmla="val 2797"/>
            </a:avLst>
          </a:prstGeom>
          <a:solidFill>
            <a:srgbClr val="F1F4F9"/>
          </a:solidFill>
          <a:ln w="12700">
            <a:solidFill>
              <a:srgbClr val="F1F4F9"/>
            </a:solidFill>
            <a:prstDash val="solid"/>
          </a:ln>
        </p:spPr>
      </p:sp>
      <p:sp>
        <p:nvSpPr>
          <p:cNvPr id="11" name="Shape 8"/>
          <p:cNvSpPr/>
          <p:nvPr/>
        </p:nvSpPr>
        <p:spPr>
          <a:xfrm>
            <a:off x="3557016" y="1719072"/>
            <a:ext cx="502920" cy="502920"/>
          </a:xfrm>
          <a:prstGeom prst="ellipse">
            <a:avLst/>
          </a:prstGeom>
          <a:solidFill>
            <a:srgbClr val="F5A623"/>
          </a:solidFill>
          <a:ln w="12700">
            <a:solidFill>
              <a:srgbClr val="F5A623"/>
            </a:solidFill>
            <a:prstDash val="solid"/>
          </a:ln>
        </p:spPr>
      </p:sp>
      <p:pic>
        <p:nvPicPr>
          <p:cNvPr id="12" name="Image 1" descr="preencoded.png"/>
          <p:cNvPicPr>
            <a:picLocks noChangeAspect="1"/>
          </p:cNvPicPr>
          <p:nvPr/>
        </p:nvPicPr>
        <p:blipFill>
          <a:blip r:embed="rId4"/>
          <a:stretch>
            <a:fillRect/>
          </a:stretch>
        </p:blipFill>
        <p:spPr>
          <a:xfrm>
            <a:off x="3682746" y="1844802"/>
            <a:ext cx="251460" cy="251460"/>
          </a:xfrm>
          <a:prstGeom prst="rect">
            <a:avLst/>
          </a:prstGeom>
        </p:spPr>
      </p:pic>
      <p:sp>
        <p:nvSpPr>
          <p:cNvPr id="13" name="Text 9"/>
          <p:cNvSpPr txBox="1"/>
          <p:nvPr/>
        </p:nvSpPr>
        <p:spPr>
          <a:xfrm>
            <a:off x="4151376" y="1719072"/>
            <a:ext cx="173736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Supplier Management</a:t>
            </a:r>
            <a:endParaRPr lang="en-US" sz="1500" dirty="0"/>
          </a:p>
        </p:txBody>
      </p:sp>
      <p:sp>
        <p:nvSpPr>
          <p:cNvPr id="14" name="Shape 10"/>
          <p:cNvSpPr/>
          <p:nvPr/>
        </p:nvSpPr>
        <p:spPr>
          <a:xfrm>
            <a:off x="6199632" y="1554480"/>
            <a:ext cx="2615184" cy="4663440"/>
          </a:xfrm>
          <a:prstGeom prst="roundRect">
            <a:avLst>
              <a:gd name="adj" fmla="val 2797"/>
            </a:avLst>
          </a:prstGeom>
          <a:solidFill>
            <a:srgbClr val="F1F4F9"/>
          </a:solidFill>
          <a:ln w="12700">
            <a:solidFill>
              <a:srgbClr val="F1F4F9"/>
            </a:solidFill>
            <a:prstDash val="solid"/>
          </a:ln>
        </p:spPr>
      </p:sp>
      <p:sp>
        <p:nvSpPr>
          <p:cNvPr id="15" name="Shape 11"/>
          <p:cNvSpPr/>
          <p:nvPr/>
        </p:nvSpPr>
        <p:spPr>
          <a:xfrm>
            <a:off x="6382512" y="1719072"/>
            <a:ext cx="502920" cy="502920"/>
          </a:xfrm>
          <a:prstGeom prst="ellipse">
            <a:avLst/>
          </a:prstGeom>
          <a:solidFill>
            <a:srgbClr val="F5A623"/>
          </a:solidFill>
          <a:ln w="12700">
            <a:solidFill>
              <a:srgbClr val="F5A623"/>
            </a:solidFill>
            <a:prstDash val="solid"/>
          </a:ln>
        </p:spPr>
      </p:sp>
      <p:pic>
        <p:nvPicPr>
          <p:cNvPr id="16" name="Image 2" descr="preencoded.png"/>
          <p:cNvPicPr>
            <a:picLocks noChangeAspect="1"/>
          </p:cNvPicPr>
          <p:nvPr/>
        </p:nvPicPr>
        <p:blipFill>
          <a:blip r:embed="rId5"/>
          <a:stretch>
            <a:fillRect/>
          </a:stretch>
        </p:blipFill>
        <p:spPr>
          <a:xfrm>
            <a:off x="6508242" y="1844802"/>
            <a:ext cx="251460" cy="251460"/>
          </a:xfrm>
          <a:prstGeom prst="rect">
            <a:avLst/>
          </a:prstGeom>
        </p:spPr>
      </p:pic>
      <p:sp>
        <p:nvSpPr>
          <p:cNvPr id="17" name="Text 12"/>
          <p:cNvSpPr txBox="1"/>
          <p:nvPr/>
        </p:nvSpPr>
        <p:spPr>
          <a:xfrm>
            <a:off x="6976872" y="1719072"/>
            <a:ext cx="173736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Purchase Management</a:t>
            </a:r>
            <a:endParaRPr lang="en-US" sz="1500" dirty="0"/>
          </a:p>
        </p:txBody>
      </p:sp>
      <p:sp>
        <p:nvSpPr>
          <p:cNvPr id="18" name="Shape 13"/>
          <p:cNvSpPr/>
          <p:nvPr/>
        </p:nvSpPr>
        <p:spPr>
          <a:xfrm>
            <a:off x="9025128" y="1554480"/>
            <a:ext cx="2615184" cy="4663440"/>
          </a:xfrm>
          <a:prstGeom prst="roundRect">
            <a:avLst>
              <a:gd name="adj" fmla="val 2797"/>
            </a:avLst>
          </a:prstGeom>
          <a:solidFill>
            <a:srgbClr val="F1F4F9"/>
          </a:solidFill>
          <a:ln w="12700">
            <a:solidFill>
              <a:srgbClr val="F1F4F9"/>
            </a:solidFill>
            <a:prstDash val="solid"/>
          </a:ln>
        </p:spPr>
      </p:sp>
      <p:sp>
        <p:nvSpPr>
          <p:cNvPr id="19" name="Shape 14"/>
          <p:cNvSpPr/>
          <p:nvPr/>
        </p:nvSpPr>
        <p:spPr>
          <a:xfrm>
            <a:off x="9208008" y="1719072"/>
            <a:ext cx="502920" cy="502920"/>
          </a:xfrm>
          <a:prstGeom prst="ellipse">
            <a:avLst/>
          </a:prstGeom>
          <a:solidFill>
            <a:srgbClr val="F5A623"/>
          </a:solidFill>
          <a:ln w="12700">
            <a:solidFill>
              <a:srgbClr val="F5A623"/>
            </a:solidFill>
            <a:prstDash val="solid"/>
          </a:ln>
        </p:spPr>
      </p:sp>
      <p:pic>
        <p:nvPicPr>
          <p:cNvPr id="20" name="Image 3" descr="preencoded.png"/>
          <p:cNvPicPr>
            <a:picLocks noChangeAspect="1"/>
          </p:cNvPicPr>
          <p:nvPr/>
        </p:nvPicPr>
        <p:blipFill>
          <a:blip r:embed="rId6"/>
          <a:stretch>
            <a:fillRect/>
          </a:stretch>
        </p:blipFill>
        <p:spPr>
          <a:xfrm>
            <a:off x="9333738" y="1844802"/>
            <a:ext cx="251460" cy="251460"/>
          </a:xfrm>
          <a:prstGeom prst="rect">
            <a:avLst/>
          </a:prstGeom>
        </p:spPr>
      </p:pic>
      <p:sp>
        <p:nvSpPr>
          <p:cNvPr id="21" name="Text 15"/>
          <p:cNvSpPr txBox="1"/>
          <p:nvPr/>
        </p:nvSpPr>
        <p:spPr>
          <a:xfrm>
            <a:off x="9802368" y="1719072"/>
            <a:ext cx="1737360" cy="502920"/>
          </a:xfrm>
          <a:prstGeom prst="rect">
            <a:avLst/>
          </a:prstGeom>
          <a:noFill/>
          <a:ln/>
        </p:spPr>
        <p:txBody>
          <a:bodyPr wrap="square" lIns="0" tIns="0" rIns="0" bIns="0" rtlCol="0" anchor="ctr"/>
          <a:lstStyle/>
          <a:p>
            <a:pPr marL="0" indent="0">
              <a:buNone/>
            </a:pPr>
            <a:r>
              <a:rPr lang="en-US" sz="1500" b="1" dirty="0">
                <a:solidFill>
                  <a:srgbClr val="0B1F3A"/>
                </a:solidFill>
                <a:latin typeface="Cambria" pitchFamily="34" charset="0"/>
                <a:ea typeface="Cambria" pitchFamily="34" charset="-122"/>
                <a:cs typeface="Cambria" pitchFamily="34" charset="-120"/>
              </a:rPr>
              <a:t>Business Analytics</a:t>
            </a:r>
            <a:endParaRPr lang="en-US" sz="1500" dirty="0"/>
          </a:p>
        </p:txBody>
      </p:sp>
      <p:sp>
        <p:nvSpPr>
          <p:cNvPr id="22" name="Shape 16"/>
          <p:cNvSpPr/>
          <p:nvPr/>
        </p:nvSpPr>
        <p:spPr>
          <a:xfrm>
            <a:off x="731520" y="2514600"/>
            <a:ext cx="2249424" cy="2377440"/>
          </a:xfrm>
          <a:prstGeom prst="roundRect">
            <a:avLst>
              <a:gd name="adj" fmla="val 3252"/>
            </a:avLst>
          </a:prstGeom>
          <a:solidFill>
            <a:srgbClr val="FFFFFF"/>
          </a:solidFill>
          <a:ln w="12700">
            <a:solidFill>
              <a:srgbClr val="FFFFFF"/>
            </a:solidFill>
            <a:prstDash val="solid"/>
          </a:ln>
        </p:spPr>
      </p:sp>
      <p:sp>
        <p:nvSpPr>
          <p:cNvPr id="23" name="Text 17"/>
          <p:cNvSpPr txBox="1"/>
          <p:nvPr/>
        </p:nvSpPr>
        <p:spPr>
          <a:xfrm>
            <a:off x="914400" y="2651760"/>
            <a:ext cx="1097280" cy="365760"/>
          </a:xfrm>
          <a:prstGeom prst="rect">
            <a:avLst/>
          </a:prstGeom>
          <a:noFill/>
          <a:ln/>
        </p:spPr>
        <p:txBody>
          <a:bodyPr wrap="square" lIns="0" tIns="0" rIns="0" bIns="0" rtlCol="0" anchor="ctr"/>
          <a:lstStyle/>
          <a:p>
            <a:pPr marL="0" indent="0">
              <a:buNone/>
            </a:pPr>
            <a:r>
              <a:rPr lang="en-US" sz="1200" dirty="0">
                <a:solidFill>
                  <a:srgbClr val="55657F"/>
                </a:solidFill>
                <a:latin typeface="Calibri" pitchFamily="34" charset="0"/>
                <a:ea typeface="Calibri" pitchFamily="34" charset="-122"/>
                <a:cs typeface="Calibri" pitchFamily="34" charset="-120"/>
              </a:rPr>
              <a:t>Customer</a:t>
            </a:r>
            <a:endParaRPr lang="en-US" sz="1200" dirty="0"/>
          </a:p>
        </p:txBody>
      </p:sp>
      <p:sp>
        <p:nvSpPr>
          <p:cNvPr id="24" name="Text 18"/>
          <p:cNvSpPr txBox="1"/>
          <p:nvPr/>
        </p:nvSpPr>
        <p:spPr>
          <a:xfrm>
            <a:off x="1920240" y="2651760"/>
            <a:ext cx="960120" cy="365760"/>
          </a:xfrm>
          <a:prstGeom prst="rect">
            <a:avLst/>
          </a:prstGeom>
          <a:noFill/>
          <a:ln/>
        </p:spPr>
        <p:txBody>
          <a:bodyPr wrap="square" lIns="0" tIns="0" rIns="0" bIns="0" rtlCol="0" anchor="ctr"/>
          <a:lstStyle/>
          <a:p>
            <a:pPr marL="0" indent="0" algn="r">
              <a:buNone/>
            </a:pPr>
            <a:r>
              <a:rPr lang="en-US" sz="1400" b="1" dirty="0">
                <a:solidFill>
                  <a:srgbClr val="0B1F3A"/>
                </a:solidFill>
                <a:latin typeface="Calibri" pitchFamily="34" charset="0"/>
                <a:ea typeface="Calibri" pitchFamily="34" charset="-122"/>
                <a:cs typeface="Calibri" pitchFamily="34" charset="-120"/>
              </a:rPr>
              <a:t>Ravi</a:t>
            </a:r>
            <a:endParaRPr lang="en-US" sz="1400" dirty="0"/>
          </a:p>
        </p:txBody>
      </p:sp>
      <p:sp>
        <p:nvSpPr>
          <p:cNvPr id="25" name="Text 19"/>
          <p:cNvSpPr txBox="1"/>
          <p:nvPr/>
        </p:nvSpPr>
        <p:spPr>
          <a:xfrm>
            <a:off x="914400" y="3154680"/>
            <a:ext cx="1097280" cy="365760"/>
          </a:xfrm>
          <a:prstGeom prst="rect">
            <a:avLst/>
          </a:prstGeom>
          <a:noFill/>
          <a:ln/>
        </p:spPr>
        <p:txBody>
          <a:bodyPr wrap="square" lIns="0" tIns="0" rIns="0" bIns="0" rtlCol="0" anchor="ctr"/>
          <a:lstStyle/>
          <a:p>
            <a:pPr marL="0" indent="0">
              <a:buNone/>
            </a:pPr>
            <a:r>
              <a:rPr lang="en-US" sz="1200" dirty="0">
                <a:solidFill>
                  <a:srgbClr val="55657F"/>
                </a:solidFill>
                <a:latin typeface="Calibri" pitchFamily="34" charset="0"/>
                <a:ea typeface="Calibri" pitchFamily="34" charset="-122"/>
                <a:cs typeface="Calibri" pitchFamily="34" charset="-120"/>
              </a:rPr>
              <a:t>Total credit</a:t>
            </a:r>
            <a:endParaRPr lang="en-US" sz="1200" dirty="0"/>
          </a:p>
        </p:txBody>
      </p:sp>
      <p:sp>
        <p:nvSpPr>
          <p:cNvPr id="26" name="Text 20"/>
          <p:cNvSpPr txBox="1"/>
          <p:nvPr/>
        </p:nvSpPr>
        <p:spPr>
          <a:xfrm>
            <a:off x="1920240" y="3154680"/>
            <a:ext cx="960120" cy="365760"/>
          </a:xfrm>
          <a:prstGeom prst="rect">
            <a:avLst/>
          </a:prstGeom>
          <a:noFill/>
          <a:ln/>
        </p:spPr>
        <p:txBody>
          <a:bodyPr wrap="square" lIns="0" tIns="0" rIns="0" bIns="0" rtlCol="0" anchor="ctr"/>
          <a:lstStyle/>
          <a:p>
            <a:pPr marL="0" indent="0" algn="r">
              <a:buNone/>
            </a:pPr>
            <a:r>
              <a:rPr lang="en-US" sz="1400" b="1" dirty="0">
                <a:solidFill>
                  <a:srgbClr val="0B1F3A"/>
                </a:solidFill>
                <a:latin typeface="Calibri" pitchFamily="34" charset="0"/>
                <a:ea typeface="Calibri" pitchFamily="34" charset="-122"/>
                <a:cs typeface="Calibri" pitchFamily="34" charset="-120"/>
              </a:rPr>
              <a:t>₹2,500</a:t>
            </a:r>
            <a:endParaRPr lang="en-US" sz="1400" dirty="0"/>
          </a:p>
        </p:txBody>
      </p:sp>
      <p:sp>
        <p:nvSpPr>
          <p:cNvPr id="27" name="Text 21"/>
          <p:cNvSpPr txBox="1"/>
          <p:nvPr/>
        </p:nvSpPr>
        <p:spPr>
          <a:xfrm>
            <a:off x="914400" y="3657600"/>
            <a:ext cx="1097280" cy="365760"/>
          </a:xfrm>
          <a:prstGeom prst="rect">
            <a:avLst/>
          </a:prstGeom>
          <a:noFill/>
          <a:ln/>
        </p:spPr>
        <p:txBody>
          <a:bodyPr wrap="square" lIns="0" tIns="0" rIns="0" bIns="0" rtlCol="0" anchor="ctr"/>
          <a:lstStyle/>
          <a:p>
            <a:pPr marL="0" indent="0">
              <a:buNone/>
            </a:pPr>
            <a:r>
              <a:rPr lang="en-US" sz="1200" dirty="0">
                <a:solidFill>
                  <a:srgbClr val="55657F"/>
                </a:solidFill>
                <a:latin typeface="Calibri" pitchFamily="34" charset="0"/>
                <a:ea typeface="Calibri" pitchFamily="34" charset="-122"/>
                <a:cs typeface="Calibri" pitchFamily="34" charset="-120"/>
              </a:rPr>
              <a:t>Paid</a:t>
            </a:r>
            <a:endParaRPr lang="en-US" sz="1200" dirty="0"/>
          </a:p>
        </p:txBody>
      </p:sp>
      <p:sp>
        <p:nvSpPr>
          <p:cNvPr id="28" name="Text 22"/>
          <p:cNvSpPr txBox="1"/>
          <p:nvPr/>
        </p:nvSpPr>
        <p:spPr>
          <a:xfrm>
            <a:off x="1920240" y="3657600"/>
            <a:ext cx="960120" cy="365760"/>
          </a:xfrm>
          <a:prstGeom prst="rect">
            <a:avLst/>
          </a:prstGeom>
          <a:noFill/>
          <a:ln/>
        </p:spPr>
        <p:txBody>
          <a:bodyPr wrap="square" lIns="0" tIns="0" rIns="0" bIns="0" rtlCol="0" anchor="ctr"/>
          <a:lstStyle/>
          <a:p>
            <a:pPr marL="0" indent="0" algn="r">
              <a:buNone/>
            </a:pPr>
            <a:r>
              <a:rPr lang="en-US" sz="1400" b="1" dirty="0">
                <a:solidFill>
                  <a:srgbClr val="0B1F3A"/>
                </a:solidFill>
                <a:latin typeface="Calibri" pitchFamily="34" charset="0"/>
                <a:ea typeface="Calibri" pitchFamily="34" charset="-122"/>
                <a:cs typeface="Calibri" pitchFamily="34" charset="-120"/>
              </a:rPr>
              <a:t>₹1,000</a:t>
            </a:r>
            <a:endParaRPr lang="en-US" sz="1400" dirty="0"/>
          </a:p>
        </p:txBody>
      </p:sp>
      <p:sp>
        <p:nvSpPr>
          <p:cNvPr id="29" name="Shape 23"/>
          <p:cNvSpPr/>
          <p:nvPr/>
        </p:nvSpPr>
        <p:spPr>
          <a:xfrm>
            <a:off x="914400" y="4206240"/>
            <a:ext cx="1883664" cy="502920"/>
          </a:xfrm>
          <a:prstGeom prst="roundRect">
            <a:avLst>
              <a:gd name="adj" fmla="val 14545"/>
            </a:avLst>
          </a:prstGeom>
          <a:solidFill>
            <a:srgbClr val="F5A623"/>
          </a:solidFill>
          <a:ln w="12700">
            <a:solidFill>
              <a:srgbClr val="F5A623"/>
            </a:solidFill>
            <a:prstDash val="solid"/>
          </a:ln>
        </p:spPr>
      </p:sp>
      <p:sp>
        <p:nvSpPr>
          <p:cNvPr id="30" name="Text 24"/>
          <p:cNvSpPr txBox="1"/>
          <p:nvPr/>
        </p:nvSpPr>
        <p:spPr>
          <a:xfrm>
            <a:off x="914400" y="4206240"/>
            <a:ext cx="1883664" cy="502920"/>
          </a:xfrm>
          <a:prstGeom prst="rect">
            <a:avLst/>
          </a:prstGeom>
          <a:noFill/>
          <a:ln/>
        </p:spPr>
        <p:txBody>
          <a:bodyPr wrap="square" lIns="0" tIns="0" rIns="0" bIns="0" rtlCol="0" anchor="ctr"/>
          <a:lstStyle/>
          <a:p>
            <a:pPr marL="0" indent="0" algn="ctr">
              <a:buNone/>
            </a:pPr>
            <a:r>
              <a:rPr lang="en-US" sz="1400" b="1" dirty="0">
                <a:solidFill>
                  <a:srgbClr val="0B1F3A"/>
                </a:solidFill>
                <a:latin typeface="Calibri" pitchFamily="34" charset="0"/>
                <a:ea typeface="Calibri" pitchFamily="34" charset="-122"/>
                <a:cs typeface="Calibri" pitchFamily="34" charset="-120"/>
              </a:rPr>
              <a:t>Balance  ₹1,500</a:t>
            </a:r>
            <a:endParaRPr lang="en-US" sz="1400" dirty="0"/>
          </a:p>
        </p:txBody>
      </p:sp>
      <p:sp>
        <p:nvSpPr>
          <p:cNvPr id="31" name="Text 25"/>
          <p:cNvSpPr txBox="1"/>
          <p:nvPr/>
        </p:nvSpPr>
        <p:spPr>
          <a:xfrm>
            <a:off x="777240" y="5074920"/>
            <a:ext cx="2240280" cy="822960"/>
          </a:xfrm>
          <a:prstGeom prst="rect">
            <a:avLst/>
          </a:prstGeom>
          <a:noFill/>
          <a:ln/>
        </p:spPr>
        <p:txBody>
          <a:bodyPr wrap="square" lIns="0" tIns="0" rIns="0" bIns="0" rtlCol="0" anchor="t"/>
          <a:lstStyle/>
          <a:p>
            <a:pPr marL="0" indent="0">
              <a:buNone/>
            </a:pPr>
            <a:r>
              <a:rPr lang="en-US" sz="1250" dirty="0">
                <a:solidFill>
                  <a:srgbClr val="55657F"/>
                </a:solidFill>
                <a:latin typeface="Calibri" pitchFamily="34" charset="0"/>
                <a:ea typeface="Calibri" pitchFamily="34" charset="-122"/>
                <a:cs typeface="Calibri" pitchFamily="34" charset="-120"/>
              </a:rPr>
              <a:t>Track who owes what, and how much remains.</a:t>
            </a:r>
            <a:endParaRPr lang="en-US" sz="1250" dirty="0"/>
          </a:p>
        </p:txBody>
      </p:sp>
      <p:sp>
        <p:nvSpPr>
          <p:cNvPr id="32" name="Text 26"/>
          <p:cNvSpPr txBox="1"/>
          <p:nvPr/>
        </p:nvSpPr>
        <p:spPr>
          <a:xfrm>
            <a:off x="3611880" y="2606040"/>
            <a:ext cx="2194560" cy="3474720"/>
          </a:xfrm>
          <a:prstGeom prst="rect">
            <a:avLst/>
          </a:prstGeom>
          <a:noFill/>
          <a:ln/>
        </p:spPr>
        <p:txBody>
          <a:bodyPr wrap="square" lIns="0" tIns="0" rIns="0" bIns="0" rtlCol="0" anchor="t"/>
          <a:lstStyle/>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Supplier name</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Contact information</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Products supplied</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Purchase price</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Delivery information</a:t>
            </a:r>
            <a:endParaRPr lang="en-US" sz="1550" dirty="0"/>
          </a:p>
        </p:txBody>
      </p:sp>
      <p:sp>
        <p:nvSpPr>
          <p:cNvPr id="33" name="Shape 27"/>
          <p:cNvSpPr/>
          <p:nvPr/>
        </p:nvSpPr>
        <p:spPr>
          <a:xfrm>
            <a:off x="6446520" y="2468880"/>
            <a:ext cx="2249424" cy="475488"/>
          </a:xfrm>
          <a:prstGeom prst="roundRect">
            <a:avLst>
              <a:gd name="adj" fmla="val 15385"/>
            </a:avLst>
          </a:prstGeom>
          <a:solidFill>
            <a:srgbClr val="0B1F3A"/>
          </a:solidFill>
          <a:ln w="12700">
            <a:solidFill>
              <a:srgbClr val="0B1F3A"/>
            </a:solidFill>
            <a:prstDash val="solid"/>
          </a:ln>
        </p:spPr>
      </p:sp>
      <p:sp>
        <p:nvSpPr>
          <p:cNvPr id="34" name="Text 28"/>
          <p:cNvSpPr txBox="1"/>
          <p:nvPr/>
        </p:nvSpPr>
        <p:spPr>
          <a:xfrm>
            <a:off x="6446520" y="2468880"/>
            <a:ext cx="2249424"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Supplier</a:t>
            </a:r>
            <a:endParaRPr lang="en-US" sz="1300" dirty="0"/>
          </a:p>
        </p:txBody>
      </p:sp>
      <p:sp>
        <p:nvSpPr>
          <p:cNvPr id="35" name="Shape 29"/>
          <p:cNvSpPr/>
          <p:nvPr/>
        </p:nvSpPr>
        <p:spPr>
          <a:xfrm>
            <a:off x="6446520" y="3090672"/>
            <a:ext cx="2249424" cy="475488"/>
          </a:xfrm>
          <a:prstGeom prst="roundRect">
            <a:avLst>
              <a:gd name="adj" fmla="val 15385"/>
            </a:avLst>
          </a:prstGeom>
          <a:solidFill>
            <a:srgbClr val="0B1F3A"/>
          </a:solidFill>
          <a:ln w="12700">
            <a:solidFill>
              <a:srgbClr val="0B1F3A"/>
            </a:solidFill>
            <a:prstDash val="solid"/>
          </a:ln>
        </p:spPr>
      </p:sp>
      <p:sp>
        <p:nvSpPr>
          <p:cNvPr id="36" name="Text 30"/>
          <p:cNvSpPr txBox="1"/>
          <p:nvPr/>
        </p:nvSpPr>
        <p:spPr>
          <a:xfrm>
            <a:off x="6446520" y="3090672"/>
            <a:ext cx="2249424"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Purchase Order</a:t>
            </a:r>
            <a:endParaRPr lang="en-US" sz="1300" dirty="0"/>
          </a:p>
        </p:txBody>
      </p:sp>
      <p:sp>
        <p:nvSpPr>
          <p:cNvPr id="37" name="Shape 31"/>
          <p:cNvSpPr/>
          <p:nvPr/>
        </p:nvSpPr>
        <p:spPr>
          <a:xfrm>
            <a:off x="6446520" y="3712464"/>
            <a:ext cx="2249424" cy="475488"/>
          </a:xfrm>
          <a:prstGeom prst="roundRect">
            <a:avLst>
              <a:gd name="adj" fmla="val 15385"/>
            </a:avLst>
          </a:prstGeom>
          <a:solidFill>
            <a:srgbClr val="0B1F3A"/>
          </a:solidFill>
          <a:ln w="12700">
            <a:solidFill>
              <a:srgbClr val="0B1F3A"/>
            </a:solidFill>
            <a:prstDash val="solid"/>
          </a:ln>
        </p:spPr>
      </p:sp>
      <p:sp>
        <p:nvSpPr>
          <p:cNvPr id="38" name="Text 32"/>
          <p:cNvSpPr txBox="1"/>
          <p:nvPr/>
        </p:nvSpPr>
        <p:spPr>
          <a:xfrm>
            <a:off x="6446520" y="3712464"/>
            <a:ext cx="2249424"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Goods Received</a:t>
            </a:r>
            <a:endParaRPr lang="en-US" sz="1300" dirty="0"/>
          </a:p>
        </p:txBody>
      </p:sp>
      <p:sp>
        <p:nvSpPr>
          <p:cNvPr id="39" name="Shape 33"/>
          <p:cNvSpPr/>
          <p:nvPr/>
        </p:nvSpPr>
        <p:spPr>
          <a:xfrm>
            <a:off x="6446520" y="4334256"/>
            <a:ext cx="2249424" cy="475488"/>
          </a:xfrm>
          <a:prstGeom prst="roundRect">
            <a:avLst>
              <a:gd name="adj" fmla="val 15385"/>
            </a:avLst>
          </a:prstGeom>
          <a:solidFill>
            <a:srgbClr val="0B1F3A"/>
          </a:solidFill>
          <a:ln w="12700">
            <a:solidFill>
              <a:srgbClr val="0B1F3A"/>
            </a:solidFill>
            <a:prstDash val="solid"/>
          </a:ln>
        </p:spPr>
      </p:sp>
      <p:sp>
        <p:nvSpPr>
          <p:cNvPr id="40" name="Text 34"/>
          <p:cNvSpPr txBox="1"/>
          <p:nvPr/>
        </p:nvSpPr>
        <p:spPr>
          <a:xfrm>
            <a:off x="6446520" y="4334256"/>
            <a:ext cx="2249424"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Confirm Quantity</a:t>
            </a:r>
            <a:endParaRPr lang="en-US" sz="1300" dirty="0"/>
          </a:p>
        </p:txBody>
      </p:sp>
      <p:sp>
        <p:nvSpPr>
          <p:cNvPr id="41" name="Shape 35"/>
          <p:cNvSpPr/>
          <p:nvPr/>
        </p:nvSpPr>
        <p:spPr>
          <a:xfrm>
            <a:off x="6446520" y="4956048"/>
            <a:ext cx="2249424" cy="475488"/>
          </a:xfrm>
          <a:prstGeom prst="roundRect">
            <a:avLst>
              <a:gd name="adj" fmla="val 15385"/>
            </a:avLst>
          </a:prstGeom>
          <a:solidFill>
            <a:srgbClr val="0B1F3A"/>
          </a:solidFill>
          <a:ln w="12700">
            <a:solidFill>
              <a:srgbClr val="0B1F3A"/>
            </a:solidFill>
            <a:prstDash val="solid"/>
          </a:ln>
        </p:spPr>
      </p:sp>
      <p:sp>
        <p:nvSpPr>
          <p:cNvPr id="42" name="Text 36"/>
          <p:cNvSpPr txBox="1"/>
          <p:nvPr/>
        </p:nvSpPr>
        <p:spPr>
          <a:xfrm>
            <a:off x="6446520" y="4956048"/>
            <a:ext cx="2249424"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Stock IN</a:t>
            </a:r>
            <a:endParaRPr lang="en-US" sz="1300" dirty="0"/>
          </a:p>
        </p:txBody>
      </p:sp>
      <p:sp>
        <p:nvSpPr>
          <p:cNvPr id="43" name="Shape 37"/>
          <p:cNvSpPr/>
          <p:nvPr/>
        </p:nvSpPr>
        <p:spPr>
          <a:xfrm>
            <a:off x="6446520" y="5577840"/>
            <a:ext cx="2249424" cy="475488"/>
          </a:xfrm>
          <a:prstGeom prst="roundRect">
            <a:avLst>
              <a:gd name="adj" fmla="val 15385"/>
            </a:avLst>
          </a:prstGeom>
          <a:solidFill>
            <a:srgbClr val="F5A623"/>
          </a:solidFill>
          <a:ln w="12700">
            <a:solidFill>
              <a:srgbClr val="F5A623"/>
            </a:solidFill>
            <a:prstDash val="solid"/>
          </a:ln>
        </p:spPr>
      </p:sp>
      <p:sp>
        <p:nvSpPr>
          <p:cNvPr id="44" name="Text 38"/>
          <p:cNvSpPr txBox="1"/>
          <p:nvPr/>
        </p:nvSpPr>
        <p:spPr>
          <a:xfrm>
            <a:off x="6446520" y="5577840"/>
            <a:ext cx="2249424" cy="475488"/>
          </a:xfrm>
          <a:prstGeom prst="rect">
            <a:avLst/>
          </a:prstGeom>
          <a:noFill/>
          <a:ln/>
        </p:spPr>
        <p:txBody>
          <a:bodyPr wrap="square" lIns="0" tIns="0" rIns="0" bIns="0" rtlCol="0" anchor="ctr"/>
          <a:lstStyle/>
          <a:p>
            <a:pPr marL="0" indent="0" algn="ctr">
              <a:buNone/>
            </a:pPr>
            <a:r>
              <a:rPr lang="en-US" sz="1300" b="1" dirty="0">
                <a:solidFill>
                  <a:srgbClr val="0B1F3A"/>
                </a:solidFill>
                <a:latin typeface="Calibri" pitchFamily="34" charset="0"/>
                <a:ea typeface="Calibri" pitchFamily="34" charset="-122"/>
                <a:cs typeface="Calibri" pitchFamily="34" charset="-120"/>
              </a:rPr>
              <a:t>Inventory Updated</a:t>
            </a:r>
            <a:endParaRPr lang="en-US" sz="1300" dirty="0"/>
          </a:p>
        </p:txBody>
      </p:sp>
      <p:sp>
        <p:nvSpPr>
          <p:cNvPr id="45" name="Text 39"/>
          <p:cNvSpPr txBox="1"/>
          <p:nvPr/>
        </p:nvSpPr>
        <p:spPr>
          <a:xfrm>
            <a:off x="9281160" y="2606040"/>
            <a:ext cx="2194560" cy="3474720"/>
          </a:xfrm>
          <a:prstGeom prst="rect">
            <a:avLst/>
          </a:prstGeom>
          <a:noFill/>
          <a:ln/>
        </p:spPr>
        <p:txBody>
          <a:bodyPr wrap="square" lIns="0" tIns="0" rIns="0" bIns="0" rtlCol="0" anchor="t"/>
          <a:lstStyle/>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Fast-moving products</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Slow-moving products</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Stock value</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Sales trends</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Purchase trends</a:t>
            </a:r>
            <a:endParaRPr lang="en-US" sz="1550" dirty="0"/>
          </a:p>
          <a:p>
            <a:pPr marL="177800" indent="-177800">
              <a:spcAft>
                <a:spcPts val="1600"/>
              </a:spcAft>
              <a:buSzPct val="100000"/>
              <a:buChar char="•"/>
            </a:pPr>
            <a:r>
              <a:rPr lang="en-US" sz="1550" dirty="0">
                <a:solidFill>
                  <a:srgbClr val="0B1F3A"/>
                </a:solidFill>
                <a:latin typeface="Calibri" pitchFamily="34" charset="0"/>
                <a:ea typeface="Calibri" pitchFamily="34" charset="-122"/>
                <a:cs typeface="Calibri" pitchFamily="34" charset="-120"/>
              </a:rPr>
              <a:t>Low-stock products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TECHNOLOGY STACK</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Technology Used</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13</a:t>
            </a:r>
            <a:endParaRPr lang="en-US" sz="1000" dirty="0"/>
          </a:p>
        </p:txBody>
      </p:sp>
      <p:sp>
        <p:nvSpPr>
          <p:cNvPr id="6" name="Shape 4"/>
          <p:cNvSpPr/>
          <p:nvPr/>
        </p:nvSpPr>
        <p:spPr>
          <a:xfrm>
            <a:off x="548640" y="1554480"/>
            <a:ext cx="2615184" cy="3657600"/>
          </a:xfrm>
          <a:prstGeom prst="roundRect">
            <a:avLst>
              <a:gd name="adj" fmla="val 2797"/>
            </a:avLst>
          </a:prstGeom>
          <a:solidFill>
            <a:srgbClr val="F1F4F9"/>
          </a:solidFill>
          <a:ln w="12700">
            <a:solidFill>
              <a:srgbClr val="F1F4F9"/>
            </a:solidFill>
            <a:prstDash val="solid"/>
          </a:ln>
        </p:spPr>
      </p:sp>
      <p:sp>
        <p:nvSpPr>
          <p:cNvPr id="7" name="Shape 5"/>
          <p:cNvSpPr/>
          <p:nvPr/>
        </p:nvSpPr>
        <p:spPr>
          <a:xfrm>
            <a:off x="731520" y="1719072"/>
            <a:ext cx="548640" cy="548640"/>
          </a:xfrm>
          <a:prstGeom prst="ellipse">
            <a:avLst/>
          </a:prstGeom>
          <a:solidFill>
            <a:srgbClr val="F5A623"/>
          </a:solidFill>
          <a:ln w="12700">
            <a:solidFill>
              <a:srgbClr val="F5A623"/>
            </a:solidFill>
            <a:prstDash val="solid"/>
          </a:ln>
        </p:spPr>
      </p:sp>
      <p:pic>
        <p:nvPicPr>
          <p:cNvPr id="8" name="Image 0" descr="preencoded.png"/>
          <p:cNvPicPr>
            <a:picLocks noChangeAspect="1"/>
          </p:cNvPicPr>
          <p:nvPr/>
        </p:nvPicPr>
        <p:blipFill>
          <a:blip r:embed="rId3"/>
          <a:stretch>
            <a:fillRect/>
          </a:stretch>
        </p:blipFill>
        <p:spPr>
          <a:xfrm>
            <a:off x="868680" y="1856232"/>
            <a:ext cx="274320" cy="274320"/>
          </a:xfrm>
          <a:prstGeom prst="rect">
            <a:avLst/>
          </a:prstGeom>
        </p:spPr>
      </p:pic>
      <p:sp>
        <p:nvSpPr>
          <p:cNvPr id="9" name="Text 6"/>
          <p:cNvSpPr txBox="1"/>
          <p:nvPr/>
        </p:nvSpPr>
        <p:spPr>
          <a:xfrm>
            <a:off x="1417320" y="1719072"/>
            <a:ext cx="1645920" cy="54864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FRONTEND</a:t>
            </a:r>
            <a:endParaRPr lang="en-US" sz="1200" dirty="0"/>
          </a:p>
        </p:txBody>
      </p:sp>
      <p:sp>
        <p:nvSpPr>
          <p:cNvPr id="10" name="Text 7"/>
          <p:cNvSpPr txBox="1"/>
          <p:nvPr/>
        </p:nvSpPr>
        <p:spPr>
          <a:xfrm>
            <a:off x="731520" y="2468880"/>
            <a:ext cx="2286000" cy="68580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React.js</a:t>
            </a:r>
            <a:endParaRPr lang="en-US" sz="1800" dirty="0"/>
          </a:p>
        </p:txBody>
      </p:sp>
      <p:sp>
        <p:nvSpPr>
          <p:cNvPr id="11" name="Text 8"/>
          <p:cNvSpPr txBox="1"/>
          <p:nvPr/>
        </p:nvSpPr>
        <p:spPr>
          <a:xfrm>
            <a:off x="731520" y="3246120"/>
            <a:ext cx="2286000" cy="19202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Mobile application</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Responsive dashboards</a:t>
            </a:r>
            <a:endParaRPr lang="en-US" sz="1250" dirty="0"/>
          </a:p>
        </p:txBody>
      </p:sp>
      <p:sp>
        <p:nvSpPr>
          <p:cNvPr id="12" name="Shape 9"/>
          <p:cNvSpPr/>
          <p:nvPr/>
        </p:nvSpPr>
        <p:spPr>
          <a:xfrm>
            <a:off x="3374136" y="1554480"/>
            <a:ext cx="2615184" cy="3657600"/>
          </a:xfrm>
          <a:prstGeom prst="roundRect">
            <a:avLst>
              <a:gd name="adj" fmla="val 2797"/>
            </a:avLst>
          </a:prstGeom>
          <a:solidFill>
            <a:srgbClr val="F1F4F9"/>
          </a:solidFill>
          <a:ln w="12700">
            <a:solidFill>
              <a:srgbClr val="F1F4F9"/>
            </a:solidFill>
            <a:prstDash val="solid"/>
          </a:ln>
        </p:spPr>
      </p:sp>
      <p:sp>
        <p:nvSpPr>
          <p:cNvPr id="13" name="Shape 10"/>
          <p:cNvSpPr/>
          <p:nvPr/>
        </p:nvSpPr>
        <p:spPr>
          <a:xfrm>
            <a:off x="3557016" y="1719072"/>
            <a:ext cx="548640" cy="548640"/>
          </a:xfrm>
          <a:prstGeom prst="ellipse">
            <a:avLst/>
          </a:prstGeom>
          <a:solidFill>
            <a:srgbClr val="F5A623"/>
          </a:solidFill>
          <a:ln w="12700">
            <a:solidFill>
              <a:srgbClr val="F5A623"/>
            </a:solidFill>
            <a:prstDash val="solid"/>
          </a:ln>
        </p:spPr>
      </p:sp>
      <p:pic>
        <p:nvPicPr>
          <p:cNvPr id="14" name="Image 1" descr="preencoded.png"/>
          <p:cNvPicPr>
            <a:picLocks noChangeAspect="1"/>
          </p:cNvPicPr>
          <p:nvPr/>
        </p:nvPicPr>
        <p:blipFill>
          <a:blip r:embed="rId4"/>
          <a:stretch>
            <a:fillRect/>
          </a:stretch>
        </p:blipFill>
        <p:spPr>
          <a:xfrm>
            <a:off x="3694176" y="1856232"/>
            <a:ext cx="274320" cy="274320"/>
          </a:xfrm>
          <a:prstGeom prst="rect">
            <a:avLst/>
          </a:prstGeom>
        </p:spPr>
      </p:pic>
      <p:sp>
        <p:nvSpPr>
          <p:cNvPr id="15" name="Text 11"/>
          <p:cNvSpPr txBox="1"/>
          <p:nvPr/>
        </p:nvSpPr>
        <p:spPr>
          <a:xfrm>
            <a:off x="4242816" y="1719072"/>
            <a:ext cx="1645920" cy="54864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BACKEND</a:t>
            </a:r>
            <a:endParaRPr lang="en-US" sz="1200" dirty="0"/>
          </a:p>
        </p:txBody>
      </p:sp>
      <p:sp>
        <p:nvSpPr>
          <p:cNvPr id="16" name="Text 12"/>
          <p:cNvSpPr txBox="1"/>
          <p:nvPr/>
        </p:nvSpPr>
        <p:spPr>
          <a:xfrm>
            <a:off x="3557016" y="2468880"/>
            <a:ext cx="2286000" cy="68580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Spring Boot</a:t>
            </a:r>
            <a:endParaRPr lang="en-US" sz="1800" dirty="0"/>
          </a:p>
        </p:txBody>
      </p:sp>
      <p:sp>
        <p:nvSpPr>
          <p:cNvPr id="17" name="Text 13"/>
          <p:cNvSpPr txBox="1"/>
          <p:nvPr/>
        </p:nvSpPr>
        <p:spPr>
          <a:xfrm>
            <a:off x="3557016" y="3246120"/>
            <a:ext cx="2286000" cy="19202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REST APIs</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Business logic</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Inventory operations</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Transaction management</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Validation</a:t>
            </a:r>
            <a:endParaRPr lang="en-US" sz="1250" dirty="0"/>
          </a:p>
        </p:txBody>
      </p:sp>
      <p:sp>
        <p:nvSpPr>
          <p:cNvPr id="18" name="Shape 14"/>
          <p:cNvSpPr/>
          <p:nvPr/>
        </p:nvSpPr>
        <p:spPr>
          <a:xfrm>
            <a:off x="6199632" y="1554480"/>
            <a:ext cx="2615184" cy="3657600"/>
          </a:xfrm>
          <a:prstGeom prst="roundRect">
            <a:avLst>
              <a:gd name="adj" fmla="val 2797"/>
            </a:avLst>
          </a:prstGeom>
          <a:solidFill>
            <a:srgbClr val="F1F4F9"/>
          </a:solidFill>
          <a:ln w="12700">
            <a:solidFill>
              <a:srgbClr val="F1F4F9"/>
            </a:solidFill>
            <a:prstDash val="solid"/>
          </a:ln>
        </p:spPr>
      </p:sp>
      <p:sp>
        <p:nvSpPr>
          <p:cNvPr id="19" name="Shape 15"/>
          <p:cNvSpPr/>
          <p:nvPr/>
        </p:nvSpPr>
        <p:spPr>
          <a:xfrm>
            <a:off x="6382512" y="1719072"/>
            <a:ext cx="548640" cy="548640"/>
          </a:xfrm>
          <a:prstGeom prst="ellipse">
            <a:avLst/>
          </a:prstGeom>
          <a:solidFill>
            <a:srgbClr val="F5A623"/>
          </a:solidFill>
          <a:ln w="12700">
            <a:solidFill>
              <a:srgbClr val="F5A623"/>
            </a:solidFill>
            <a:prstDash val="solid"/>
          </a:ln>
        </p:spPr>
      </p:sp>
      <p:pic>
        <p:nvPicPr>
          <p:cNvPr id="20" name="Image 2" descr="preencoded.png"/>
          <p:cNvPicPr>
            <a:picLocks noChangeAspect="1"/>
          </p:cNvPicPr>
          <p:nvPr/>
        </p:nvPicPr>
        <p:blipFill>
          <a:blip r:embed="rId5"/>
          <a:stretch>
            <a:fillRect/>
          </a:stretch>
        </p:blipFill>
        <p:spPr>
          <a:xfrm>
            <a:off x="6519672" y="1856232"/>
            <a:ext cx="274320" cy="274320"/>
          </a:xfrm>
          <a:prstGeom prst="rect">
            <a:avLst/>
          </a:prstGeom>
        </p:spPr>
      </p:pic>
      <p:sp>
        <p:nvSpPr>
          <p:cNvPr id="21" name="Text 16"/>
          <p:cNvSpPr txBox="1"/>
          <p:nvPr/>
        </p:nvSpPr>
        <p:spPr>
          <a:xfrm>
            <a:off x="7068312" y="1719072"/>
            <a:ext cx="1645920" cy="54864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DATABASE</a:t>
            </a:r>
            <a:endParaRPr lang="en-US" sz="1200" dirty="0"/>
          </a:p>
        </p:txBody>
      </p:sp>
      <p:sp>
        <p:nvSpPr>
          <p:cNvPr id="22" name="Text 17"/>
          <p:cNvSpPr txBox="1"/>
          <p:nvPr/>
        </p:nvSpPr>
        <p:spPr>
          <a:xfrm>
            <a:off x="6382512" y="2468880"/>
            <a:ext cx="2286000" cy="68580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PostgreSQL / MySQL</a:t>
            </a:r>
            <a:endParaRPr lang="en-US" sz="1800" dirty="0"/>
          </a:p>
        </p:txBody>
      </p:sp>
      <p:sp>
        <p:nvSpPr>
          <p:cNvPr id="23" name="Text 18"/>
          <p:cNvSpPr txBox="1"/>
          <p:nvPr/>
        </p:nvSpPr>
        <p:spPr>
          <a:xfrm>
            <a:off x="6382512" y="3246120"/>
            <a:ext cx="2286000" cy="19202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Products and inventory</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Transactions</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Customers and credit</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Suppliers and purchases</a:t>
            </a:r>
            <a:endParaRPr lang="en-US" sz="1250" dirty="0"/>
          </a:p>
        </p:txBody>
      </p:sp>
      <p:sp>
        <p:nvSpPr>
          <p:cNvPr id="24" name="Shape 19"/>
          <p:cNvSpPr/>
          <p:nvPr/>
        </p:nvSpPr>
        <p:spPr>
          <a:xfrm>
            <a:off x="9025128" y="1554480"/>
            <a:ext cx="2615184" cy="3657600"/>
          </a:xfrm>
          <a:prstGeom prst="roundRect">
            <a:avLst>
              <a:gd name="adj" fmla="val 2797"/>
            </a:avLst>
          </a:prstGeom>
          <a:solidFill>
            <a:srgbClr val="F1F4F9"/>
          </a:solidFill>
          <a:ln w="12700">
            <a:solidFill>
              <a:srgbClr val="F1F4F9"/>
            </a:solidFill>
            <a:prstDash val="solid"/>
          </a:ln>
        </p:spPr>
      </p:sp>
      <p:sp>
        <p:nvSpPr>
          <p:cNvPr id="25" name="Shape 20"/>
          <p:cNvSpPr/>
          <p:nvPr/>
        </p:nvSpPr>
        <p:spPr>
          <a:xfrm>
            <a:off x="9208008" y="1719072"/>
            <a:ext cx="548640" cy="548640"/>
          </a:xfrm>
          <a:prstGeom prst="ellipse">
            <a:avLst/>
          </a:prstGeom>
          <a:solidFill>
            <a:srgbClr val="F5A623"/>
          </a:solidFill>
          <a:ln w="12700">
            <a:solidFill>
              <a:srgbClr val="F5A623"/>
            </a:solidFill>
            <a:prstDash val="solid"/>
          </a:ln>
        </p:spPr>
      </p:sp>
      <p:pic>
        <p:nvPicPr>
          <p:cNvPr id="26" name="Image 3" descr="preencoded.png"/>
          <p:cNvPicPr>
            <a:picLocks noChangeAspect="1"/>
          </p:cNvPicPr>
          <p:nvPr/>
        </p:nvPicPr>
        <p:blipFill>
          <a:blip r:embed="rId6"/>
          <a:stretch>
            <a:fillRect/>
          </a:stretch>
        </p:blipFill>
        <p:spPr>
          <a:xfrm>
            <a:off x="9345168" y="1856232"/>
            <a:ext cx="274320" cy="274320"/>
          </a:xfrm>
          <a:prstGeom prst="rect">
            <a:avLst/>
          </a:prstGeom>
        </p:spPr>
      </p:pic>
      <p:sp>
        <p:nvSpPr>
          <p:cNvPr id="27" name="Text 21"/>
          <p:cNvSpPr txBox="1"/>
          <p:nvPr/>
        </p:nvSpPr>
        <p:spPr>
          <a:xfrm>
            <a:off x="9893808" y="1719072"/>
            <a:ext cx="1645920" cy="54864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AI / NLP</a:t>
            </a:r>
            <a:endParaRPr lang="en-US" sz="1200" dirty="0"/>
          </a:p>
        </p:txBody>
      </p:sp>
      <p:sp>
        <p:nvSpPr>
          <p:cNvPr id="28" name="Text 22"/>
          <p:cNvSpPr txBox="1"/>
          <p:nvPr/>
        </p:nvSpPr>
        <p:spPr>
          <a:xfrm>
            <a:off x="9208008" y="2468880"/>
            <a:ext cx="2286000" cy="68580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Speech-to-Text + NLP / LLM</a:t>
            </a:r>
            <a:endParaRPr lang="en-US" sz="1800" dirty="0"/>
          </a:p>
        </p:txBody>
      </p:sp>
      <p:sp>
        <p:nvSpPr>
          <p:cNvPr id="29" name="Text 23"/>
          <p:cNvSpPr txBox="1"/>
          <p:nvPr/>
        </p:nvSpPr>
        <p:spPr>
          <a:xfrm>
            <a:off x="9208008" y="3246120"/>
            <a:ext cx="2286000" cy="1920240"/>
          </a:xfrm>
          <a:prstGeom prst="rect">
            <a:avLst/>
          </a:prstGeom>
          <a:noFill/>
          <a:ln/>
        </p:spPr>
        <p:txBody>
          <a:bodyPr wrap="square" lIns="0" tIns="0" rIns="0" bIns="0" rtlCol="0" anchor="t"/>
          <a:lstStyle/>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Voice into text</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Understands natural language</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Identifies user intent</a:t>
            </a:r>
            <a:endParaRPr lang="en-US" sz="1250" dirty="0"/>
          </a:p>
          <a:p>
            <a:pPr marL="177800" indent="-177800">
              <a:spcAft>
                <a:spcPts val="400"/>
              </a:spcAft>
              <a:buSzPct val="100000"/>
              <a:buChar char="•"/>
            </a:pPr>
            <a:r>
              <a:rPr lang="en-US" sz="1250" dirty="0">
                <a:solidFill>
                  <a:srgbClr val="0B1F3A"/>
                </a:solidFill>
                <a:latin typeface="Calibri" pitchFamily="34" charset="0"/>
                <a:ea typeface="Calibri" pitchFamily="34" charset="-122"/>
                <a:cs typeface="Calibri" pitchFamily="34" charset="-120"/>
              </a:rPr>
              <a:t>Extracts product, quantity, unit and price</a:t>
            </a:r>
            <a:endParaRPr lang="en-US" sz="1250" dirty="0"/>
          </a:p>
        </p:txBody>
      </p:sp>
      <p:sp>
        <p:nvSpPr>
          <p:cNvPr id="30" name="Shape 24"/>
          <p:cNvSpPr/>
          <p:nvPr/>
        </p:nvSpPr>
        <p:spPr>
          <a:xfrm>
            <a:off x="548640" y="5440680"/>
            <a:ext cx="11091672" cy="822960"/>
          </a:xfrm>
          <a:prstGeom prst="roundRect">
            <a:avLst>
              <a:gd name="adj" fmla="val 8889"/>
            </a:avLst>
          </a:prstGeom>
          <a:solidFill>
            <a:srgbClr val="0B1F3A"/>
          </a:solidFill>
          <a:ln w="12700">
            <a:solidFill>
              <a:srgbClr val="0B1F3A"/>
            </a:solidFill>
            <a:prstDash val="solid"/>
          </a:ln>
        </p:spPr>
      </p:sp>
      <p:sp>
        <p:nvSpPr>
          <p:cNvPr id="31" name="Text 25"/>
          <p:cNvSpPr txBox="1"/>
          <p:nvPr/>
        </p:nvSpPr>
        <p:spPr>
          <a:xfrm>
            <a:off x="822960" y="5440680"/>
            <a:ext cx="2194560" cy="82296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ADDITIONAL</a:t>
            </a:r>
            <a:endParaRPr lang="en-US" sz="1200" dirty="0"/>
          </a:p>
        </p:txBody>
      </p:sp>
      <p:sp>
        <p:nvSpPr>
          <p:cNvPr id="32" name="Text 26"/>
          <p:cNvSpPr txBox="1"/>
          <p:nvPr/>
        </p:nvSpPr>
        <p:spPr>
          <a:xfrm>
            <a:off x="3017520" y="5440680"/>
            <a:ext cx="8412480" cy="8229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Deployed live on Vercel  ·  Python for analytics / AI where required  ·  Docker where included</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IMPLEMENTATION &amp; DEPLOYMENT</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Built and Deployed</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14</a:t>
            </a:r>
            <a:endParaRPr lang="en-US" sz="1000" dirty="0"/>
          </a:p>
        </p:txBody>
      </p:sp>
      <p:sp>
        <p:nvSpPr>
          <p:cNvPr id="6" name="Shape 4"/>
          <p:cNvSpPr/>
          <p:nvPr/>
        </p:nvSpPr>
        <p:spPr>
          <a:xfrm>
            <a:off x="548640" y="1554480"/>
            <a:ext cx="6583680" cy="1188720"/>
          </a:xfrm>
          <a:prstGeom prst="roundRect">
            <a:avLst>
              <a:gd name="adj" fmla="val 6154"/>
            </a:avLst>
          </a:prstGeom>
          <a:solidFill>
            <a:srgbClr val="F1F4F9"/>
          </a:solidFill>
          <a:ln w="12700">
            <a:solidFill>
              <a:srgbClr val="F1F4F9"/>
            </a:solidFill>
            <a:prstDash val="solid"/>
          </a:ln>
        </p:spPr>
      </p:sp>
      <p:sp>
        <p:nvSpPr>
          <p:cNvPr id="7" name="Shape 5"/>
          <p:cNvSpPr/>
          <p:nvPr/>
        </p:nvSpPr>
        <p:spPr>
          <a:xfrm>
            <a:off x="777240" y="1856232"/>
            <a:ext cx="594360" cy="594360"/>
          </a:xfrm>
          <a:prstGeom prst="ellipse">
            <a:avLst/>
          </a:prstGeom>
          <a:solidFill>
            <a:srgbClr val="F5A623"/>
          </a:solidFill>
          <a:ln w="12700">
            <a:solidFill>
              <a:srgbClr val="F5A623"/>
            </a:solidFill>
            <a:prstDash val="solid"/>
          </a:ln>
        </p:spPr>
      </p:sp>
      <p:pic>
        <p:nvPicPr>
          <p:cNvPr id="8" name="Image 0" descr="preencoded.png"/>
          <p:cNvPicPr>
            <a:picLocks noChangeAspect="1"/>
          </p:cNvPicPr>
          <p:nvPr/>
        </p:nvPicPr>
        <p:blipFill>
          <a:blip r:embed="rId3"/>
          <a:stretch>
            <a:fillRect/>
          </a:stretch>
        </p:blipFill>
        <p:spPr>
          <a:xfrm>
            <a:off x="925830" y="2004822"/>
            <a:ext cx="297180" cy="297180"/>
          </a:xfrm>
          <a:prstGeom prst="rect">
            <a:avLst/>
          </a:prstGeom>
        </p:spPr>
      </p:pic>
      <p:sp>
        <p:nvSpPr>
          <p:cNvPr id="9" name="Text 6"/>
          <p:cNvSpPr txBox="1"/>
          <p:nvPr/>
        </p:nvSpPr>
        <p:spPr>
          <a:xfrm>
            <a:off x="1600200" y="1737360"/>
            <a:ext cx="4754880" cy="365760"/>
          </a:xfrm>
          <a:prstGeom prst="rect">
            <a:avLst/>
          </a:prstGeom>
          <a:noFill/>
          <a:ln/>
        </p:spPr>
        <p:txBody>
          <a:bodyPr wrap="square" lIns="0" tIns="0" rIns="0" bIns="0" rtlCol="0" anchor="t"/>
          <a:lstStyle/>
          <a:p>
            <a:pPr marL="0" indent="0">
              <a:buNone/>
            </a:pPr>
            <a:r>
              <a:rPr lang="en-US" sz="1700" b="1" dirty="0">
                <a:solidFill>
                  <a:srgbClr val="0B1F3A"/>
                </a:solidFill>
                <a:latin typeface="Cambria" pitchFamily="34" charset="0"/>
                <a:ea typeface="Cambria" pitchFamily="34" charset="-122"/>
                <a:cs typeface="Cambria" pitchFamily="34" charset="-120"/>
              </a:rPr>
              <a:t>Mobile application</a:t>
            </a:r>
            <a:endParaRPr lang="en-US" sz="1700" dirty="0"/>
          </a:p>
        </p:txBody>
      </p:sp>
      <p:sp>
        <p:nvSpPr>
          <p:cNvPr id="10" name="Text 7"/>
          <p:cNvSpPr txBox="1"/>
          <p:nvPr/>
        </p:nvSpPr>
        <p:spPr>
          <a:xfrm>
            <a:off x="1600200" y="2148840"/>
            <a:ext cx="4754880" cy="502920"/>
          </a:xfrm>
          <a:prstGeom prst="rect">
            <a:avLst/>
          </a:prstGeom>
          <a:noFill/>
          <a:ln/>
        </p:spPr>
        <p:txBody>
          <a:bodyPr wrap="square" lIns="0" tIns="0" rIns="0" bIns="0" rtlCol="0" anchor="t"/>
          <a:lstStyle/>
          <a:p>
            <a:pPr marL="0" indent="0">
              <a:buNone/>
            </a:pPr>
            <a:r>
              <a:rPr lang="en-US" sz="1400" dirty="0">
                <a:solidFill>
                  <a:srgbClr val="55657F"/>
                </a:solidFill>
                <a:latin typeface="Calibri" pitchFamily="34" charset="0"/>
                <a:ea typeface="Calibri" pitchFamily="34" charset="-122"/>
                <a:cs typeface="Calibri" pitchFamily="34" charset="-120"/>
              </a:rPr>
              <a:t>The DukaanSetu mobile application is built and ready to use.</a:t>
            </a:r>
            <a:endParaRPr lang="en-US" sz="1400" dirty="0"/>
          </a:p>
        </p:txBody>
      </p:sp>
      <p:pic>
        <p:nvPicPr>
          <p:cNvPr id="11" name="Image 1" descr="preencoded.png"/>
          <p:cNvPicPr>
            <a:picLocks noChangeAspect="1"/>
          </p:cNvPicPr>
          <p:nvPr/>
        </p:nvPicPr>
        <p:blipFill>
          <a:blip r:embed="rId4"/>
          <a:stretch>
            <a:fillRect/>
          </a:stretch>
        </p:blipFill>
        <p:spPr>
          <a:xfrm>
            <a:off x="6583680" y="1965960"/>
            <a:ext cx="365760" cy="365760"/>
          </a:xfrm>
          <a:prstGeom prst="rect">
            <a:avLst/>
          </a:prstGeom>
        </p:spPr>
      </p:pic>
      <p:sp>
        <p:nvSpPr>
          <p:cNvPr id="12" name="Shape 8"/>
          <p:cNvSpPr/>
          <p:nvPr/>
        </p:nvSpPr>
        <p:spPr>
          <a:xfrm>
            <a:off x="548640" y="2926080"/>
            <a:ext cx="6583680" cy="1188720"/>
          </a:xfrm>
          <a:prstGeom prst="roundRect">
            <a:avLst>
              <a:gd name="adj" fmla="val 6154"/>
            </a:avLst>
          </a:prstGeom>
          <a:solidFill>
            <a:srgbClr val="F1F4F9"/>
          </a:solidFill>
          <a:ln w="12700">
            <a:solidFill>
              <a:srgbClr val="F1F4F9"/>
            </a:solidFill>
            <a:prstDash val="solid"/>
          </a:ln>
        </p:spPr>
      </p:sp>
      <p:sp>
        <p:nvSpPr>
          <p:cNvPr id="13" name="Shape 9"/>
          <p:cNvSpPr/>
          <p:nvPr/>
        </p:nvSpPr>
        <p:spPr>
          <a:xfrm>
            <a:off x="777240" y="3227832"/>
            <a:ext cx="594360" cy="594360"/>
          </a:xfrm>
          <a:prstGeom prst="ellipse">
            <a:avLst/>
          </a:prstGeom>
          <a:solidFill>
            <a:srgbClr val="F5A623"/>
          </a:solidFill>
          <a:ln w="12700">
            <a:solidFill>
              <a:srgbClr val="F5A623"/>
            </a:solidFill>
            <a:prstDash val="solid"/>
          </a:ln>
        </p:spPr>
      </p:sp>
      <p:pic>
        <p:nvPicPr>
          <p:cNvPr id="14" name="Image 2" descr="preencoded.png"/>
          <p:cNvPicPr>
            <a:picLocks noChangeAspect="1"/>
          </p:cNvPicPr>
          <p:nvPr/>
        </p:nvPicPr>
        <p:blipFill>
          <a:blip r:embed="rId5"/>
          <a:stretch>
            <a:fillRect/>
          </a:stretch>
        </p:blipFill>
        <p:spPr>
          <a:xfrm>
            <a:off x="925830" y="3376422"/>
            <a:ext cx="297180" cy="297180"/>
          </a:xfrm>
          <a:prstGeom prst="rect">
            <a:avLst/>
          </a:prstGeom>
        </p:spPr>
      </p:pic>
      <p:sp>
        <p:nvSpPr>
          <p:cNvPr id="15" name="Text 10"/>
          <p:cNvSpPr txBox="1"/>
          <p:nvPr/>
        </p:nvSpPr>
        <p:spPr>
          <a:xfrm>
            <a:off x="1600200" y="3108960"/>
            <a:ext cx="4754880" cy="365760"/>
          </a:xfrm>
          <a:prstGeom prst="rect">
            <a:avLst/>
          </a:prstGeom>
          <a:noFill/>
          <a:ln/>
        </p:spPr>
        <p:txBody>
          <a:bodyPr wrap="square" lIns="0" tIns="0" rIns="0" bIns="0" rtlCol="0" anchor="t"/>
          <a:lstStyle/>
          <a:p>
            <a:pPr marL="0" indent="0">
              <a:buNone/>
            </a:pPr>
            <a:r>
              <a:rPr lang="en-US" sz="1700" b="1" dirty="0">
                <a:solidFill>
                  <a:srgbClr val="0B1F3A"/>
                </a:solidFill>
                <a:latin typeface="Cambria" pitchFamily="34" charset="0"/>
                <a:ea typeface="Cambria" pitchFamily="34" charset="-122"/>
                <a:cs typeface="Cambria" pitchFamily="34" charset="-120"/>
              </a:rPr>
              <a:t>Deployed and live</a:t>
            </a:r>
            <a:endParaRPr lang="en-US" sz="1700" dirty="0"/>
          </a:p>
        </p:txBody>
      </p:sp>
      <p:sp>
        <p:nvSpPr>
          <p:cNvPr id="16" name="Text 11"/>
          <p:cNvSpPr txBox="1"/>
          <p:nvPr/>
        </p:nvSpPr>
        <p:spPr>
          <a:xfrm>
            <a:off x="1600200" y="3520440"/>
            <a:ext cx="4754880" cy="502920"/>
          </a:xfrm>
          <a:prstGeom prst="rect">
            <a:avLst/>
          </a:prstGeom>
          <a:noFill/>
          <a:ln/>
        </p:spPr>
        <p:txBody>
          <a:bodyPr wrap="square" lIns="0" tIns="0" rIns="0" bIns="0" rtlCol="0" anchor="t"/>
          <a:lstStyle/>
          <a:p>
            <a:pPr marL="0" indent="0">
              <a:buNone/>
            </a:pPr>
            <a:r>
              <a:rPr lang="en-US" sz="1400" dirty="0">
                <a:solidFill>
                  <a:srgbClr val="55657F"/>
                </a:solidFill>
                <a:latin typeface="Calibri" pitchFamily="34" charset="0"/>
                <a:ea typeface="Calibri" pitchFamily="34" charset="-122"/>
                <a:cs typeface="Calibri" pitchFamily="34" charset="-120"/>
              </a:rPr>
              <a:t>Hosted on Vercel and open from any phone or browser.</a:t>
            </a:r>
            <a:endParaRPr lang="en-US" sz="1400" dirty="0"/>
          </a:p>
        </p:txBody>
      </p:sp>
      <p:pic>
        <p:nvPicPr>
          <p:cNvPr id="17" name="Image 3" descr="preencoded.png"/>
          <p:cNvPicPr>
            <a:picLocks noChangeAspect="1"/>
          </p:cNvPicPr>
          <p:nvPr/>
        </p:nvPicPr>
        <p:blipFill>
          <a:blip r:embed="rId4"/>
          <a:stretch>
            <a:fillRect/>
          </a:stretch>
        </p:blipFill>
        <p:spPr>
          <a:xfrm>
            <a:off x="6583680" y="3337560"/>
            <a:ext cx="365760" cy="365760"/>
          </a:xfrm>
          <a:prstGeom prst="rect">
            <a:avLst/>
          </a:prstGeom>
        </p:spPr>
      </p:pic>
      <p:sp>
        <p:nvSpPr>
          <p:cNvPr id="18" name="Shape 12"/>
          <p:cNvSpPr/>
          <p:nvPr/>
        </p:nvSpPr>
        <p:spPr>
          <a:xfrm>
            <a:off x="548640" y="4297680"/>
            <a:ext cx="6583680" cy="1188720"/>
          </a:xfrm>
          <a:prstGeom prst="roundRect">
            <a:avLst>
              <a:gd name="adj" fmla="val 6154"/>
            </a:avLst>
          </a:prstGeom>
          <a:solidFill>
            <a:srgbClr val="F1F4F9"/>
          </a:solidFill>
          <a:ln w="12700">
            <a:solidFill>
              <a:srgbClr val="F1F4F9"/>
            </a:solidFill>
            <a:prstDash val="solid"/>
          </a:ln>
        </p:spPr>
      </p:sp>
      <p:sp>
        <p:nvSpPr>
          <p:cNvPr id="19" name="Shape 13"/>
          <p:cNvSpPr/>
          <p:nvPr/>
        </p:nvSpPr>
        <p:spPr>
          <a:xfrm>
            <a:off x="777240" y="4599432"/>
            <a:ext cx="594360" cy="594360"/>
          </a:xfrm>
          <a:prstGeom prst="ellipse">
            <a:avLst/>
          </a:prstGeom>
          <a:solidFill>
            <a:srgbClr val="F5A623"/>
          </a:solidFill>
          <a:ln w="12700">
            <a:solidFill>
              <a:srgbClr val="F5A623"/>
            </a:solidFill>
            <a:prstDash val="solid"/>
          </a:ln>
        </p:spPr>
      </p:sp>
      <p:pic>
        <p:nvPicPr>
          <p:cNvPr id="20" name="Image 4" descr="preencoded.png"/>
          <p:cNvPicPr>
            <a:picLocks noChangeAspect="1"/>
          </p:cNvPicPr>
          <p:nvPr/>
        </p:nvPicPr>
        <p:blipFill>
          <a:blip r:embed="rId6"/>
          <a:stretch>
            <a:fillRect/>
          </a:stretch>
        </p:blipFill>
        <p:spPr>
          <a:xfrm>
            <a:off x="925830" y="4748022"/>
            <a:ext cx="297180" cy="297180"/>
          </a:xfrm>
          <a:prstGeom prst="rect">
            <a:avLst/>
          </a:prstGeom>
        </p:spPr>
      </p:pic>
      <p:sp>
        <p:nvSpPr>
          <p:cNvPr id="21" name="Text 14"/>
          <p:cNvSpPr txBox="1"/>
          <p:nvPr/>
        </p:nvSpPr>
        <p:spPr>
          <a:xfrm>
            <a:off x="1600200" y="4480560"/>
            <a:ext cx="4754880" cy="365760"/>
          </a:xfrm>
          <a:prstGeom prst="rect">
            <a:avLst/>
          </a:prstGeom>
          <a:noFill/>
          <a:ln/>
        </p:spPr>
        <p:txBody>
          <a:bodyPr wrap="square" lIns="0" tIns="0" rIns="0" bIns="0" rtlCol="0" anchor="t"/>
          <a:lstStyle/>
          <a:p>
            <a:pPr marL="0" indent="0">
              <a:buNone/>
            </a:pPr>
            <a:r>
              <a:rPr lang="en-US" sz="1700" b="1" dirty="0">
                <a:solidFill>
                  <a:srgbClr val="0B1F3A"/>
                </a:solidFill>
                <a:latin typeface="Cambria" pitchFamily="34" charset="0"/>
                <a:ea typeface="Cambria" pitchFamily="34" charset="-122"/>
                <a:cs typeface="Cambria" pitchFamily="34" charset="-120"/>
              </a:rPr>
              <a:t>Made for every small shop</a:t>
            </a:r>
            <a:endParaRPr lang="en-US" sz="1700" dirty="0"/>
          </a:p>
        </p:txBody>
      </p:sp>
      <p:sp>
        <p:nvSpPr>
          <p:cNvPr id="22" name="Text 15"/>
          <p:cNvSpPr txBox="1"/>
          <p:nvPr/>
        </p:nvSpPr>
        <p:spPr>
          <a:xfrm>
            <a:off x="1600200" y="4892040"/>
            <a:ext cx="4754880" cy="502920"/>
          </a:xfrm>
          <a:prstGeom prst="rect">
            <a:avLst/>
          </a:prstGeom>
          <a:noFill/>
          <a:ln/>
        </p:spPr>
        <p:txBody>
          <a:bodyPr wrap="square" lIns="0" tIns="0" rIns="0" bIns="0" rtlCol="0" anchor="t"/>
          <a:lstStyle/>
          <a:p>
            <a:pPr marL="0" indent="0">
              <a:buNone/>
            </a:pPr>
            <a:r>
              <a:rPr lang="en-US" sz="1400" dirty="0">
                <a:solidFill>
                  <a:srgbClr val="55657F"/>
                </a:solidFill>
                <a:latin typeface="Calibri" pitchFamily="34" charset="0"/>
                <a:ea typeface="Calibri" pitchFamily="34" charset="-122"/>
                <a:cs typeface="Calibri" pitchFamily="34" charset="-120"/>
              </a:rPr>
              <a:t>Grocery, flowers, gold and jewellery, retail and wholesale.</a:t>
            </a:r>
            <a:endParaRPr lang="en-US" sz="1400" dirty="0"/>
          </a:p>
        </p:txBody>
      </p:sp>
      <p:pic>
        <p:nvPicPr>
          <p:cNvPr id="23" name="Image 5" descr="preencoded.png"/>
          <p:cNvPicPr>
            <a:picLocks noChangeAspect="1"/>
          </p:cNvPicPr>
          <p:nvPr/>
        </p:nvPicPr>
        <p:blipFill>
          <a:blip r:embed="rId4"/>
          <a:stretch>
            <a:fillRect/>
          </a:stretch>
        </p:blipFill>
        <p:spPr>
          <a:xfrm>
            <a:off x="6583680" y="4709160"/>
            <a:ext cx="365760" cy="365760"/>
          </a:xfrm>
          <a:prstGeom prst="rect">
            <a:avLst/>
          </a:prstGeom>
        </p:spPr>
      </p:pic>
      <p:sp>
        <p:nvSpPr>
          <p:cNvPr id="24" name="Shape 16"/>
          <p:cNvSpPr/>
          <p:nvPr/>
        </p:nvSpPr>
        <p:spPr>
          <a:xfrm>
            <a:off x="7498080" y="1554480"/>
            <a:ext cx="4142232" cy="3931920"/>
          </a:xfrm>
          <a:prstGeom prst="roundRect">
            <a:avLst>
              <a:gd name="adj" fmla="val 1860"/>
            </a:avLst>
          </a:prstGeom>
          <a:solidFill>
            <a:srgbClr val="0B1F3A"/>
          </a:solidFill>
          <a:ln w="12700">
            <a:solidFill>
              <a:srgbClr val="0B1F3A"/>
            </a:solidFill>
            <a:prstDash val="solid"/>
          </a:ln>
        </p:spPr>
      </p:sp>
      <p:sp>
        <p:nvSpPr>
          <p:cNvPr id="25" name="Text 17"/>
          <p:cNvSpPr txBox="1"/>
          <p:nvPr/>
        </p:nvSpPr>
        <p:spPr>
          <a:xfrm>
            <a:off x="7772400" y="1691640"/>
            <a:ext cx="356616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TRY IT LIVE</a:t>
            </a:r>
            <a:endParaRPr lang="en-US" sz="1200" dirty="0"/>
          </a:p>
        </p:txBody>
      </p:sp>
      <p:sp>
        <p:nvSpPr>
          <p:cNvPr id="26" name="Shape 18"/>
          <p:cNvSpPr/>
          <p:nvPr/>
        </p:nvSpPr>
        <p:spPr>
          <a:xfrm>
            <a:off x="8366760" y="2103120"/>
            <a:ext cx="2377440" cy="2377440"/>
          </a:xfrm>
          <a:prstGeom prst="roundRect">
            <a:avLst>
              <a:gd name="adj" fmla="val 3077"/>
            </a:avLst>
          </a:prstGeom>
          <a:solidFill>
            <a:srgbClr val="FFFFFF"/>
          </a:solidFill>
          <a:ln w="12700">
            <a:solidFill>
              <a:srgbClr val="FFFFFF"/>
            </a:solidFill>
            <a:prstDash val="solid"/>
          </a:ln>
        </p:spPr>
      </p:sp>
      <p:pic>
        <p:nvPicPr>
          <p:cNvPr id="27" name="Image 6" descr="/home/claude/deck/qr.png"/>
          <p:cNvPicPr>
            <a:picLocks noChangeAspect="1"/>
          </p:cNvPicPr>
          <p:nvPr/>
        </p:nvPicPr>
        <p:blipFill>
          <a:blip r:embed="rId7"/>
          <a:stretch>
            <a:fillRect/>
          </a:stretch>
        </p:blipFill>
        <p:spPr>
          <a:xfrm>
            <a:off x="8458200" y="2194560"/>
            <a:ext cx="2194560" cy="2194560"/>
          </a:xfrm>
          <a:prstGeom prst="rect">
            <a:avLst/>
          </a:prstGeom>
        </p:spPr>
      </p:pic>
      <p:sp>
        <p:nvSpPr>
          <p:cNvPr id="28" name="Text 19"/>
          <p:cNvSpPr txBox="1"/>
          <p:nvPr/>
        </p:nvSpPr>
        <p:spPr>
          <a:xfrm>
            <a:off x="7772400" y="4572000"/>
            <a:ext cx="3566160" cy="274320"/>
          </a:xfrm>
          <a:prstGeom prst="rect">
            <a:avLst/>
          </a:prstGeom>
          <a:noFill/>
          <a:ln/>
        </p:spPr>
        <p:txBody>
          <a:bodyPr wrap="square" lIns="0" tIns="0" rIns="0" bIns="0" rtlCol="0" anchor="t"/>
          <a:lstStyle/>
          <a:p>
            <a:pPr marL="0" indent="0" algn="ctr">
              <a:buNone/>
            </a:pPr>
            <a:r>
              <a:rPr lang="en-US" sz="1250" dirty="0">
                <a:solidFill>
                  <a:srgbClr val="CADCFC"/>
                </a:solidFill>
                <a:latin typeface="Calibri" pitchFamily="34" charset="0"/>
                <a:ea typeface="Calibri" pitchFamily="34" charset="-122"/>
                <a:cs typeface="Calibri" pitchFamily="34" charset="-120"/>
              </a:rPr>
              <a:t>Scan to open on your phone</a:t>
            </a:r>
            <a:endParaRPr lang="en-US" sz="1250" dirty="0"/>
          </a:p>
        </p:txBody>
      </p:sp>
      <p:sp>
        <p:nvSpPr>
          <p:cNvPr id="29" name="Text 20"/>
          <p:cNvSpPr txBox="1"/>
          <p:nvPr/>
        </p:nvSpPr>
        <p:spPr>
          <a:xfrm>
            <a:off x="7772400" y="4937760"/>
            <a:ext cx="3566160" cy="365760"/>
          </a:xfrm>
          <a:prstGeom prst="rect">
            <a:avLst/>
          </a:prstGeom>
          <a:noFill/>
          <a:ln/>
        </p:spPr>
        <p:txBody>
          <a:bodyPr wrap="square" lIns="0" tIns="0" rIns="0" bIns="0" rtlCol="0" anchor="t"/>
          <a:lstStyle/>
          <a:p>
            <a:pPr marL="0" indent="0" algn="ctr">
              <a:buNone/>
            </a:pPr>
            <a:r>
              <a:rPr lang="en-US" sz="1500" b="1" u="sng" dirty="0">
                <a:solidFill>
                  <a:srgbClr val="F5A623"/>
                </a:solidFill>
                <a:latin typeface="Calibri" pitchFamily="34" charset="0"/>
                <a:ea typeface="Calibri" pitchFamily="34" charset="-122"/>
                <a:cs typeface="Calibri" pitchFamily="34" charset="-120"/>
                <a:hlinkClick r:id="rId8">
                  <a:extLst>
                    <a:ext uri="{A12FA001-AC4F-418D-AE19-62706E023703}">
                      <ahyp:hlinkClr xmlns:ahyp="http://schemas.microsoft.com/office/drawing/2018/hyperlinkcolor" val="tx"/>
                    </a:ext>
                  </a:extLst>
                </a:hlinkClick>
              </a:rPr>
              <a:t>dukaansetu-pied.vercel.app</a:t>
            </a:r>
            <a:endParaRPr lang="en-US" sz="1500" dirty="0"/>
          </a:p>
        </p:txBody>
      </p:sp>
      <p:sp>
        <p:nvSpPr>
          <p:cNvPr id="30" name="Shape 21"/>
          <p:cNvSpPr/>
          <p:nvPr/>
        </p:nvSpPr>
        <p:spPr>
          <a:xfrm>
            <a:off x="548640" y="5715000"/>
            <a:ext cx="11091672" cy="594360"/>
          </a:xfrm>
          <a:prstGeom prst="roundRect">
            <a:avLst>
              <a:gd name="adj" fmla="val 12308"/>
            </a:avLst>
          </a:prstGeom>
          <a:solidFill>
            <a:srgbClr val="0B1F3A"/>
          </a:solidFill>
          <a:ln w="12700">
            <a:solidFill>
              <a:srgbClr val="0B1F3A"/>
            </a:solidFill>
            <a:prstDash val="solid"/>
          </a:ln>
        </p:spPr>
      </p:sp>
      <p:sp>
        <p:nvSpPr>
          <p:cNvPr id="31" name="Text 22"/>
          <p:cNvSpPr txBox="1"/>
          <p:nvPr/>
        </p:nvSpPr>
        <p:spPr>
          <a:xfrm>
            <a:off x="822960" y="5715000"/>
            <a:ext cx="2194560" cy="59436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PRODUCT</a:t>
            </a:r>
            <a:endParaRPr lang="en-US" sz="1200" dirty="0"/>
          </a:p>
        </p:txBody>
      </p:sp>
      <p:sp>
        <p:nvSpPr>
          <p:cNvPr id="32" name="Text 23"/>
          <p:cNvSpPr txBox="1"/>
          <p:nvPr/>
        </p:nvSpPr>
        <p:spPr>
          <a:xfrm>
            <a:off x="3017520" y="5715000"/>
            <a:ext cx="8412480" cy="59436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DukaanSetu — Smart Voice Inventory for small businesses.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REAL-WORLD USE CASE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Example: A Grocery Shop</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15</a:t>
            </a:r>
            <a:endParaRPr lang="en-US" sz="1000" dirty="0"/>
          </a:p>
        </p:txBody>
      </p:sp>
      <p:sp>
        <p:nvSpPr>
          <p:cNvPr id="6" name="Shape 4"/>
          <p:cNvSpPr/>
          <p:nvPr/>
        </p:nvSpPr>
        <p:spPr>
          <a:xfrm>
            <a:off x="548640" y="1554480"/>
            <a:ext cx="3566160" cy="1920240"/>
          </a:xfrm>
          <a:prstGeom prst="roundRect">
            <a:avLst>
              <a:gd name="adj" fmla="val 3810"/>
            </a:avLst>
          </a:prstGeom>
          <a:solidFill>
            <a:srgbClr val="F1F4F9"/>
          </a:solidFill>
          <a:ln w="12700">
            <a:solidFill>
              <a:srgbClr val="F1F4F9"/>
            </a:solidFill>
            <a:prstDash val="solid"/>
          </a:ln>
        </p:spPr>
      </p:sp>
      <p:sp>
        <p:nvSpPr>
          <p:cNvPr id="7" name="Shape 5"/>
          <p:cNvSpPr/>
          <p:nvPr/>
        </p:nvSpPr>
        <p:spPr>
          <a:xfrm>
            <a:off x="731520" y="1737360"/>
            <a:ext cx="457200" cy="457200"/>
          </a:xfrm>
          <a:prstGeom prst="ellipse">
            <a:avLst/>
          </a:prstGeom>
          <a:solidFill>
            <a:srgbClr val="F5A623"/>
          </a:solidFill>
          <a:ln w="12700">
            <a:solidFill>
              <a:srgbClr val="F5A623"/>
            </a:solidFill>
            <a:prstDash val="solid"/>
          </a:ln>
        </p:spPr>
      </p:sp>
      <p:sp>
        <p:nvSpPr>
          <p:cNvPr id="8" name="Text 6"/>
          <p:cNvSpPr txBox="1"/>
          <p:nvPr/>
        </p:nvSpPr>
        <p:spPr>
          <a:xfrm>
            <a:off x="731520" y="1737360"/>
            <a:ext cx="457200" cy="45720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325880" y="1737360"/>
            <a:ext cx="2651760" cy="45720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Voice command</a:t>
            </a:r>
            <a:endParaRPr lang="en-US" sz="1600" dirty="0"/>
          </a:p>
        </p:txBody>
      </p:sp>
      <p:sp>
        <p:nvSpPr>
          <p:cNvPr id="10" name="Text 8"/>
          <p:cNvSpPr txBox="1"/>
          <p:nvPr/>
        </p:nvSpPr>
        <p:spPr>
          <a:xfrm>
            <a:off x="777240" y="2331720"/>
            <a:ext cx="3108960" cy="1097280"/>
          </a:xfrm>
          <a:prstGeom prst="rect">
            <a:avLst/>
          </a:prstGeom>
          <a:noFill/>
          <a:ln/>
        </p:spPr>
        <p:txBody>
          <a:bodyPr wrap="square" lIns="0" tIns="0" rIns="0" bIns="0" rtlCol="0" anchor="t"/>
          <a:lstStyle/>
          <a:p>
            <a:pPr marL="0" indent="0">
              <a:buNone/>
            </a:pPr>
            <a:r>
              <a:rPr lang="en-US" sz="1350" i="1" dirty="0">
                <a:solidFill>
                  <a:srgbClr val="0B1F3A"/>
                </a:solidFill>
                <a:latin typeface="Calibri" pitchFamily="34" charset="0"/>
                <a:ea typeface="Calibri" pitchFamily="34" charset="-122"/>
                <a:cs typeface="Calibri" pitchFamily="34" charset="-120"/>
              </a:rPr>
              <a:t>“10 bags biyyam vachayi.”</a:t>
            </a:r>
            <a:endParaRPr lang="en-US" sz="1350" dirty="0"/>
          </a:p>
        </p:txBody>
      </p:sp>
      <p:sp>
        <p:nvSpPr>
          <p:cNvPr id="11" name="Shape 9"/>
          <p:cNvSpPr/>
          <p:nvPr/>
        </p:nvSpPr>
        <p:spPr>
          <a:xfrm>
            <a:off x="4311396" y="1554480"/>
            <a:ext cx="3566160" cy="1920240"/>
          </a:xfrm>
          <a:prstGeom prst="roundRect">
            <a:avLst>
              <a:gd name="adj" fmla="val 3810"/>
            </a:avLst>
          </a:prstGeom>
          <a:solidFill>
            <a:srgbClr val="F1F4F9"/>
          </a:solidFill>
          <a:ln w="12700">
            <a:solidFill>
              <a:srgbClr val="F1F4F9"/>
            </a:solidFill>
            <a:prstDash val="solid"/>
          </a:ln>
        </p:spPr>
      </p:sp>
      <p:sp>
        <p:nvSpPr>
          <p:cNvPr id="12" name="Shape 10"/>
          <p:cNvSpPr/>
          <p:nvPr/>
        </p:nvSpPr>
        <p:spPr>
          <a:xfrm>
            <a:off x="4494276" y="1737360"/>
            <a:ext cx="457200" cy="457200"/>
          </a:xfrm>
          <a:prstGeom prst="ellipse">
            <a:avLst/>
          </a:prstGeom>
          <a:solidFill>
            <a:srgbClr val="F5A623"/>
          </a:solidFill>
          <a:ln w="12700">
            <a:solidFill>
              <a:srgbClr val="F5A623"/>
            </a:solidFill>
            <a:prstDash val="solid"/>
          </a:ln>
        </p:spPr>
      </p:sp>
      <p:sp>
        <p:nvSpPr>
          <p:cNvPr id="13" name="Text 11"/>
          <p:cNvSpPr txBox="1"/>
          <p:nvPr/>
        </p:nvSpPr>
        <p:spPr>
          <a:xfrm>
            <a:off x="4494276" y="1737360"/>
            <a:ext cx="457200" cy="45720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2</a:t>
            </a:r>
            <a:endParaRPr lang="en-US" sz="1600" dirty="0"/>
          </a:p>
        </p:txBody>
      </p:sp>
      <p:sp>
        <p:nvSpPr>
          <p:cNvPr id="14" name="Text 12"/>
          <p:cNvSpPr txBox="1"/>
          <p:nvPr/>
        </p:nvSpPr>
        <p:spPr>
          <a:xfrm>
            <a:off x="5088636" y="1737360"/>
            <a:ext cx="2651760" cy="45720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System understanding</a:t>
            </a:r>
            <a:endParaRPr lang="en-US" sz="1600" dirty="0"/>
          </a:p>
        </p:txBody>
      </p:sp>
      <p:sp>
        <p:nvSpPr>
          <p:cNvPr id="15" name="Text 13"/>
          <p:cNvSpPr txBox="1"/>
          <p:nvPr/>
        </p:nvSpPr>
        <p:spPr>
          <a:xfrm>
            <a:off x="4539996" y="2331720"/>
            <a:ext cx="3108960" cy="1097280"/>
          </a:xfrm>
          <a:prstGeom prst="rect">
            <a:avLst/>
          </a:prstGeom>
          <a:noFill/>
          <a:ln/>
        </p:spPr>
        <p:txBody>
          <a:bodyPr wrap="square" lIns="0" tIns="0" rIns="0" bIns="0" rtlCol="0" anchor="t"/>
          <a:lstStyle/>
          <a:p>
            <a:pPr marL="0" indent="0">
              <a:buNone/>
            </a:pPr>
            <a:r>
              <a:rPr lang="en-US" sz="1350" dirty="0">
                <a:solidFill>
                  <a:srgbClr val="0B1F3A"/>
                </a:solidFill>
                <a:latin typeface="Calibri" pitchFamily="34" charset="0"/>
                <a:ea typeface="Calibri" pitchFamily="34" charset="-122"/>
                <a:cs typeface="Calibri" pitchFamily="34" charset="-120"/>
              </a:rPr>
              <a:t>Product → Rice</a:t>
            </a:r>
            <a:endParaRPr lang="en-US" sz="1350" dirty="0"/>
          </a:p>
          <a:p>
            <a:pPr marL="0" indent="0">
              <a:buNone/>
            </a:pPr>
            <a:r>
              <a:rPr lang="en-US" sz="1350" dirty="0">
                <a:solidFill>
                  <a:srgbClr val="0B1F3A"/>
                </a:solidFill>
                <a:latin typeface="Calibri" pitchFamily="34" charset="0"/>
                <a:ea typeface="Calibri" pitchFamily="34" charset="-122"/>
                <a:cs typeface="Calibri" pitchFamily="34" charset="-120"/>
              </a:rPr>
              <a:t>Quantity → 10</a:t>
            </a:r>
            <a:endParaRPr lang="en-US" sz="1350" dirty="0"/>
          </a:p>
          <a:p>
            <a:pPr marL="0" indent="0">
              <a:buNone/>
            </a:pPr>
            <a:r>
              <a:rPr lang="en-US" sz="1350" dirty="0">
                <a:solidFill>
                  <a:srgbClr val="0B1F3A"/>
                </a:solidFill>
                <a:latin typeface="Calibri" pitchFamily="34" charset="0"/>
                <a:ea typeface="Calibri" pitchFamily="34" charset="-122"/>
                <a:cs typeface="Calibri" pitchFamily="34" charset="-120"/>
              </a:rPr>
              <a:t>Unit → Bags</a:t>
            </a:r>
            <a:endParaRPr lang="en-US" sz="1350" dirty="0"/>
          </a:p>
          <a:p>
            <a:pPr marL="0" indent="0">
              <a:buNone/>
            </a:pPr>
            <a:r>
              <a:rPr lang="en-US" sz="1350" dirty="0">
                <a:solidFill>
                  <a:srgbClr val="0B1F3A"/>
                </a:solidFill>
                <a:latin typeface="Calibri" pitchFamily="34" charset="0"/>
                <a:ea typeface="Calibri" pitchFamily="34" charset="-122"/>
                <a:cs typeface="Calibri" pitchFamily="34" charset="-120"/>
              </a:rPr>
              <a:t>Action → Stock IN</a:t>
            </a:r>
            <a:endParaRPr lang="en-US" sz="1350" dirty="0"/>
          </a:p>
        </p:txBody>
      </p:sp>
      <p:sp>
        <p:nvSpPr>
          <p:cNvPr id="16" name="Shape 14"/>
          <p:cNvSpPr/>
          <p:nvPr/>
        </p:nvSpPr>
        <p:spPr>
          <a:xfrm>
            <a:off x="8074152" y="1554480"/>
            <a:ext cx="3566160" cy="1920240"/>
          </a:xfrm>
          <a:prstGeom prst="roundRect">
            <a:avLst>
              <a:gd name="adj" fmla="val 3810"/>
            </a:avLst>
          </a:prstGeom>
          <a:solidFill>
            <a:srgbClr val="F1F4F9"/>
          </a:solidFill>
          <a:ln w="12700">
            <a:solidFill>
              <a:srgbClr val="F1F4F9"/>
            </a:solidFill>
            <a:prstDash val="solid"/>
          </a:ln>
        </p:spPr>
      </p:sp>
      <p:sp>
        <p:nvSpPr>
          <p:cNvPr id="17" name="Shape 15"/>
          <p:cNvSpPr/>
          <p:nvPr/>
        </p:nvSpPr>
        <p:spPr>
          <a:xfrm>
            <a:off x="8257032" y="1737360"/>
            <a:ext cx="457200" cy="457200"/>
          </a:xfrm>
          <a:prstGeom prst="ellipse">
            <a:avLst/>
          </a:prstGeom>
          <a:solidFill>
            <a:srgbClr val="F5A623"/>
          </a:solidFill>
          <a:ln w="12700">
            <a:solidFill>
              <a:srgbClr val="F5A623"/>
            </a:solidFill>
            <a:prstDash val="solid"/>
          </a:ln>
        </p:spPr>
      </p:sp>
      <p:sp>
        <p:nvSpPr>
          <p:cNvPr id="18" name="Text 16"/>
          <p:cNvSpPr txBox="1"/>
          <p:nvPr/>
        </p:nvSpPr>
        <p:spPr>
          <a:xfrm>
            <a:off x="8257032" y="1737360"/>
            <a:ext cx="457200" cy="45720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851392" y="1737360"/>
            <a:ext cx="2651760" cy="45720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Confirmation</a:t>
            </a:r>
            <a:endParaRPr lang="en-US" sz="1600" dirty="0"/>
          </a:p>
        </p:txBody>
      </p:sp>
      <p:sp>
        <p:nvSpPr>
          <p:cNvPr id="20" name="Text 18"/>
          <p:cNvSpPr txBox="1"/>
          <p:nvPr/>
        </p:nvSpPr>
        <p:spPr>
          <a:xfrm>
            <a:off x="8302752" y="2331720"/>
            <a:ext cx="3108960" cy="1097280"/>
          </a:xfrm>
          <a:prstGeom prst="rect">
            <a:avLst/>
          </a:prstGeom>
          <a:noFill/>
          <a:ln/>
        </p:spPr>
        <p:txBody>
          <a:bodyPr wrap="square" lIns="0" tIns="0" rIns="0" bIns="0" rtlCol="0" anchor="t"/>
          <a:lstStyle/>
          <a:p>
            <a:pPr marL="0" indent="0">
              <a:buNone/>
            </a:pPr>
            <a:r>
              <a:rPr lang="en-US" sz="1350" i="1" dirty="0">
                <a:solidFill>
                  <a:srgbClr val="0B1F3A"/>
                </a:solidFill>
                <a:latin typeface="Calibri" pitchFamily="34" charset="0"/>
                <a:ea typeface="Calibri" pitchFamily="34" charset="-122"/>
                <a:cs typeface="Calibri" pitchFamily="34" charset="-120"/>
              </a:rPr>
              <a:t>“Add 10 bags of Rice. Confirm?”</a:t>
            </a:r>
            <a:endParaRPr lang="en-US" sz="1350" dirty="0"/>
          </a:p>
        </p:txBody>
      </p:sp>
      <p:sp>
        <p:nvSpPr>
          <p:cNvPr id="21" name="Shape 19"/>
          <p:cNvSpPr/>
          <p:nvPr/>
        </p:nvSpPr>
        <p:spPr>
          <a:xfrm>
            <a:off x="548640" y="3657600"/>
            <a:ext cx="3566160" cy="1920240"/>
          </a:xfrm>
          <a:prstGeom prst="roundRect">
            <a:avLst>
              <a:gd name="adj" fmla="val 3810"/>
            </a:avLst>
          </a:prstGeom>
          <a:solidFill>
            <a:srgbClr val="F1F4F9"/>
          </a:solidFill>
          <a:ln w="12700">
            <a:solidFill>
              <a:srgbClr val="F1F4F9"/>
            </a:solidFill>
            <a:prstDash val="solid"/>
          </a:ln>
        </p:spPr>
      </p:sp>
      <p:sp>
        <p:nvSpPr>
          <p:cNvPr id="22" name="Shape 20"/>
          <p:cNvSpPr/>
          <p:nvPr/>
        </p:nvSpPr>
        <p:spPr>
          <a:xfrm>
            <a:off x="731520" y="3840480"/>
            <a:ext cx="457200" cy="457200"/>
          </a:xfrm>
          <a:prstGeom prst="ellipse">
            <a:avLst/>
          </a:prstGeom>
          <a:solidFill>
            <a:srgbClr val="F5A623"/>
          </a:solidFill>
          <a:ln w="12700">
            <a:solidFill>
              <a:srgbClr val="F5A623"/>
            </a:solidFill>
            <a:prstDash val="solid"/>
          </a:ln>
        </p:spPr>
      </p:sp>
      <p:sp>
        <p:nvSpPr>
          <p:cNvPr id="23" name="Text 21"/>
          <p:cNvSpPr txBox="1"/>
          <p:nvPr/>
        </p:nvSpPr>
        <p:spPr>
          <a:xfrm>
            <a:off x="731520" y="3840480"/>
            <a:ext cx="457200" cy="45720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1325880" y="3840480"/>
            <a:ext cx="2651760" cy="45720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Inventory update</a:t>
            </a:r>
            <a:endParaRPr lang="en-US" sz="1600" dirty="0"/>
          </a:p>
        </p:txBody>
      </p:sp>
      <p:sp>
        <p:nvSpPr>
          <p:cNvPr id="25" name="Text 23"/>
          <p:cNvSpPr txBox="1"/>
          <p:nvPr/>
        </p:nvSpPr>
        <p:spPr>
          <a:xfrm>
            <a:off x="777240" y="4434840"/>
            <a:ext cx="3108960" cy="1097280"/>
          </a:xfrm>
          <a:prstGeom prst="rect">
            <a:avLst/>
          </a:prstGeom>
          <a:noFill/>
          <a:ln/>
        </p:spPr>
        <p:txBody>
          <a:bodyPr wrap="square" lIns="0" tIns="0" rIns="0" bIns="0" rtlCol="0" anchor="t"/>
          <a:lstStyle/>
          <a:p>
            <a:pPr marL="0" indent="0">
              <a:buNone/>
            </a:pPr>
            <a:r>
              <a:rPr lang="en-US" sz="1350" dirty="0">
                <a:solidFill>
                  <a:srgbClr val="0B1F3A"/>
                </a:solidFill>
                <a:latin typeface="Calibri" pitchFamily="34" charset="0"/>
                <a:ea typeface="Calibri" pitchFamily="34" charset="-122"/>
                <a:cs typeface="Calibri" pitchFamily="34" charset="-120"/>
              </a:rPr>
              <a:t>Previous stock → 20 bags</a:t>
            </a:r>
            <a:endParaRPr lang="en-US" sz="1350" dirty="0"/>
          </a:p>
          <a:p>
            <a:pPr marL="0" indent="0">
              <a:buNone/>
            </a:pPr>
            <a:r>
              <a:rPr lang="en-US" sz="1350" dirty="0">
                <a:solidFill>
                  <a:srgbClr val="0B1F3A"/>
                </a:solidFill>
                <a:latin typeface="Calibri" pitchFamily="34" charset="0"/>
                <a:ea typeface="Calibri" pitchFamily="34" charset="-122"/>
                <a:cs typeface="Calibri" pitchFamily="34" charset="-120"/>
              </a:rPr>
              <a:t>Added → 10 bags</a:t>
            </a:r>
            <a:endParaRPr lang="en-US" sz="1350" dirty="0"/>
          </a:p>
          <a:p>
            <a:pPr marL="0" indent="0">
              <a:buNone/>
            </a:pPr>
            <a:r>
              <a:rPr lang="en-US" sz="1350" dirty="0">
                <a:solidFill>
                  <a:srgbClr val="0B1F3A"/>
                </a:solidFill>
                <a:latin typeface="Calibri" pitchFamily="34" charset="0"/>
                <a:ea typeface="Calibri" pitchFamily="34" charset="-122"/>
                <a:cs typeface="Calibri" pitchFamily="34" charset="-120"/>
              </a:rPr>
              <a:t>Current stock → 30 bags</a:t>
            </a:r>
            <a:endParaRPr lang="en-US" sz="1350" dirty="0"/>
          </a:p>
        </p:txBody>
      </p:sp>
      <p:sp>
        <p:nvSpPr>
          <p:cNvPr id="26" name="Shape 24"/>
          <p:cNvSpPr/>
          <p:nvPr/>
        </p:nvSpPr>
        <p:spPr>
          <a:xfrm>
            <a:off x="4311396" y="3657600"/>
            <a:ext cx="3566160" cy="1920240"/>
          </a:xfrm>
          <a:prstGeom prst="roundRect">
            <a:avLst>
              <a:gd name="adj" fmla="val 3810"/>
            </a:avLst>
          </a:prstGeom>
          <a:solidFill>
            <a:srgbClr val="F1F4F9"/>
          </a:solidFill>
          <a:ln w="12700">
            <a:solidFill>
              <a:srgbClr val="F1F4F9"/>
            </a:solidFill>
            <a:prstDash val="solid"/>
          </a:ln>
        </p:spPr>
      </p:sp>
      <p:sp>
        <p:nvSpPr>
          <p:cNvPr id="27" name="Shape 25"/>
          <p:cNvSpPr/>
          <p:nvPr/>
        </p:nvSpPr>
        <p:spPr>
          <a:xfrm>
            <a:off x="4494276" y="3840480"/>
            <a:ext cx="457200" cy="457200"/>
          </a:xfrm>
          <a:prstGeom prst="ellipse">
            <a:avLst/>
          </a:prstGeom>
          <a:solidFill>
            <a:srgbClr val="F5A623"/>
          </a:solidFill>
          <a:ln w="12700">
            <a:solidFill>
              <a:srgbClr val="F5A623"/>
            </a:solidFill>
            <a:prstDash val="solid"/>
          </a:ln>
        </p:spPr>
      </p:sp>
      <p:sp>
        <p:nvSpPr>
          <p:cNvPr id="28" name="Text 26"/>
          <p:cNvSpPr txBox="1"/>
          <p:nvPr/>
        </p:nvSpPr>
        <p:spPr>
          <a:xfrm>
            <a:off x="4494276" y="3840480"/>
            <a:ext cx="457200" cy="45720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5</a:t>
            </a:r>
            <a:endParaRPr lang="en-US" sz="1600" dirty="0"/>
          </a:p>
        </p:txBody>
      </p:sp>
      <p:sp>
        <p:nvSpPr>
          <p:cNvPr id="29" name="Text 27"/>
          <p:cNvSpPr txBox="1"/>
          <p:nvPr/>
        </p:nvSpPr>
        <p:spPr>
          <a:xfrm>
            <a:off x="5088636" y="3840480"/>
            <a:ext cx="2651760" cy="45720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Transaction</a:t>
            </a:r>
            <a:endParaRPr lang="en-US" sz="1600" dirty="0"/>
          </a:p>
        </p:txBody>
      </p:sp>
      <p:sp>
        <p:nvSpPr>
          <p:cNvPr id="30" name="Text 28"/>
          <p:cNvSpPr txBox="1"/>
          <p:nvPr/>
        </p:nvSpPr>
        <p:spPr>
          <a:xfrm>
            <a:off x="4539996" y="4434840"/>
            <a:ext cx="3108960" cy="1097280"/>
          </a:xfrm>
          <a:prstGeom prst="rect">
            <a:avLst/>
          </a:prstGeom>
          <a:noFill/>
          <a:ln/>
        </p:spPr>
        <p:txBody>
          <a:bodyPr wrap="square" lIns="0" tIns="0" rIns="0" bIns="0" rtlCol="0" anchor="t"/>
          <a:lstStyle/>
          <a:p>
            <a:pPr marL="0" indent="0">
              <a:buNone/>
            </a:pPr>
            <a:r>
              <a:rPr lang="en-US" sz="1350" dirty="0">
                <a:solidFill>
                  <a:srgbClr val="0B1F3A"/>
                </a:solidFill>
                <a:latin typeface="Calibri" pitchFamily="34" charset="0"/>
                <a:ea typeface="Calibri" pitchFamily="34" charset="-122"/>
                <a:cs typeface="Calibri" pitchFamily="34" charset="-120"/>
              </a:rPr>
              <a:t>The system records the Stock IN transaction.</a:t>
            </a:r>
            <a:endParaRPr lang="en-US" sz="1350" dirty="0"/>
          </a:p>
        </p:txBody>
      </p:sp>
      <p:sp>
        <p:nvSpPr>
          <p:cNvPr id="31" name="Shape 29"/>
          <p:cNvSpPr/>
          <p:nvPr/>
        </p:nvSpPr>
        <p:spPr>
          <a:xfrm>
            <a:off x="8074152" y="3657600"/>
            <a:ext cx="3566160" cy="1920240"/>
          </a:xfrm>
          <a:prstGeom prst="roundRect">
            <a:avLst>
              <a:gd name="adj" fmla="val 3810"/>
            </a:avLst>
          </a:prstGeom>
          <a:solidFill>
            <a:srgbClr val="F1F4F9"/>
          </a:solidFill>
          <a:ln w="12700">
            <a:solidFill>
              <a:srgbClr val="F1F4F9"/>
            </a:solidFill>
            <a:prstDash val="solid"/>
          </a:ln>
        </p:spPr>
      </p:sp>
      <p:sp>
        <p:nvSpPr>
          <p:cNvPr id="32" name="Shape 30"/>
          <p:cNvSpPr/>
          <p:nvPr/>
        </p:nvSpPr>
        <p:spPr>
          <a:xfrm>
            <a:off x="8257032" y="3840480"/>
            <a:ext cx="457200" cy="457200"/>
          </a:xfrm>
          <a:prstGeom prst="ellipse">
            <a:avLst/>
          </a:prstGeom>
          <a:solidFill>
            <a:srgbClr val="F5A623"/>
          </a:solidFill>
          <a:ln w="12700">
            <a:solidFill>
              <a:srgbClr val="F5A623"/>
            </a:solidFill>
            <a:prstDash val="solid"/>
          </a:ln>
        </p:spPr>
      </p:sp>
      <p:sp>
        <p:nvSpPr>
          <p:cNvPr id="33" name="Text 31"/>
          <p:cNvSpPr txBox="1"/>
          <p:nvPr/>
        </p:nvSpPr>
        <p:spPr>
          <a:xfrm>
            <a:off x="8257032" y="3840480"/>
            <a:ext cx="457200" cy="457200"/>
          </a:xfrm>
          <a:prstGeom prst="rect">
            <a:avLst/>
          </a:prstGeom>
          <a:noFill/>
          <a:ln/>
        </p:spPr>
        <p:txBody>
          <a:bodyPr wrap="square" lIns="0" tIns="0" rIns="0" bIns="0" rtlCol="0" anchor="ctr"/>
          <a:lstStyle/>
          <a:p>
            <a:pPr marL="0" indent="0" algn="ctr">
              <a:buNone/>
            </a:pPr>
            <a:r>
              <a:rPr lang="en-US" sz="1600" b="1" dirty="0">
                <a:solidFill>
                  <a:srgbClr val="0B1F3A"/>
                </a:solidFill>
                <a:latin typeface="Calibri" pitchFamily="34" charset="0"/>
                <a:ea typeface="Calibri" pitchFamily="34" charset="-122"/>
                <a:cs typeface="Calibri" pitchFamily="34" charset="-120"/>
              </a:rPr>
              <a:t>6</a:t>
            </a:r>
            <a:endParaRPr lang="en-US" sz="1600" dirty="0"/>
          </a:p>
        </p:txBody>
      </p:sp>
      <p:sp>
        <p:nvSpPr>
          <p:cNvPr id="34" name="Text 32"/>
          <p:cNvSpPr txBox="1"/>
          <p:nvPr/>
        </p:nvSpPr>
        <p:spPr>
          <a:xfrm>
            <a:off x="8851392" y="3840480"/>
            <a:ext cx="2651760" cy="457200"/>
          </a:xfrm>
          <a:prstGeom prst="rect">
            <a:avLst/>
          </a:prstGeom>
          <a:noFill/>
          <a:ln/>
        </p:spPr>
        <p:txBody>
          <a:bodyPr wrap="square" lIns="0" tIns="0" rIns="0" bIns="0" rtlCol="0" anchor="ctr"/>
          <a:lstStyle/>
          <a:p>
            <a:pPr marL="0" indent="0">
              <a:buNone/>
            </a:pPr>
            <a:r>
              <a:rPr lang="en-US" sz="1600" b="1" dirty="0">
                <a:solidFill>
                  <a:srgbClr val="0B1F3A"/>
                </a:solidFill>
                <a:latin typeface="Cambria" pitchFamily="34" charset="0"/>
                <a:ea typeface="Cambria" pitchFamily="34" charset="-122"/>
                <a:cs typeface="Cambria" pitchFamily="34" charset="-120"/>
              </a:rPr>
              <a:t>Later query</a:t>
            </a:r>
            <a:endParaRPr lang="en-US" sz="1600" dirty="0"/>
          </a:p>
        </p:txBody>
      </p:sp>
      <p:sp>
        <p:nvSpPr>
          <p:cNvPr id="35" name="Text 33"/>
          <p:cNvSpPr txBox="1"/>
          <p:nvPr/>
        </p:nvSpPr>
        <p:spPr>
          <a:xfrm>
            <a:off x="8302752" y="4434840"/>
            <a:ext cx="3108960" cy="1097280"/>
          </a:xfrm>
          <a:prstGeom prst="rect">
            <a:avLst/>
          </a:prstGeom>
          <a:noFill/>
          <a:ln/>
        </p:spPr>
        <p:txBody>
          <a:bodyPr wrap="square" lIns="0" tIns="0" rIns="0" bIns="0" rtlCol="0" anchor="t"/>
          <a:lstStyle/>
          <a:p>
            <a:pPr marL="0" indent="0">
              <a:buNone/>
            </a:pPr>
            <a:r>
              <a:rPr lang="en-US" sz="1350" i="1" dirty="0">
                <a:solidFill>
                  <a:srgbClr val="0B1F3A"/>
                </a:solidFill>
                <a:latin typeface="Calibri" pitchFamily="34" charset="0"/>
                <a:ea typeface="Calibri" pitchFamily="34" charset="-122"/>
                <a:cs typeface="Calibri" pitchFamily="34" charset="-120"/>
              </a:rPr>
              <a:t>“What should I order?” The system checks actual stock and lists products below their required levels.</a:t>
            </a:r>
            <a:endParaRPr lang="en-US" sz="1350" dirty="0"/>
          </a:p>
        </p:txBody>
      </p:sp>
      <p:sp>
        <p:nvSpPr>
          <p:cNvPr id="36" name="Shape 34"/>
          <p:cNvSpPr/>
          <p:nvPr/>
        </p:nvSpPr>
        <p:spPr>
          <a:xfrm>
            <a:off x="548640" y="5760720"/>
            <a:ext cx="11091672" cy="548640"/>
          </a:xfrm>
          <a:prstGeom prst="roundRect">
            <a:avLst>
              <a:gd name="adj" fmla="val 13333"/>
            </a:avLst>
          </a:prstGeom>
          <a:solidFill>
            <a:srgbClr val="0B1F3A"/>
          </a:solidFill>
          <a:ln w="12700">
            <a:solidFill>
              <a:srgbClr val="0B1F3A"/>
            </a:solidFill>
            <a:prstDash val="solid"/>
          </a:ln>
        </p:spPr>
      </p:sp>
      <p:sp>
        <p:nvSpPr>
          <p:cNvPr id="37" name="Text 35"/>
          <p:cNvSpPr txBox="1"/>
          <p:nvPr/>
        </p:nvSpPr>
        <p:spPr>
          <a:xfrm>
            <a:off x="822960" y="5760720"/>
            <a:ext cx="2194560" cy="548640"/>
          </a:xfrm>
          <a:prstGeom prst="rect">
            <a:avLst/>
          </a:prstGeom>
          <a:noFill/>
          <a:ln/>
        </p:spPr>
        <p:txBody>
          <a:bodyPr wrap="square" lIns="0" tIns="0" rIns="0" bIns="0" rtlCol="0" anchor="ctr"/>
          <a:lstStyle/>
          <a:p>
            <a:pPr marL="0" indent="0">
              <a:buNone/>
            </a:pPr>
            <a:r>
              <a:rPr lang="en-US" sz="1200" b="1" kern="0" spc="200" dirty="0">
                <a:solidFill>
                  <a:srgbClr val="F5A623"/>
                </a:solidFill>
                <a:latin typeface="Calibri" pitchFamily="34" charset="0"/>
                <a:ea typeface="Calibri" pitchFamily="34" charset="-122"/>
                <a:cs typeface="Calibri" pitchFamily="34" charset="-120"/>
              </a:rPr>
              <a:t>ANY SHOP TYPE</a:t>
            </a:r>
            <a:endParaRPr lang="en-US" sz="1200" dirty="0"/>
          </a:p>
        </p:txBody>
      </p:sp>
      <p:sp>
        <p:nvSpPr>
          <p:cNvPr id="38" name="Text 36"/>
          <p:cNvSpPr txBox="1"/>
          <p:nvPr/>
        </p:nvSpPr>
        <p:spPr>
          <a:xfrm>
            <a:off x="3017520" y="5760720"/>
            <a:ext cx="8412480" cy="548640"/>
          </a:xfrm>
          <a:prstGeom prst="rect">
            <a:avLst/>
          </a:prstGeom>
          <a:noFill/>
          <a:ln/>
        </p:spPr>
        <p:txBody>
          <a:bodyPr wrap="square" lIns="0" tIns="0" rIns="0" bIns="0" rtlCol="0" anchor="ctr"/>
          <a:lstStyle/>
          <a:p>
            <a:pPr marL="0" indent="0">
              <a:buNone/>
            </a:pPr>
            <a:r>
              <a:rPr lang="en-US" sz="1700" dirty="0">
                <a:solidFill>
                  <a:srgbClr val="FFFFFF"/>
                </a:solidFill>
                <a:latin typeface="Calibri" pitchFamily="34" charset="0"/>
                <a:ea typeface="Calibri" pitchFamily="34" charset="-122"/>
                <a:cs typeface="Calibri" pitchFamily="34" charset="-120"/>
              </a:rPr>
              <a:t>Florist: “5 kg jasmine add cheyyi”  ·  Jeweller: “20 grams gold add cheyyi”</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EXPECTED OUTCOME &amp; FUTURE SCOPE</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0B1F3A"/>
                </a:solidFill>
                <a:latin typeface="Cambria" pitchFamily="34" charset="0"/>
                <a:ea typeface="Cambria" pitchFamily="34" charset="-122"/>
                <a:cs typeface="Cambria" pitchFamily="34" charset="-120"/>
              </a:rPr>
              <a:t>Where This Takes Us</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55657F"/>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55657F"/>
                </a:solidFill>
                <a:latin typeface="Calibri" pitchFamily="34" charset="0"/>
                <a:ea typeface="Calibri" pitchFamily="34" charset="-122"/>
                <a:cs typeface="Calibri" pitchFamily="34" charset="-120"/>
              </a:rPr>
              <a:t>16</a:t>
            </a:r>
            <a:endParaRPr lang="en-US" sz="1000" dirty="0"/>
          </a:p>
        </p:txBody>
      </p:sp>
      <p:sp>
        <p:nvSpPr>
          <p:cNvPr id="6" name="Shape 4"/>
          <p:cNvSpPr/>
          <p:nvPr/>
        </p:nvSpPr>
        <p:spPr>
          <a:xfrm>
            <a:off x="548640" y="1554480"/>
            <a:ext cx="5486400" cy="3657600"/>
          </a:xfrm>
          <a:prstGeom prst="roundRect">
            <a:avLst>
              <a:gd name="adj" fmla="val 2000"/>
            </a:avLst>
          </a:prstGeom>
          <a:solidFill>
            <a:srgbClr val="F1F4F9"/>
          </a:solidFill>
          <a:ln w="12700">
            <a:solidFill>
              <a:srgbClr val="F1F4F9"/>
            </a:solidFill>
            <a:prstDash val="solid"/>
          </a:ln>
        </p:spPr>
      </p:sp>
      <p:sp>
        <p:nvSpPr>
          <p:cNvPr id="7" name="Text 5"/>
          <p:cNvSpPr txBox="1"/>
          <p:nvPr/>
        </p:nvSpPr>
        <p:spPr>
          <a:xfrm>
            <a:off x="822960" y="1691640"/>
            <a:ext cx="4572000" cy="36576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Expected outcome</a:t>
            </a:r>
            <a:endParaRPr lang="en-US" sz="1800" dirty="0"/>
          </a:p>
        </p:txBody>
      </p:sp>
      <p:sp>
        <p:nvSpPr>
          <p:cNvPr id="8" name="Text 6"/>
          <p:cNvSpPr txBox="1"/>
          <p:nvPr/>
        </p:nvSpPr>
        <p:spPr>
          <a:xfrm>
            <a:off x="822960" y="2194560"/>
            <a:ext cx="5029200" cy="2926080"/>
          </a:xfrm>
          <a:prstGeom prst="rect">
            <a:avLst/>
          </a:prstGeom>
          <a:noFill/>
          <a:ln/>
        </p:spPr>
        <p:txBody>
          <a:bodyPr wrap="square" lIns="0" tIns="0" rIns="0" bIns="0" rtlCol="0" anchor="t"/>
          <a:lstStyle/>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Reduces manual data entry</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Makes stock management easier</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Supports natural voice interaction</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Works with regional and mixed-language speech</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Understands common trade units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Provides accurate stock information</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Helps identify low-stock products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Supports better purchasing decisions</a:t>
            </a:r>
            <a:endParaRPr lang="en-US" sz="1350" dirty="0"/>
          </a:p>
          <a:p>
            <a:pPr marL="177800" indent="-177800">
              <a:spcAft>
                <a:spcPts val="400"/>
              </a:spcAft>
              <a:buSzPct val="100000"/>
              <a:buChar char="•"/>
            </a:pPr>
            <a:r>
              <a:rPr lang="en-US" sz="1350" dirty="0">
                <a:solidFill>
                  <a:srgbClr val="0B1F3A"/>
                </a:solidFill>
                <a:latin typeface="Calibri" pitchFamily="34" charset="0"/>
                <a:ea typeface="Calibri" pitchFamily="34" charset="-122"/>
                <a:cs typeface="Calibri" pitchFamily="34" charset="-120"/>
              </a:rPr>
              <a:t>Gives simple business insights</a:t>
            </a:r>
            <a:endParaRPr lang="en-US" sz="1350" dirty="0"/>
          </a:p>
        </p:txBody>
      </p:sp>
      <p:sp>
        <p:nvSpPr>
          <p:cNvPr id="9" name="Text 7"/>
          <p:cNvSpPr txBox="1"/>
          <p:nvPr/>
        </p:nvSpPr>
        <p:spPr>
          <a:xfrm>
            <a:off x="6309360" y="1600200"/>
            <a:ext cx="4572000" cy="365760"/>
          </a:xfrm>
          <a:prstGeom prst="rect">
            <a:avLst/>
          </a:prstGeom>
          <a:noFill/>
          <a:ln/>
        </p:spPr>
        <p:txBody>
          <a:bodyPr wrap="square" lIns="0" tIns="0" rIns="0" bIns="0" rtlCol="0" anchor="t"/>
          <a:lstStyle/>
          <a:p>
            <a:pPr marL="0" indent="0">
              <a:buNone/>
            </a:pPr>
            <a:r>
              <a:rPr lang="en-US" sz="1800" b="1" dirty="0">
                <a:solidFill>
                  <a:srgbClr val="0B1F3A"/>
                </a:solidFill>
                <a:latin typeface="Cambria" pitchFamily="34" charset="0"/>
                <a:ea typeface="Cambria" pitchFamily="34" charset="-122"/>
                <a:cs typeface="Cambria" pitchFamily="34" charset="-120"/>
              </a:rPr>
              <a:t>Future scope</a:t>
            </a:r>
            <a:endParaRPr lang="en-US" sz="1800" dirty="0"/>
          </a:p>
        </p:txBody>
      </p:sp>
      <p:sp>
        <p:nvSpPr>
          <p:cNvPr id="10" name="Shape 8"/>
          <p:cNvSpPr/>
          <p:nvPr/>
        </p:nvSpPr>
        <p:spPr>
          <a:xfrm>
            <a:off x="6309360" y="2103120"/>
            <a:ext cx="2587752" cy="658368"/>
          </a:xfrm>
          <a:prstGeom prst="roundRect">
            <a:avLst>
              <a:gd name="adj" fmla="val 11111"/>
            </a:avLst>
          </a:prstGeom>
          <a:solidFill>
            <a:srgbClr val="FFFFFF"/>
          </a:solidFill>
          <a:ln w="12700">
            <a:solidFill>
              <a:srgbClr val="D5DBE6"/>
            </a:solidFill>
            <a:prstDash val="solid"/>
          </a:ln>
        </p:spPr>
      </p:sp>
      <p:sp>
        <p:nvSpPr>
          <p:cNvPr id="11" name="Text 9"/>
          <p:cNvSpPr txBox="1"/>
          <p:nvPr/>
        </p:nvSpPr>
        <p:spPr>
          <a:xfrm>
            <a:off x="6400800" y="2103120"/>
            <a:ext cx="2404872" cy="65836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Offline-first inventory and synchronization</a:t>
            </a:r>
            <a:endParaRPr lang="en-US" sz="1200" dirty="0"/>
          </a:p>
        </p:txBody>
      </p:sp>
      <p:sp>
        <p:nvSpPr>
          <p:cNvPr id="12" name="Shape 10"/>
          <p:cNvSpPr/>
          <p:nvPr/>
        </p:nvSpPr>
        <p:spPr>
          <a:xfrm>
            <a:off x="9052560" y="2103120"/>
            <a:ext cx="2587752" cy="658368"/>
          </a:xfrm>
          <a:prstGeom prst="roundRect">
            <a:avLst>
              <a:gd name="adj" fmla="val 11111"/>
            </a:avLst>
          </a:prstGeom>
          <a:solidFill>
            <a:srgbClr val="FFFFFF"/>
          </a:solidFill>
          <a:ln w="12700">
            <a:solidFill>
              <a:srgbClr val="D5DBE6"/>
            </a:solidFill>
            <a:prstDash val="solid"/>
          </a:ln>
        </p:spPr>
      </p:sp>
      <p:sp>
        <p:nvSpPr>
          <p:cNvPr id="13" name="Text 11"/>
          <p:cNvSpPr txBox="1"/>
          <p:nvPr/>
        </p:nvSpPr>
        <p:spPr>
          <a:xfrm>
            <a:off x="9144000" y="2103120"/>
            <a:ext cx="2404872" cy="65836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Invoice OCR</a:t>
            </a:r>
            <a:endParaRPr lang="en-US" sz="1200" dirty="0"/>
          </a:p>
        </p:txBody>
      </p:sp>
      <p:sp>
        <p:nvSpPr>
          <p:cNvPr id="14" name="Shape 12"/>
          <p:cNvSpPr/>
          <p:nvPr/>
        </p:nvSpPr>
        <p:spPr>
          <a:xfrm>
            <a:off x="6309360" y="2889504"/>
            <a:ext cx="2587752" cy="658368"/>
          </a:xfrm>
          <a:prstGeom prst="roundRect">
            <a:avLst>
              <a:gd name="adj" fmla="val 11111"/>
            </a:avLst>
          </a:prstGeom>
          <a:solidFill>
            <a:srgbClr val="FFFFFF"/>
          </a:solidFill>
          <a:ln w="12700">
            <a:solidFill>
              <a:srgbClr val="D5DBE6"/>
            </a:solidFill>
            <a:prstDash val="solid"/>
          </a:ln>
        </p:spPr>
      </p:sp>
      <p:sp>
        <p:nvSpPr>
          <p:cNvPr id="15" name="Text 13"/>
          <p:cNvSpPr txBox="1"/>
          <p:nvPr/>
        </p:nvSpPr>
        <p:spPr>
          <a:xfrm>
            <a:off x="6400800" y="2889504"/>
            <a:ext cx="2404872" cy="65836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WhatsApp / SMS integration</a:t>
            </a:r>
            <a:endParaRPr lang="en-US" sz="1200" dirty="0"/>
          </a:p>
        </p:txBody>
      </p:sp>
      <p:sp>
        <p:nvSpPr>
          <p:cNvPr id="16" name="Shape 14"/>
          <p:cNvSpPr/>
          <p:nvPr/>
        </p:nvSpPr>
        <p:spPr>
          <a:xfrm>
            <a:off x="9052560" y="2889504"/>
            <a:ext cx="2587752" cy="658368"/>
          </a:xfrm>
          <a:prstGeom prst="roundRect">
            <a:avLst>
              <a:gd name="adj" fmla="val 11111"/>
            </a:avLst>
          </a:prstGeom>
          <a:solidFill>
            <a:srgbClr val="FFFFFF"/>
          </a:solidFill>
          <a:ln w="12700">
            <a:solidFill>
              <a:srgbClr val="D5DBE6"/>
            </a:solidFill>
            <a:prstDash val="solid"/>
          </a:ln>
        </p:spPr>
      </p:sp>
      <p:sp>
        <p:nvSpPr>
          <p:cNvPr id="17" name="Text 15"/>
          <p:cNvSpPr txBox="1"/>
          <p:nvPr/>
        </p:nvSpPr>
        <p:spPr>
          <a:xfrm>
            <a:off x="9144000" y="2889504"/>
            <a:ext cx="2404872" cy="65836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Advanced demand forecasting</a:t>
            </a:r>
            <a:endParaRPr lang="en-US" sz="1200" dirty="0"/>
          </a:p>
        </p:txBody>
      </p:sp>
      <p:sp>
        <p:nvSpPr>
          <p:cNvPr id="18" name="Shape 16"/>
          <p:cNvSpPr/>
          <p:nvPr/>
        </p:nvSpPr>
        <p:spPr>
          <a:xfrm>
            <a:off x="6309360" y="3675888"/>
            <a:ext cx="2587752" cy="658368"/>
          </a:xfrm>
          <a:prstGeom prst="roundRect">
            <a:avLst>
              <a:gd name="adj" fmla="val 11111"/>
            </a:avLst>
          </a:prstGeom>
          <a:solidFill>
            <a:srgbClr val="FFFFFF"/>
          </a:solidFill>
          <a:ln w="12700">
            <a:solidFill>
              <a:srgbClr val="D5DBE6"/>
            </a:solidFill>
            <a:prstDash val="solid"/>
          </a:ln>
        </p:spPr>
      </p:sp>
      <p:sp>
        <p:nvSpPr>
          <p:cNvPr id="19" name="Text 17"/>
          <p:cNvSpPr txBox="1"/>
          <p:nvPr/>
        </p:nvSpPr>
        <p:spPr>
          <a:xfrm>
            <a:off x="6400800" y="3675888"/>
            <a:ext cx="2404872" cy="65836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Multiple staff accounts and permissions</a:t>
            </a:r>
            <a:endParaRPr lang="en-US" sz="1200" dirty="0"/>
          </a:p>
        </p:txBody>
      </p:sp>
      <p:sp>
        <p:nvSpPr>
          <p:cNvPr id="20" name="Shape 18"/>
          <p:cNvSpPr/>
          <p:nvPr/>
        </p:nvSpPr>
        <p:spPr>
          <a:xfrm>
            <a:off x="9052560" y="3675888"/>
            <a:ext cx="2587752" cy="658368"/>
          </a:xfrm>
          <a:prstGeom prst="roundRect">
            <a:avLst>
              <a:gd name="adj" fmla="val 11111"/>
            </a:avLst>
          </a:prstGeom>
          <a:solidFill>
            <a:srgbClr val="FFFFFF"/>
          </a:solidFill>
          <a:ln w="12700">
            <a:solidFill>
              <a:srgbClr val="D5DBE6"/>
            </a:solidFill>
            <a:prstDash val="solid"/>
          </a:ln>
        </p:spPr>
      </p:sp>
      <p:sp>
        <p:nvSpPr>
          <p:cNvPr id="21" name="Text 19"/>
          <p:cNvSpPr txBox="1"/>
          <p:nvPr/>
        </p:nvSpPr>
        <p:spPr>
          <a:xfrm>
            <a:off x="9144000" y="3675888"/>
            <a:ext cx="2404872" cy="65836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Product and shelf recognition</a:t>
            </a:r>
            <a:endParaRPr lang="en-US" sz="1200" dirty="0"/>
          </a:p>
        </p:txBody>
      </p:sp>
      <p:sp>
        <p:nvSpPr>
          <p:cNvPr id="22" name="Shape 20"/>
          <p:cNvSpPr/>
          <p:nvPr/>
        </p:nvSpPr>
        <p:spPr>
          <a:xfrm>
            <a:off x="6309360" y="4462272"/>
            <a:ext cx="2587752" cy="658368"/>
          </a:xfrm>
          <a:prstGeom prst="roundRect">
            <a:avLst>
              <a:gd name="adj" fmla="val 11111"/>
            </a:avLst>
          </a:prstGeom>
          <a:solidFill>
            <a:srgbClr val="FFFFFF"/>
          </a:solidFill>
          <a:ln w="12700">
            <a:solidFill>
              <a:srgbClr val="D5DBE6"/>
            </a:solidFill>
            <a:prstDash val="solid"/>
          </a:ln>
        </p:spPr>
      </p:sp>
      <p:sp>
        <p:nvSpPr>
          <p:cNvPr id="23" name="Text 21"/>
          <p:cNvSpPr txBox="1"/>
          <p:nvPr/>
        </p:nvSpPr>
        <p:spPr>
          <a:xfrm>
            <a:off x="6400800" y="4462272"/>
            <a:ext cx="2404872" cy="65836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More regional languages</a:t>
            </a:r>
            <a:endParaRPr lang="en-US" sz="1200" dirty="0"/>
          </a:p>
        </p:txBody>
      </p:sp>
      <p:sp>
        <p:nvSpPr>
          <p:cNvPr id="24" name="Shape 22"/>
          <p:cNvSpPr/>
          <p:nvPr/>
        </p:nvSpPr>
        <p:spPr>
          <a:xfrm>
            <a:off x="9052560" y="4462272"/>
            <a:ext cx="2587752" cy="658368"/>
          </a:xfrm>
          <a:prstGeom prst="roundRect">
            <a:avLst>
              <a:gd name="adj" fmla="val 11111"/>
            </a:avLst>
          </a:prstGeom>
          <a:solidFill>
            <a:srgbClr val="FFFFFF"/>
          </a:solidFill>
          <a:ln w="12700">
            <a:solidFill>
              <a:srgbClr val="D5DBE6"/>
            </a:solidFill>
            <a:prstDash val="solid"/>
          </a:ln>
        </p:spPr>
      </p:sp>
      <p:sp>
        <p:nvSpPr>
          <p:cNvPr id="25" name="Text 23"/>
          <p:cNvSpPr txBox="1"/>
          <p:nvPr/>
        </p:nvSpPr>
        <p:spPr>
          <a:xfrm>
            <a:off x="9144000" y="4462272"/>
            <a:ext cx="2404872" cy="658368"/>
          </a:xfrm>
          <a:prstGeom prst="rect">
            <a:avLst/>
          </a:prstGeom>
          <a:noFill/>
          <a:ln/>
        </p:spPr>
        <p:txBody>
          <a:bodyPr wrap="square" lIns="0" tIns="0" rIns="0" bIns="0" rtlCol="0" anchor="ctr"/>
          <a:lstStyle/>
          <a:p>
            <a:pPr marL="0" indent="0">
              <a:buNone/>
            </a:pPr>
            <a:r>
              <a:rPr lang="en-US" sz="1200" b="1" dirty="0">
                <a:solidFill>
                  <a:srgbClr val="0B1F3A"/>
                </a:solidFill>
                <a:latin typeface="Calibri" pitchFamily="34" charset="0"/>
                <a:ea typeface="Calibri" pitchFamily="34" charset="-122"/>
                <a:cs typeface="Calibri" pitchFamily="34" charset="-120"/>
              </a:rPr>
              <a:t>Advanced business analytics</a:t>
            </a:r>
            <a:endParaRPr lang="en-US" sz="1200" dirty="0"/>
          </a:p>
        </p:txBody>
      </p:sp>
      <p:sp>
        <p:nvSpPr>
          <p:cNvPr id="26" name="Text 24"/>
          <p:cNvSpPr txBox="1"/>
          <p:nvPr/>
        </p:nvSpPr>
        <p:spPr>
          <a:xfrm>
            <a:off x="548640" y="5413248"/>
            <a:ext cx="27432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CORE WORKFLOW</a:t>
            </a:r>
            <a:endParaRPr lang="en-US" sz="1200" dirty="0"/>
          </a:p>
        </p:txBody>
      </p:sp>
      <p:sp>
        <p:nvSpPr>
          <p:cNvPr id="27" name="Shape 25"/>
          <p:cNvSpPr/>
          <p:nvPr/>
        </p:nvSpPr>
        <p:spPr>
          <a:xfrm>
            <a:off x="548640" y="5687568"/>
            <a:ext cx="1783080" cy="594360"/>
          </a:xfrm>
          <a:prstGeom prst="chevron">
            <a:avLst/>
          </a:prstGeom>
          <a:solidFill>
            <a:srgbClr val="0B1F3A"/>
          </a:solidFill>
          <a:ln w="12700">
            <a:solidFill>
              <a:srgbClr val="0B1F3A"/>
            </a:solidFill>
            <a:prstDash val="solid"/>
          </a:ln>
        </p:spPr>
      </p:sp>
      <p:sp>
        <p:nvSpPr>
          <p:cNvPr id="28" name="Text 26"/>
          <p:cNvSpPr txBox="1"/>
          <p:nvPr/>
        </p:nvSpPr>
        <p:spPr>
          <a:xfrm>
            <a:off x="822960" y="5687568"/>
            <a:ext cx="1280160" cy="5943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VOICE</a:t>
            </a:r>
            <a:endParaRPr lang="en-US" sz="1150" dirty="0"/>
          </a:p>
        </p:txBody>
      </p:sp>
      <p:sp>
        <p:nvSpPr>
          <p:cNvPr id="29" name="Shape 27"/>
          <p:cNvSpPr/>
          <p:nvPr/>
        </p:nvSpPr>
        <p:spPr>
          <a:xfrm>
            <a:off x="2404872" y="5687568"/>
            <a:ext cx="1783080" cy="594360"/>
          </a:xfrm>
          <a:prstGeom prst="chevron">
            <a:avLst/>
          </a:prstGeom>
          <a:solidFill>
            <a:srgbClr val="0B1F3A"/>
          </a:solidFill>
          <a:ln w="12700">
            <a:solidFill>
              <a:srgbClr val="0B1F3A"/>
            </a:solidFill>
            <a:prstDash val="solid"/>
          </a:ln>
        </p:spPr>
      </p:sp>
      <p:sp>
        <p:nvSpPr>
          <p:cNvPr id="30" name="Text 28"/>
          <p:cNvSpPr txBox="1"/>
          <p:nvPr/>
        </p:nvSpPr>
        <p:spPr>
          <a:xfrm>
            <a:off x="2679192" y="5687568"/>
            <a:ext cx="1280160" cy="5943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UNDERSTAND</a:t>
            </a:r>
            <a:endParaRPr lang="en-US" sz="1150" dirty="0"/>
          </a:p>
        </p:txBody>
      </p:sp>
      <p:sp>
        <p:nvSpPr>
          <p:cNvPr id="31" name="Shape 29"/>
          <p:cNvSpPr/>
          <p:nvPr/>
        </p:nvSpPr>
        <p:spPr>
          <a:xfrm>
            <a:off x="4261104" y="5687568"/>
            <a:ext cx="1783080" cy="594360"/>
          </a:xfrm>
          <a:prstGeom prst="chevron">
            <a:avLst/>
          </a:prstGeom>
          <a:solidFill>
            <a:srgbClr val="0B1F3A"/>
          </a:solidFill>
          <a:ln w="12700">
            <a:solidFill>
              <a:srgbClr val="0B1F3A"/>
            </a:solidFill>
            <a:prstDash val="solid"/>
          </a:ln>
        </p:spPr>
      </p:sp>
      <p:sp>
        <p:nvSpPr>
          <p:cNvPr id="32" name="Text 30"/>
          <p:cNvSpPr txBox="1"/>
          <p:nvPr/>
        </p:nvSpPr>
        <p:spPr>
          <a:xfrm>
            <a:off x="4535424" y="5687568"/>
            <a:ext cx="1280160" cy="5943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CONFIRM</a:t>
            </a:r>
            <a:endParaRPr lang="en-US" sz="1150" dirty="0"/>
          </a:p>
        </p:txBody>
      </p:sp>
      <p:sp>
        <p:nvSpPr>
          <p:cNvPr id="33" name="Shape 31"/>
          <p:cNvSpPr/>
          <p:nvPr/>
        </p:nvSpPr>
        <p:spPr>
          <a:xfrm>
            <a:off x="6117336" y="5687568"/>
            <a:ext cx="1783080" cy="594360"/>
          </a:xfrm>
          <a:prstGeom prst="chevron">
            <a:avLst/>
          </a:prstGeom>
          <a:solidFill>
            <a:srgbClr val="0B1F3A"/>
          </a:solidFill>
          <a:ln w="12700">
            <a:solidFill>
              <a:srgbClr val="0B1F3A"/>
            </a:solidFill>
            <a:prstDash val="solid"/>
          </a:ln>
        </p:spPr>
      </p:sp>
      <p:sp>
        <p:nvSpPr>
          <p:cNvPr id="34" name="Text 32"/>
          <p:cNvSpPr txBox="1"/>
          <p:nvPr/>
        </p:nvSpPr>
        <p:spPr>
          <a:xfrm>
            <a:off x="6391656" y="5687568"/>
            <a:ext cx="1280160" cy="5943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UPDATE</a:t>
            </a:r>
            <a:endParaRPr lang="en-US" sz="1150" dirty="0"/>
          </a:p>
        </p:txBody>
      </p:sp>
      <p:sp>
        <p:nvSpPr>
          <p:cNvPr id="35" name="Shape 33"/>
          <p:cNvSpPr/>
          <p:nvPr/>
        </p:nvSpPr>
        <p:spPr>
          <a:xfrm>
            <a:off x="7973568" y="5687568"/>
            <a:ext cx="1783080" cy="594360"/>
          </a:xfrm>
          <a:prstGeom prst="chevron">
            <a:avLst/>
          </a:prstGeom>
          <a:solidFill>
            <a:srgbClr val="0B1F3A"/>
          </a:solidFill>
          <a:ln w="12700">
            <a:solidFill>
              <a:srgbClr val="0B1F3A"/>
            </a:solidFill>
            <a:prstDash val="solid"/>
          </a:ln>
        </p:spPr>
      </p:sp>
      <p:sp>
        <p:nvSpPr>
          <p:cNvPr id="36" name="Text 34"/>
          <p:cNvSpPr txBox="1"/>
          <p:nvPr/>
        </p:nvSpPr>
        <p:spPr>
          <a:xfrm>
            <a:off x="8247888" y="5687568"/>
            <a:ext cx="1280160" cy="59436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ANALYZE</a:t>
            </a:r>
            <a:endParaRPr lang="en-US" sz="1150" dirty="0"/>
          </a:p>
        </p:txBody>
      </p:sp>
      <p:sp>
        <p:nvSpPr>
          <p:cNvPr id="37" name="Shape 35"/>
          <p:cNvSpPr/>
          <p:nvPr/>
        </p:nvSpPr>
        <p:spPr>
          <a:xfrm>
            <a:off x="9829800" y="5687568"/>
            <a:ext cx="1783080" cy="594360"/>
          </a:xfrm>
          <a:prstGeom prst="chevron">
            <a:avLst/>
          </a:prstGeom>
          <a:solidFill>
            <a:srgbClr val="F5A623"/>
          </a:solidFill>
          <a:ln w="12700">
            <a:solidFill>
              <a:srgbClr val="F5A623"/>
            </a:solidFill>
            <a:prstDash val="solid"/>
          </a:ln>
        </p:spPr>
      </p:sp>
      <p:sp>
        <p:nvSpPr>
          <p:cNvPr id="38" name="Text 36"/>
          <p:cNvSpPr txBox="1"/>
          <p:nvPr/>
        </p:nvSpPr>
        <p:spPr>
          <a:xfrm>
            <a:off x="10104120" y="5687568"/>
            <a:ext cx="1280160" cy="594360"/>
          </a:xfrm>
          <a:prstGeom prst="rect">
            <a:avLst/>
          </a:prstGeom>
          <a:noFill/>
          <a:ln/>
        </p:spPr>
        <p:txBody>
          <a:bodyPr wrap="square" lIns="0" tIns="0" rIns="0" bIns="0" rtlCol="0" anchor="ctr"/>
          <a:lstStyle/>
          <a:p>
            <a:pPr marL="0" indent="0" algn="ctr">
              <a:buNone/>
            </a:pPr>
            <a:r>
              <a:rPr lang="en-US" sz="1150" b="1" dirty="0">
                <a:solidFill>
                  <a:srgbClr val="0B1F3A"/>
                </a:solidFill>
                <a:latin typeface="Calibri" pitchFamily="34" charset="0"/>
                <a:ea typeface="Calibri" pitchFamily="34" charset="-122"/>
                <a:cs typeface="Calibri" pitchFamily="34" charset="-120"/>
              </a:rPr>
              <a:t>INFORM</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F3A"/>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8229600" cy="274320"/>
          </a:xfrm>
          <a:prstGeom prst="rect">
            <a:avLst/>
          </a:prstGeom>
          <a:noFill/>
          <a:ln/>
        </p:spPr>
        <p:txBody>
          <a:bodyPr wrap="square" lIns="0" tIns="0" rIns="0" bIns="0" rtlCol="0" anchor="t"/>
          <a:lstStyle/>
          <a:p>
            <a:pPr marL="0" indent="0">
              <a:buNone/>
            </a:pPr>
            <a:r>
              <a:rPr lang="en-US" sz="1200" b="1" kern="0" spc="300" dirty="0">
                <a:solidFill>
                  <a:srgbClr val="F5A623"/>
                </a:solidFill>
                <a:latin typeface="Calibri" pitchFamily="34" charset="0"/>
                <a:ea typeface="Calibri" pitchFamily="34" charset="-122"/>
                <a:cs typeface="Calibri" pitchFamily="34" charset="-120"/>
              </a:rPr>
              <a:t>CLOSING STATEMENT</a:t>
            </a:r>
            <a:endParaRPr lang="en-US" sz="1200" dirty="0"/>
          </a:p>
        </p:txBody>
      </p:sp>
      <p:sp>
        <p:nvSpPr>
          <p:cNvPr id="3" name="Text 1"/>
          <p:cNvSpPr txBox="1"/>
          <p:nvPr/>
        </p:nvSpPr>
        <p:spPr>
          <a:xfrm>
            <a:off x="548640" y="658368"/>
            <a:ext cx="10972800" cy="68580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Thank You</a:t>
            </a:r>
            <a:endParaRPr lang="en-US" sz="3200" dirty="0"/>
          </a:p>
        </p:txBody>
      </p:sp>
      <p:sp>
        <p:nvSpPr>
          <p:cNvPr id="4" name="Text 2"/>
          <p:cNvSpPr txBox="1"/>
          <p:nvPr/>
        </p:nvSpPr>
        <p:spPr>
          <a:xfrm>
            <a:off x="548640" y="6446520"/>
            <a:ext cx="5486400" cy="274320"/>
          </a:xfrm>
          <a:prstGeom prst="rect">
            <a:avLst/>
          </a:prstGeom>
          <a:noFill/>
          <a:ln/>
        </p:spPr>
        <p:txBody>
          <a:bodyPr wrap="square" lIns="0" tIns="0" rIns="0" bIns="0" rtlCol="0" anchor="t"/>
          <a:lstStyle/>
          <a:p>
            <a:pPr marL="0" indent="0">
              <a:buNone/>
            </a:pPr>
            <a:r>
              <a:rPr lang="en-US" sz="1000" dirty="0">
                <a:solidFill>
                  <a:srgbClr val="CADCFC"/>
                </a:solidFill>
                <a:latin typeface="Calibri" pitchFamily="34" charset="0"/>
                <a:ea typeface="Calibri" pitchFamily="34" charset="-122"/>
                <a:cs typeface="Calibri" pitchFamily="34" charset="-120"/>
              </a:rPr>
              <a:t>CrashCoders  |  Hackathon 2026</a:t>
            </a:r>
            <a:endParaRPr lang="en-US" sz="1000" dirty="0"/>
          </a:p>
        </p:txBody>
      </p:sp>
      <p:sp>
        <p:nvSpPr>
          <p:cNvPr id="5" name="Text 3"/>
          <p:cNvSpPr txBox="1"/>
          <p:nvPr/>
        </p:nvSpPr>
        <p:spPr>
          <a:xfrm>
            <a:off x="11091672" y="6446520"/>
            <a:ext cx="548640" cy="274320"/>
          </a:xfrm>
          <a:prstGeom prst="rect">
            <a:avLst/>
          </a:prstGeom>
          <a:noFill/>
          <a:ln/>
        </p:spPr>
        <p:txBody>
          <a:bodyPr wrap="square" lIns="0" tIns="0" rIns="0" bIns="0" rtlCol="0" anchor="t"/>
          <a:lstStyle/>
          <a:p>
            <a:pPr marL="0" indent="0" algn="r">
              <a:buNone/>
            </a:pPr>
            <a:r>
              <a:rPr lang="en-US" sz="1000" dirty="0">
                <a:solidFill>
                  <a:srgbClr val="CADCFC"/>
                </a:solidFill>
                <a:latin typeface="Calibri" pitchFamily="34" charset="0"/>
                <a:ea typeface="Calibri" pitchFamily="34" charset="-122"/>
                <a:cs typeface="Calibri" pitchFamily="34" charset="-120"/>
              </a:rPr>
              <a:t>17</a:t>
            </a:r>
            <a:endParaRPr lang="en-US" sz="1000" dirty="0"/>
          </a:p>
        </p:txBody>
      </p:sp>
      <p:sp>
        <p:nvSpPr>
          <p:cNvPr id="6" name="Text 4"/>
          <p:cNvSpPr txBox="1"/>
          <p:nvPr/>
        </p:nvSpPr>
        <p:spPr>
          <a:xfrm>
            <a:off x="548640" y="1828800"/>
            <a:ext cx="7498080" cy="2377440"/>
          </a:xfrm>
          <a:prstGeom prst="rect">
            <a:avLst/>
          </a:prstGeom>
          <a:noFill/>
          <a:ln/>
        </p:spPr>
        <p:txBody>
          <a:bodyPr wrap="square" lIns="0" tIns="0" rIns="0" bIns="0" rtlCol="0" anchor="t"/>
          <a:lstStyle/>
          <a:p>
            <a:pPr marL="0" indent="0">
              <a:buNone/>
            </a:pPr>
            <a:r>
              <a:rPr lang="en-US" sz="2800" i="1" dirty="0">
                <a:solidFill>
                  <a:srgbClr val="FFFFFF"/>
                </a:solidFill>
                <a:latin typeface="Cambria" pitchFamily="34" charset="0"/>
                <a:ea typeface="Cambria" pitchFamily="34" charset="-122"/>
                <a:cs typeface="Cambria" pitchFamily="34" charset="-120"/>
              </a:rPr>
              <a:t>We are not trying to make small businesses adapt to complicated software. We are designing the software around the way small businesses already work.</a:t>
            </a:r>
            <a:endParaRPr lang="en-US" sz="2800" dirty="0"/>
          </a:p>
        </p:txBody>
      </p:sp>
      <p:sp>
        <p:nvSpPr>
          <p:cNvPr id="7" name="Text 5"/>
          <p:cNvSpPr txBox="1"/>
          <p:nvPr/>
        </p:nvSpPr>
        <p:spPr>
          <a:xfrm>
            <a:off x="548640" y="4663440"/>
            <a:ext cx="6400800" cy="548640"/>
          </a:xfrm>
          <a:prstGeom prst="rect">
            <a:avLst/>
          </a:prstGeom>
          <a:noFill/>
          <a:ln/>
        </p:spPr>
        <p:txBody>
          <a:bodyPr wrap="square" lIns="0" tIns="0" rIns="0" bIns="0" rtlCol="0" anchor="t"/>
          <a:lstStyle/>
          <a:p>
            <a:pPr marL="0" indent="0">
              <a:buNone/>
            </a:pPr>
            <a:r>
              <a:rPr lang="en-US" sz="3000" b="1" dirty="0">
                <a:solidFill>
                  <a:srgbClr val="F5A623"/>
                </a:solidFill>
                <a:latin typeface="Cambria" pitchFamily="34" charset="0"/>
                <a:ea typeface="Cambria" pitchFamily="34" charset="-122"/>
                <a:cs typeface="Cambria" pitchFamily="34" charset="-120"/>
              </a:rPr>
              <a:t>Team CrashCoders</a:t>
            </a:r>
            <a:endParaRPr lang="en-US" sz="3000" dirty="0"/>
          </a:p>
        </p:txBody>
      </p:sp>
      <p:sp>
        <p:nvSpPr>
          <p:cNvPr id="8" name="Text 6"/>
          <p:cNvSpPr txBox="1"/>
          <p:nvPr/>
        </p:nvSpPr>
        <p:spPr>
          <a:xfrm>
            <a:off x="548640" y="5303520"/>
            <a:ext cx="7315200" cy="36576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Voice-Based Inventory Management for Small Businesses  ·  Hackathon 2026</a:t>
            </a:r>
            <a:endParaRPr lang="en-US" sz="1400" dirty="0"/>
          </a:p>
        </p:txBody>
      </p:sp>
      <p:sp>
        <p:nvSpPr>
          <p:cNvPr id="9" name="Text 7"/>
          <p:cNvSpPr txBox="1"/>
          <p:nvPr/>
        </p:nvSpPr>
        <p:spPr>
          <a:xfrm>
            <a:off x="401217" y="5760720"/>
            <a:ext cx="1418252" cy="3657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Live application:</a:t>
            </a:r>
            <a:endParaRPr lang="en-US" sz="1500" dirty="0"/>
          </a:p>
        </p:txBody>
      </p:sp>
      <p:sp>
        <p:nvSpPr>
          <p:cNvPr id="10" name="Text 8"/>
          <p:cNvSpPr txBox="1"/>
          <p:nvPr/>
        </p:nvSpPr>
        <p:spPr>
          <a:xfrm>
            <a:off x="1651518" y="5760720"/>
            <a:ext cx="3732244" cy="365760"/>
          </a:xfrm>
          <a:prstGeom prst="rect">
            <a:avLst/>
          </a:prstGeom>
          <a:noFill/>
          <a:ln/>
        </p:spPr>
        <p:txBody>
          <a:bodyPr wrap="square" lIns="0" tIns="0" rIns="0" bIns="0" rtlCol="0" anchor="t"/>
          <a:lstStyle/>
          <a:p>
            <a:pPr marL="0" indent="0">
              <a:buNone/>
            </a:pPr>
            <a:r>
              <a:rPr lang="en-US" sz="1500" u="sng" dirty="0">
                <a:solidFill>
                  <a:srgbClr val="F5A623"/>
                </a:solidFill>
                <a:latin typeface="Calibri" pitchFamily="34"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dukaansetu-pied.vercel.app</a:t>
            </a:r>
            <a:endParaRPr lang="en-US" sz="1500" dirty="0"/>
          </a:p>
        </p:txBody>
      </p:sp>
      <p:sp>
        <p:nvSpPr>
          <p:cNvPr id="11" name="Shape 9"/>
          <p:cNvSpPr/>
          <p:nvPr/>
        </p:nvSpPr>
        <p:spPr>
          <a:xfrm>
            <a:off x="8595360" y="1737360"/>
            <a:ext cx="3017520" cy="3017520"/>
          </a:xfrm>
          <a:prstGeom prst="ellipse">
            <a:avLst/>
          </a:prstGeom>
          <a:solidFill>
            <a:srgbClr val="16305A"/>
          </a:solidFill>
          <a:ln w="12700">
            <a:solidFill>
              <a:srgbClr val="16305A"/>
            </a:solidFill>
            <a:prstDash val="solid"/>
          </a:ln>
        </p:spPr>
      </p:sp>
      <p:sp>
        <p:nvSpPr>
          <p:cNvPr id="12" name="Shape 10"/>
          <p:cNvSpPr/>
          <p:nvPr/>
        </p:nvSpPr>
        <p:spPr>
          <a:xfrm>
            <a:off x="9006840" y="2148840"/>
            <a:ext cx="2194560" cy="2194560"/>
          </a:xfrm>
          <a:prstGeom prst="ellipse">
            <a:avLst/>
          </a:prstGeom>
          <a:solidFill>
            <a:srgbClr val="F5A623"/>
          </a:solidFill>
          <a:ln w="12700">
            <a:solidFill>
              <a:srgbClr val="F5A623"/>
            </a:solidFill>
            <a:prstDash val="solid"/>
          </a:ln>
        </p:spPr>
      </p:sp>
      <p:pic>
        <p:nvPicPr>
          <p:cNvPr id="13" name="Image 0" descr="preencoded.png"/>
          <p:cNvPicPr>
            <a:picLocks noChangeAspect="1"/>
          </p:cNvPicPr>
          <p:nvPr/>
        </p:nvPicPr>
        <p:blipFill>
          <a:blip r:embed="rId4"/>
          <a:stretch>
            <a:fillRect/>
          </a:stretch>
        </p:blipFill>
        <p:spPr>
          <a:xfrm>
            <a:off x="9555480" y="2697480"/>
            <a:ext cx="1097280" cy="10972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1615</Words>
  <Application>Microsoft Office PowerPoint</Application>
  <PresentationFormat>Widescreen</PresentationFormat>
  <Paragraphs>457</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Voice-Based Inventory Management – Team CrashCoders</dc:title>
  <dc:subject>PptxGenJS Presentation</dc:subject>
  <dc:creator>CrashCoders</dc:creator>
  <cp:lastModifiedBy>GUNDU SRI VENKAT</cp:lastModifiedBy>
  <cp:revision>2</cp:revision>
  <dcterms:created xsi:type="dcterms:W3CDTF">2026-09-19T14:48:05Z</dcterms:created>
  <dcterms:modified xsi:type="dcterms:W3CDTF">2026-09-19T14:51:38Z</dcterms:modified>
</cp:coreProperties>
</file>